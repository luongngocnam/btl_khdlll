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R² Score (%)</c:v>
                </c:pt>
              </c:strCache>
            </c:strRef>
          </c:tx>
          <c:spPr>
            <a:solidFill>
              <a:srgbClr val="8A93A8"/>
            </a:solidFill>
            <a:effectLst/>
          </c:spPr>
          <c:invertIfNegative val="0"/>
          <c:dLbls>
            <c:numFmt formatCode="#,##0" sourceLinked="0"/>
            <c:txPr>
              <a:bodyPr/>
              <a:lstStyle/>
              <a:p>
                <a:pPr>
                  <a:defRPr b="0" i="0" strike="noStrike" sz="1100" u="none">
                    <a:solidFill>
                      <a:srgbClr val="1E293B"/>
                    </a:solidFill>
                    <a:latin typeface="Arial"/>
                  </a:defRPr>
                </a:pPr>
              </a:p>
            </c:txPr>
            <c:showLegendKey val="0"/>
            <c:showVal val="1"/>
            <c:showCatName val="0"/>
            <c:showSerName val="0"/>
            <c:showPercent val="0"/>
            <c:showBubbleSize val="0"/>
            <c:showLeaderLines val="0"/>
          </c:dLbls>
          <c:dPt>
            <c:idx val="0"/>
            <c:invertIfNegative val="0"/>
            <c:bubble3D val="0"/>
            <c:spPr>
              <a:solidFill>
                <a:srgbClr val="8A93A8"/>
              </a:solidFill>
              <a:effectLst/>
            </c:spPr>
          </c:dPt>
          <c:dPt>
            <c:idx val="1"/>
            <c:invertIfNegative val="0"/>
            <c:bubble3D val="0"/>
            <c:spPr>
              <a:solidFill>
                <a:srgbClr val="C0654A"/>
              </a:solidFill>
              <a:effectLst/>
            </c:spPr>
          </c:dPt>
          <c:dPt>
            <c:idx val="2"/>
            <c:invertIfNegative val="0"/>
            <c:bubble3D val="0"/>
            <c:spPr>
              <a:solidFill>
                <a:srgbClr val="1B2A4A"/>
              </a:solidFill>
              <a:effectLst/>
            </c:spPr>
          </c:dPt>
          <c:cat>
            <c:multiLvlStrRef>
              <c:f>Sheet1!$A$2:$A$4</c:f>
              <c:multiLvlStrCache>
                <c:ptCount val="3"/>
                <c:lvl>
                  <c:pt idx="0">
                    <c:v>Linear Regression</c:v>
                  </c:pt>
                  <c:pt idx="1">
                    <c:v>Random Forest</c:v>
                  </c:pt>
                  <c:pt idx="2">
                    <c:v>XGBoost Regressor</c:v>
                  </c:pt>
                </c:lvl>
              </c:multiLvlStrCache>
            </c:multiLvlStrRef>
          </c:cat>
          <c:val>
            <c:numRef>
              <c:f>Sheet1!$B$2:$B$4</c:f>
              <c:numCache>
                <c:formatCode>General</c:formatCode>
                <c:ptCount val="3"/>
                <c:pt idx="0">
                  <c:v>61</c:v>
                </c:pt>
                <c:pt idx="1">
                  <c:v>76</c:v>
                </c:pt>
                <c:pt idx="2">
                  <c:v>84.6</c:v>
                </c:pt>
              </c:numCache>
            </c:numRef>
          </c:val>
        </c:ser>
        <c:dLbls>
          <c:numFmt formatCode="#,##0" sourceLinked="0"/>
          <c:txPr>
            <a:bodyPr/>
            <a:lstStyle/>
            <a:p>
              <a:pPr>
                <a:defRPr b="0" i="0" strike="noStrike" sz="11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8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85"/>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5120640"/>
            <a:ext cx="12188952" cy="1737360"/>
          </a:xfrm>
          <a:prstGeom prst="rect">
            <a:avLst/>
          </a:prstGeom>
          <a:solidFill>
            <a:srgbClr val="121D33"/>
          </a:solidFill>
          <a:ln/>
        </p:spPr>
      </p:sp>
      <p:sp>
        <p:nvSpPr>
          <p:cNvPr id="3" name="Shape 1"/>
          <p:cNvSpPr/>
          <p:nvPr/>
        </p:nvSpPr>
        <p:spPr>
          <a:xfrm>
            <a:off x="822960" y="4480560"/>
            <a:ext cx="1005840" cy="2377440"/>
          </a:xfrm>
          <a:prstGeom prst="rect">
            <a:avLst/>
          </a:prstGeom>
          <a:solidFill>
            <a:srgbClr val="121D33"/>
          </a:solidFill>
          <a:ln/>
        </p:spPr>
      </p:sp>
      <p:sp>
        <p:nvSpPr>
          <p:cNvPr id="4" name="Shape 2"/>
          <p:cNvSpPr/>
          <p:nvPr/>
        </p:nvSpPr>
        <p:spPr>
          <a:xfrm>
            <a:off x="2011680" y="4800600"/>
            <a:ext cx="777240" cy="2057400"/>
          </a:xfrm>
          <a:prstGeom prst="rect">
            <a:avLst/>
          </a:prstGeom>
          <a:solidFill>
            <a:srgbClr val="121D33"/>
          </a:solidFill>
          <a:ln/>
        </p:spPr>
      </p:sp>
      <p:sp>
        <p:nvSpPr>
          <p:cNvPr id="5" name="Shape 3"/>
          <p:cNvSpPr/>
          <p:nvPr/>
        </p:nvSpPr>
        <p:spPr>
          <a:xfrm>
            <a:off x="10332720" y="4572000"/>
            <a:ext cx="914400" cy="2286000"/>
          </a:xfrm>
          <a:prstGeom prst="rect">
            <a:avLst/>
          </a:prstGeom>
          <a:solidFill>
            <a:srgbClr val="121D33"/>
          </a:solidFill>
          <a:ln/>
        </p:spPr>
      </p:sp>
      <p:sp>
        <p:nvSpPr>
          <p:cNvPr id="6" name="Shape 4"/>
          <p:cNvSpPr/>
          <p:nvPr/>
        </p:nvSpPr>
        <p:spPr>
          <a:xfrm>
            <a:off x="9326880" y="4892040"/>
            <a:ext cx="731520" cy="1965960"/>
          </a:xfrm>
          <a:prstGeom prst="rect">
            <a:avLst/>
          </a:prstGeom>
          <a:solidFill>
            <a:srgbClr val="121D33"/>
          </a:solidFill>
          <a:ln/>
        </p:spPr>
      </p:sp>
      <p:sp>
        <p:nvSpPr>
          <p:cNvPr id="7" name="Shape 5"/>
          <p:cNvSpPr/>
          <p:nvPr/>
        </p:nvSpPr>
        <p:spPr>
          <a:xfrm>
            <a:off x="548640" y="502920"/>
            <a:ext cx="566928" cy="566928"/>
          </a:xfrm>
          <a:prstGeom prst="ellipse">
            <a:avLst/>
          </a:prstGeom>
          <a:solidFill>
            <a:srgbClr val="C0654A"/>
          </a:solidFill>
          <a:ln/>
        </p:spPr>
      </p:sp>
      <p:pic>
        <p:nvPicPr>
          <p:cNvPr id="8" name="Image 0" descr="preencoded.png">    </p:cNvPr>
          <p:cNvPicPr>
            <a:picLocks noChangeAspect="1"/>
          </p:cNvPicPr>
          <p:nvPr/>
        </p:nvPicPr>
        <p:blipFill>
          <a:blip r:embed="rId1"/>
          <a:stretch>
            <a:fillRect/>
          </a:stretch>
        </p:blipFill>
        <p:spPr>
          <a:xfrm>
            <a:off x="633679" y="587959"/>
            <a:ext cx="396850" cy="396850"/>
          </a:xfrm>
          <a:prstGeom prst="rect">
            <a:avLst/>
          </a:prstGeom>
        </p:spPr>
      </p:pic>
      <p:sp>
        <p:nvSpPr>
          <p:cNvPr id="9" name="Text 6"/>
          <p:cNvSpPr/>
          <p:nvPr/>
        </p:nvSpPr>
        <p:spPr>
          <a:xfrm>
            <a:off x="1325880" y="548640"/>
            <a:ext cx="8229600" cy="41148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BÀI TIỂU LUẬN MÔN HỌC — KHOA HỌC DỮ LIỆU</a:t>
            </a:r>
            <a:endParaRPr lang="en-US" sz="1300" dirty="0"/>
          </a:p>
        </p:txBody>
      </p:sp>
      <p:sp>
        <p:nvSpPr>
          <p:cNvPr id="10" name="Text 7"/>
          <p:cNvSpPr/>
          <p:nvPr/>
        </p:nvSpPr>
        <p:spPr>
          <a:xfrm>
            <a:off x="548640" y="1600200"/>
            <a:ext cx="10515600" cy="1737360"/>
          </a:xfrm>
          <a:prstGeom prst="rect">
            <a:avLst/>
          </a:prstGeom>
          <a:noFill/>
          <a:ln/>
        </p:spPr>
        <p:txBody>
          <a:bodyPr wrap="square" lIns="0" tIns="0" rIns="0" bIns="0" rtlCol="0" anchor="ctr"/>
          <a:lstStyle/>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Phân tích và Dự đoán</a:t>
            </a:r>
            <a:endParaRPr lang="en-US" sz="4400" dirty="0"/>
          </a:p>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Bất động sản Việt Nam</a:t>
            </a:r>
            <a:endParaRPr lang="en-US" sz="4400" dirty="0"/>
          </a:p>
        </p:txBody>
      </p:sp>
      <p:sp>
        <p:nvSpPr>
          <p:cNvPr id="11" name="Text 8"/>
          <p:cNvSpPr/>
          <p:nvPr/>
        </p:nvSpPr>
        <p:spPr>
          <a:xfrm>
            <a:off x="548640" y="3246120"/>
            <a:ext cx="8778240" cy="73152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Dựa trên dữ liệu thực tế — kết hợp Khoa học dữ liệu và Học máy hồi quy để phân tích xu hướng và dự báo giá bất động sản</a:t>
            </a:r>
            <a:endParaRPr lang="en-US" sz="1500" dirty="0"/>
          </a:p>
        </p:txBody>
      </p:sp>
      <p:sp>
        <p:nvSpPr>
          <p:cNvPr id="12" name="Shape 9"/>
          <p:cNvSpPr/>
          <p:nvPr/>
        </p:nvSpPr>
        <p:spPr>
          <a:xfrm>
            <a:off x="548640" y="4160520"/>
            <a:ext cx="6035040" cy="1417320"/>
          </a:xfrm>
          <a:prstGeom prst="roundRect">
            <a:avLst>
              <a:gd name="adj" fmla="val 5161"/>
            </a:avLst>
          </a:prstGeom>
          <a:solidFill>
            <a:srgbClr val="121D33"/>
          </a:solidFill>
          <a:ln/>
          <a:effectLst>
            <a:outerShdw sx="100000" sy="100000" kx="0" ky="0" algn="bl" rotWithShape="0" blurRad="127000" dist="38100" dir="5400000">
              <a:srgbClr val="000000">
                <a:alpha val="25000"/>
              </a:srgbClr>
            </a:outerShdw>
          </a:effectLst>
        </p:spPr>
      </p:sp>
      <p:sp>
        <p:nvSpPr>
          <p:cNvPr id="13" name="Text 10"/>
          <p:cNvSpPr/>
          <p:nvPr/>
        </p:nvSpPr>
        <p:spPr>
          <a:xfrm>
            <a:off x="777240" y="4315968"/>
            <a:ext cx="1737360" cy="320040"/>
          </a:xfrm>
          <a:prstGeom prst="rect">
            <a:avLst/>
          </a:prstGeom>
          <a:noFill/>
          <a:ln/>
        </p:spPr>
        <p:txBody>
          <a:bodyPr wrap="square" lIns="0" tIns="0" rIns="0" bIns="0" rtlCol="0" anchor="ctr"/>
          <a:lstStyle/>
          <a:p>
            <a:pPr indent="0" marL="0">
              <a:buNone/>
            </a:pPr>
            <a:r>
              <a:rPr lang="en-US" sz="1100" dirty="0">
                <a:solidFill>
                  <a:srgbClr val="8A93A8"/>
                </a:solidFill>
                <a:latin typeface="Calibri" pitchFamily="34" charset="0"/>
                <a:ea typeface="Calibri" pitchFamily="34" charset="-122"/>
                <a:cs typeface="Calibri" pitchFamily="34" charset="-120"/>
              </a:rPr>
              <a:t>Sinh viên</a:t>
            </a:r>
            <a:endParaRPr lang="en-US" sz="1100" dirty="0"/>
          </a:p>
        </p:txBody>
      </p:sp>
      <p:sp>
        <p:nvSpPr>
          <p:cNvPr id="14" name="Text 11"/>
          <p:cNvSpPr/>
          <p:nvPr/>
        </p:nvSpPr>
        <p:spPr>
          <a:xfrm>
            <a:off x="2560320" y="4315968"/>
            <a:ext cx="384048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Lương Ngọc Nam</a:t>
            </a:r>
            <a:endParaRPr lang="en-US" sz="1250" dirty="0"/>
          </a:p>
        </p:txBody>
      </p:sp>
      <p:sp>
        <p:nvSpPr>
          <p:cNvPr id="15" name="Text 12"/>
          <p:cNvSpPr/>
          <p:nvPr/>
        </p:nvSpPr>
        <p:spPr>
          <a:xfrm>
            <a:off x="777240" y="4700016"/>
            <a:ext cx="1737360" cy="320040"/>
          </a:xfrm>
          <a:prstGeom prst="rect">
            <a:avLst/>
          </a:prstGeom>
          <a:noFill/>
          <a:ln/>
        </p:spPr>
        <p:txBody>
          <a:bodyPr wrap="square" lIns="0" tIns="0" rIns="0" bIns="0" rtlCol="0" anchor="ctr"/>
          <a:lstStyle/>
          <a:p>
            <a:pPr indent="0" marL="0">
              <a:buNone/>
            </a:pPr>
            <a:r>
              <a:rPr lang="en-US" sz="1100" dirty="0">
                <a:solidFill>
                  <a:srgbClr val="8A93A8"/>
                </a:solidFill>
                <a:latin typeface="Calibri" pitchFamily="34" charset="0"/>
                <a:ea typeface="Calibri" pitchFamily="34" charset="-122"/>
                <a:cs typeface="Calibri" pitchFamily="34" charset="-120"/>
              </a:rPr>
              <a:t>Lớp / MSSV</a:t>
            </a:r>
            <a:endParaRPr lang="en-US" sz="1100" dirty="0"/>
          </a:p>
        </p:txBody>
      </p:sp>
      <p:sp>
        <p:nvSpPr>
          <p:cNvPr id="16" name="Text 13"/>
          <p:cNvSpPr/>
          <p:nvPr/>
        </p:nvSpPr>
        <p:spPr>
          <a:xfrm>
            <a:off x="2560320" y="4700016"/>
            <a:ext cx="384048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K58KTP  ·  K225480106049</a:t>
            </a:r>
            <a:endParaRPr lang="en-US" sz="1250" dirty="0"/>
          </a:p>
        </p:txBody>
      </p:sp>
      <p:sp>
        <p:nvSpPr>
          <p:cNvPr id="17" name="Text 14"/>
          <p:cNvSpPr/>
          <p:nvPr/>
        </p:nvSpPr>
        <p:spPr>
          <a:xfrm>
            <a:off x="777240" y="5084064"/>
            <a:ext cx="1737360" cy="320040"/>
          </a:xfrm>
          <a:prstGeom prst="rect">
            <a:avLst/>
          </a:prstGeom>
          <a:noFill/>
          <a:ln/>
        </p:spPr>
        <p:txBody>
          <a:bodyPr wrap="square" lIns="0" tIns="0" rIns="0" bIns="0" rtlCol="0" anchor="ctr"/>
          <a:lstStyle/>
          <a:p>
            <a:pPr indent="0" marL="0">
              <a:buNone/>
            </a:pPr>
            <a:r>
              <a:rPr lang="en-US" sz="1100" dirty="0">
                <a:solidFill>
                  <a:srgbClr val="8A93A8"/>
                </a:solidFill>
                <a:latin typeface="Calibri" pitchFamily="34" charset="0"/>
                <a:ea typeface="Calibri" pitchFamily="34" charset="-122"/>
                <a:cs typeface="Calibri" pitchFamily="34" charset="-120"/>
              </a:rPr>
              <a:t>GVHD</a:t>
            </a:r>
            <a:endParaRPr lang="en-US" sz="1100" dirty="0"/>
          </a:p>
        </p:txBody>
      </p:sp>
      <p:sp>
        <p:nvSpPr>
          <p:cNvPr id="18" name="Text 15"/>
          <p:cNvSpPr/>
          <p:nvPr/>
        </p:nvSpPr>
        <p:spPr>
          <a:xfrm>
            <a:off x="2560320" y="5084064"/>
            <a:ext cx="384048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TS. Nguyễn Văn Huy</a:t>
            </a:r>
            <a:endParaRPr lang="en-US" sz="1250" dirty="0"/>
          </a:p>
        </p:txBody>
      </p:sp>
      <p:sp>
        <p:nvSpPr>
          <p:cNvPr id="19" name="Text 16"/>
          <p:cNvSpPr/>
          <p:nvPr/>
        </p:nvSpPr>
        <p:spPr>
          <a:xfrm>
            <a:off x="548640" y="6263640"/>
            <a:ext cx="10058400" cy="320040"/>
          </a:xfrm>
          <a:prstGeom prst="rect">
            <a:avLst/>
          </a:prstGeom>
          <a:noFill/>
          <a:ln/>
        </p:spPr>
        <p:txBody>
          <a:bodyPr wrap="square" lIns="0" tIns="0" rIns="0" bIns="0" rtlCol="0" anchor="ctr"/>
          <a:lstStyle/>
          <a:p>
            <a:pPr indent="0" marL="0">
              <a:buNone/>
            </a:pPr>
            <a:r>
              <a:rPr lang="en-US" sz="1050" spc="100" kern="0" dirty="0">
                <a:solidFill>
                  <a:srgbClr val="8A93A8"/>
                </a:solidFill>
                <a:latin typeface="Calibri" pitchFamily="34" charset="0"/>
                <a:ea typeface="Calibri" pitchFamily="34" charset="-122"/>
                <a:cs typeface="Calibri" pitchFamily="34" charset="-120"/>
              </a:rPr>
              <a:t>TRƯỜNG ĐẠI HỌC KỸ THUẬT CÔNG NGHIỆP  ·  KHOA ĐIỆN TỬ  ·  THÁI NGUYÊN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NỘI DUNG TRÌNH BÀY</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Mục lục</a:t>
            </a:r>
            <a:endParaRPr lang="en-US" sz="3000" dirty="0"/>
          </a:p>
        </p:txBody>
      </p:sp>
      <p:sp>
        <p:nvSpPr>
          <p:cNvPr id="4" name="Shape 2"/>
          <p:cNvSpPr/>
          <p:nvPr/>
        </p:nvSpPr>
        <p:spPr>
          <a:xfrm>
            <a:off x="548640" y="1691640"/>
            <a:ext cx="5257800" cy="1417320"/>
          </a:xfrm>
          <a:prstGeom prst="roundRect">
            <a:avLst>
              <a:gd name="adj" fmla="val 4516"/>
            </a:avLst>
          </a:prstGeom>
          <a:solidFill>
            <a:srgbClr val="FFFFFF"/>
          </a:solidFill>
          <a:ln/>
          <a:effectLst>
            <a:outerShdw sx="100000" sy="100000" kx="0" ky="0" algn="bl" rotWithShape="0" blurRad="101600" dist="25400" dir="5400000">
              <a:srgbClr val="000000">
                <a:alpha val="8000"/>
              </a:srgbClr>
            </a:outerShdw>
          </a:effectLst>
        </p:spPr>
      </p:sp>
      <p:sp>
        <p:nvSpPr>
          <p:cNvPr id="5" name="Text 3"/>
          <p:cNvSpPr/>
          <p:nvPr/>
        </p:nvSpPr>
        <p:spPr>
          <a:xfrm>
            <a:off x="777240" y="1856232"/>
            <a:ext cx="1005840" cy="731520"/>
          </a:xfrm>
          <a:prstGeom prst="rect">
            <a:avLst/>
          </a:prstGeom>
          <a:noFill/>
          <a:ln/>
        </p:spPr>
        <p:txBody>
          <a:bodyPr wrap="square" lIns="0" tIns="0" rIns="0" bIns="0" rtlCol="0" anchor="ctr"/>
          <a:lstStyle/>
          <a:p>
            <a:pPr indent="0" marL="0">
              <a:buNone/>
            </a:pPr>
            <a:r>
              <a:rPr lang="en-US" sz="3000" b="1" dirty="0">
                <a:solidFill>
                  <a:srgbClr val="E3DCD2"/>
                </a:solidFill>
                <a:latin typeface="Cambria" pitchFamily="34" charset="0"/>
                <a:ea typeface="Cambria" pitchFamily="34" charset="-122"/>
                <a:cs typeface="Cambria" pitchFamily="34" charset="-120"/>
              </a:rPr>
              <a:t>01</a:t>
            </a:r>
            <a:endParaRPr lang="en-US" sz="3000" dirty="0"/>
          </a:p>
        </p:txBody>
      </p:sp>
      <p:sp>
        <p:nvSpPr>
          <p:cNvPr id="6" name="Text 4"/>
          <p:cNvSpPr/>
          <p:nvPr/>
        </p:nvSpPr>
        <p:spPr>
          <a:xfrm>
            <a:off x="1737360" y="1874520"/>
            <a:ext cx="3840480" cy="411480"/>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Lời mở đầu</a:t>
            </a:r>
            <a:endParaRPr lang="en-US" sz="1650" dirty="0"/>
          </a:p>
        </p:txBody>
      </p:sp>
      <p:sp>
        <p:nvSpPr>
          <p:cNvPr id="7" name="Text 5"/>
          <p:cNvSpPr/>
          <p:nvPr/>
        </p:nvSpPr>
        <p:spPr>
          <a:xfrm>
            <a:off x="1737360" y="2313432"/>
            <a:ext cx="3840480" cy="640080"/>
          </a:xfrm>
          <a:prstGeom prst="rect">
            <a:avLst/>
          </a:prstGeom>
          <a:noFill/>
          <a:ln/>
        </p:spPr>
        <p:txBody>
          <a:bodyPr wrap="square" lIns="0" tIns="0" rIns="0" bIns="0" rtlCol="0" anchor="ctr"/>
          <a:lstStyle/>
          <a:p>
            <a:pPr indent="0" marL="0">
              <a:buNone/>
            </a:pPr>
            <a:r>
              <a:rPr lang="en-US" sz="1150" dirty="0">
                <a:solidFill>
                  <a:srgbClr val="5B6B85"/>
                </a:solidFill>
                <a:latin typeface="Calibri" pitchFamily="34" charset="0"/>
                <a:ea typeface="Calibri" pitchFamily="34" charset="-122"/>
                <a:cs typeface="Calibri" pitchFamily="34" charset="-120"/>
              </a:rPr>
              <a:t>Bối cảnh và lý do thực hiện đề tài</a:t>
            </a:r>
            <a:endParaRPr lang="en-US" sz="1150" dirty="0"/>
          </a:p>
        </p:txBody>
      </p:sp>
      <p:sp>
        <p:nvSpPr>
          <p:cNvPr id="8" name="Shape 6"/>
          <p:cNvSpPr/>
          <p:nvPr/>
        </p:nvSpPr>
        <p:spPr>
          <a:xfrm>
            <a:off x="6217920" y="1691640"/>
            <a:ext cx="5257800" cy="1417320"/>
          </a:xfrm>
          <a:prstGeom prst="roundRect">
            <a:avLst>
              <a:gd name="adj" fmla="val 4516"/>
            </a:avLst>
          </a:prstGeom>
          <a:solidFill>
            <a:srgbClr val="FFFFFF"/>
          </a:solidFill>
          <a:ln/>
          <a:effectLst>
            <a:outerShdw sx="100000" sy="100000" kx="0" ky="0" algn="bl" rotWithShape="0" blurRad="101600" dist="25400" dir="5400000">
              <a:srgbClr val="000000">
                <a:alpha val="8000"/>
              </a:srgbClr>
            </a:outerShdw>
          </a:effectLst>
        </p:spPr>
      </p:sp>
      <p:sp>
        <p:nvSpPr>
          <p:cNvPr id="9" name="Text 7"/>
          <p:cNvSpPr/>
          <p:nvPr/>
        </p:nvSpPr>
        <p:spPr>
          <a:xfrm>
            <a:off x="6446520" y="1856232"/>
            <a:ext cx="1005840" cy="731520"/>
          </a:xfrm>
          <a:prstGeom prst="rect">
            <a:avLst/>
          </a:prstGeom>
          <a:noFill/>
          <a:ln/>
        </p:spPr>
        <p:txBody>
          <a:bodyPr wrap="square" lIns="0" tIns="0" rIns="0" bIns="0" rtlCol="0" anchor="ctr"/>
          <a:lstStyle/>
          <a:p>
            <a:pPr indent="0" marL="0">
              <a:buNone/>
            </a:pPr>
            <a:r>
              <a:rPr lang="en-US" sz="3000" b="1" dirty="0">
                <a:solidFill>
                  <a:srgbClr val="E3DCD2"/>
                </a:solidFill>
                <a:latin typeface="Cambria" pitchFamily="34" charset="0"/>
                <a:ea typeface="Cambria" pitchFamily="34" charset="-122"/>
                <a:cs typeface="Cambria" pitchFamily="34" charset="-120"/>
              </a:rPr>
              <a:t>02</a:t>
            </a:r>
            <a:endParaRPr lang="en-US" sz="3000" dirty="0"/>
          </a:p>
        </p:txBody>
      </p:sp>
      <p:sp>
        <p:nvSpPr>
          <p:cNvPr id="10" name="Text 8"/>
          <p:cNvSpPr/>
          <p:nvPr/>
        </p:nvSpPr>
        <p:spPr>
          <a:xfrm>
            <a:off x="7406640" y="1874520"/>
            <a:ext cx="3840480" cy="411480"/>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Giới thiệu đề tài</a:t>
            </a:r>
            <a:endParaRPr lang="en-US" sz="1650" dirty="0"/>
          </a:p>
        </p:txBody>
      </p:sp>
      <p:sp>
        <p:nvSpPr>
          <p:cNvPr id="11" name="Text 9"/>
          <p:cNvSpPr/>
          <p:nvPr/>
        </p:nvSpPr>
        <p:spPr>
          <a:xfrm>
            <a:off x="7406640" y="2313432"/>
            <a:ext cx="3840480" cy="640080"/>
          </a:xfrm>
          <a:prstGeom prst="rect">
            <a:avLst/>
          </a:prstGeom>
          <a:noFill/>
          <a:ln/>
        </p:spPr>
        <p:txBody>
          <a:bodyPr wrap="square" lIns="0" tIns="0" rIns="0" bIns="0" rtlCol="0" anchor="ctr"/>
          <a:lstStyle/>
          <a:p>
            <a:pPr indent="0" marL="0">
              <a:buNone/>
            </a:pPr>
            <a:r>
              <a:rPr lang="en-US" sz="1150" dirty="0">
                <a:solidFill>
                  <a:srgbClr val="5B6B85"/>
                </a:solidFill>
                <a:latin typeface="Calibri" pitchFamily="34" charset="0"/>
                <a:ea typeface="Calibri" pitchFamily="34" charset="-122"/>
                <a:cs typeface="Calibri" pitchFamily="34" charset="-120"/>
              </a:rPr>
              <a:t>Mục tiêu, phạm vi, câu hỏi &amp; phương pháp nghiên cứu</a:t>
            </a:r>
            <a:endParaRPr lang="en-US" sz="1150" dirty="0"/>
          </a:p>
        </p:txBody>
      </p:sp>
      <p:sp>
        <p:nvSpPr>
          <p:cNvPr id="12" name="Shape 10"/>
          <p:cNvSpPr/>
          <p:nvPr/>
        </p:nvSpPr>
        <p:spPr>
          <a:xfrm>
            <a:off x="548640" y="3273552"/>
            <a:ext cx="5257800" cy="1417320"/>
          </a:xfrm>
          <a:prstGeom prst="roundRect">
            <a:avLst>
              <a:gd name="adj" fmla="val 4516"/>
            </a:avLst>
          </a:prstGeom>
          <a:solidFill>
            <a:srgbClr val="FFFFFF"/>
          </a:solidFill>
          <a:ln/>
          <a:effectLst>
            <a:outerShdw sx="100000" sy="100000" kx="0" ky="0" algn="bl" rotWithShape="0" blurRad="101600" dist="25400" dir="5400000">
              <a:srgbClr val="000000">
                <a:alpha val="8000"/>
              </a:srgbClr>
            </a:outerShdw>
          </a:effectLst>
        </p:spPr>
      </p:sp>
      <p:sp>
        <p:nvSpPr>
          <p:cNvPr id="13" name="Text 11"/>
          <p:cNvSpPr/>
          <p:nvPr/>
        </p:nvSpPr>
        <p:spPr>
          <a:xfrm>
            <a:off x="777240" y="3438144"/>
            <a:ext cx="1005840" cy="731520"/>
          </a:xfrm>
          <a:prstGeom prst="rect">
            <a:avLst/>
          </a:prstGeom>
          <a:noFill/>
          <a:ln/>
        </p:spPr>
        <p:txBody>
          <a:bodyPr wrap="square" lIns="0" tIns="0" rIns="0" bIns="0" rtlCol="0" anchor="ctr"/>
          <a:lstStyle/>
          <a:p>
            <a:pPr indent="0" marL="0">
              <a:buNone/>
            </a:pPr>
            <a:r>
              <a:rPr lang="en-US" sz="3000" b="1" dirty="0">
                <a:solidFill>
                  <a:srgbClr val="E3DCD2"/>
                </a:solidFill>
                <a:latin typeface="Cambria" pitchFamily="34" charset="0"/>
                <a:ea typeface="Cambria" pitchFamily="34" charset="-122"/>
                <a:cs typeface="Cambria" pitchFamily="34" charset="-120"/>
              </a:rPr>
              <a:t>03</a:t>
            </a:r>
            <a:endParaRPr lang="en-US" sz="3000" dirty="0"/>
          </a:p>
        </p:txBody>
      </p:sp>
      <p:sp>
        <p:nvSpPr>
          <p:cNvPr id="14" name="Text 12"/>
          <p:cNvSpPr/>
          <p:nvPr/>
        </p:nvSpPr>
        <p:spPr>
          <a:xfrm>
            <a:off x="1737360" y="3456432"/>
            <a:ext cx="3840480" cy="411480"/>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Cơ sở lý thuyết</a:t>
            </a:r>
            <a:endParaRPr lang="en-US" sz="1650" dirty="0"/>
          </a:p>
        </p:txBody>
      </p:sp>
      <p:sp>
        <p:nvSpPr>
          <p:cNvPr id="15" name="Text 13"/>
          <p:cNvSpPr/>
          <p:nvPr/>
        </p:nvSpPr>
        <p:spPr>
          <a:xfrm>
            <a:off x="1737360" y="3895344"/>
            <a:ext cx="3840480" cy="640080"/>
          </a:xfrm>
          <a:prstGeom prst="rect">
            <a:avLst/>
          </a:prstGeom>
          <a:noFill/>
          <a:ln/>
        </p:spPr>
        <p:txBody>
          <a:bodyPr wrap="square" lIns="0" tIns="0" rIns="0" bIns="0" rtlCol="0" anchor="ctr"/>
          <a:lstStyle/>
          <a:p>
            <a:pPr indent="0" marL="0">
              <a:buNone/>
            </a:pPr>
            <a:r>
              <a:rPr lang="en-US" sz="1150" dirty="0">
                <a:solidFill>
                  <a:srgbClr val="5B6B85"/>
                </a:solidFill>
                <a:latin typeface="Calibri" pitchFamily="34" charset="0"/>
                <a:ea typeface="Calibri" pitchFamily="34" charset="-122"/>
                <a:cs typeface="Calibri" pitchFamily="34" charset="-120"/>
              </a:rPr>
              <a:t>Khoa học dữ liệu, công cụ và thuật toán sử dụng</a:t>
            </a:r>
            <a:endParaRPr lang="en-US" sz="1150" dirty="0"/>
          </a:p>
        </p:txBody>
      </p:sp>
      <p:sp>
        <p:nvSpPr>
          <p:cNvPr id="16" name="Shape 14"/>
          <p:cNvSpPr/>
          <p:nvPr/>
        </p:nvSpPr>
        <p:spPr>
          <a:xfrm>
            <a:off x="6217920" y="3273552"/>
            <a:ext cx="5257800" cy="1417320"/>
          </a:xfrm>
          <a:prstGeom prst="roundRect">
            <a:avLst>
              <a:gd name="adj" fmla="val 4516"/>
            </a:avLst>
          </a:prstGeom>
          <a:solidFill>
            <a:srgbClr val="FFFFFF"/>
          </a:solidFill>
          <a:ln/>
          <a:effectLst>
            <a:outerShdw sx="100000" sy="100000" kx="0" ky="0" algn="bl" rotWithShape="0" blurRad="101600" dist="25400" dir="5400000">
              <a:srgbClr val="000000">
                <a:alpha val="8000"/>
              </a:srgbClr>
            </a:outerShdw>
          </a:effectLst>
        </p:spPr>
      </p:sp>
      <p:sp>
        <p:nvSpPr>
          <p:cNvPr id="17" name="Text 15"/>
          <p:cNvSpPr/>
          <p:nvPr/>
        </p:nvSpPr>
        <p:spPr>
          <a:xfrm>
            <a:off x="6446520" y="3438144"/>
            <a:ext cx="1005840" cy="731520"/>
          </a:xfrm>
          <a:prstGeom prst="rect">
            <a:avLst/>
          </a:prstGeom>
          <a:noFill/>
          <a:ln/>
        </p:spPr>
        <p:txBody>
          <a:bodyPr wrap="square" lIns="0" tIns="0" rIns="0" bIns="0" rtlCol="0" anchor="ctr"/>
          <a:lstStyle/>
          <a:p>
            <a:pPr indent="0" marL="0">
              <a:buNone/>
            </a:pPr>
            <a:r>
              <a:rPr lang="en-US" sz="3000" b="1" dirty="0">
                <a:solidFill>
                  <a:srgbClr val="E3DCD2"/>
                </a:solidFill>
                <a:latin typeface="Cambria" pitchFamily="34" charset="0"/>
                <a:ea typeface="Cambria" pitchFamily="34" charset="-122"/>
                <a:cs typeface="Cambria" pitchFamily="34" charset="-120"/>
              </a:rPr>
              <a:t>04</a:t>
            </a:r>
            <a:endParaRPr lang="en-US" sz="3000" dirty="0"/>
          </a:p>
        </p:txBody>
      </p:sp>
      <p:sp>
        <p:nvSpPr>
          <p:cNvPr id="18" name="Text 16"/>
          <p:cNvSpPr/>
          <p:nvPr/>
        </p:nvSpPr>
        <p:spPr>
          <a:xfrm>
            <a:off x="7406640" y="3456432"/>
            <a:ext cx="3840480" cy="411480"/>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Thiết kế hệ thống</a:t>
            </a:r>
            <a:endParaRPr lang="en-US" sz="1650" dirty="0"/>
          </a:p>
        </p:txBody>
      </p:sp>
      <p:sp>
        <p:nvSpPr>
          <p:cNvPr id="19" name="Text 17"/>
          <p:cNvSpPr/>
          <p:nvPr/>
        </p:nvSpPr>
        <p:spPr>
          <a:xfrm>
            <a:off x="7406640" y="3895344"/>
            <a:ext cx="3840480" cy="640080"/>
          </a:xfrm>
          <a:prstGeom prst="rect">
            <a:avLst/>
          </a:prstGeom>
          <a:noFill/>
          <a:ln/>
        </p:spPr>
        <p:txBody>
          <a:bodyPr wrap="square" lIns="0" tIns="0" rIns="0" bIns="0" rtlCol="0" anchor="ctr"/>
          <a:lstStyle/>
          <a:p>
            <a:pPr indent="0" marL="0">
              <a:buNone/>
            </a:pPr>
            <a:r>
              <a:rPr lang="en-US" sz="1150" dirty="0">
                <a:solidFill>
                  <a:srgbClr val="5B6B85"/>
                </a:solidFill>
                <a:latin typeface="Calibri" pitchFamily="34" charset="0"/>
                <a:ea typeface="Calibri" pitchFamily="34" charset="-122"/>
                <a:cs typeface="Calibri" pitchFamily="34" charset="-120"/>
              </a:rPr>
              <a:t>Kiến trúc, quy trình và dữ liệu đầu vào</a:t>
            </a:r>
            <a:endParaRPr lang="en-US" sz="1150" dirty="0"/>
          </a:p>
        </p:txBody>
      </p:sp>
      <p:sp>
        <p:nvSpPr>
          <p:cNvPr id="20" name="Shape 18"/>
          <p:cNvSpPr/>
          <p:nvPr/>
        </p:nvSpPr>
        <p:spPr>
          <a:xfrm>
            <a:off x="548640" y="4855464"/>
            <a:ext cx="5257800" cy="1417320"/>
          </a:xfrm>
          <a:prstGeom prst="roundRect">
            <a:avLst>
              <a:gd name="adj" fmla="val 4516"/>
            </a:avLst>
          </a:prstGeom>
          <a:solidFill>
            <a:srgbClr val="FFFFFF"/>
          </a:solidFill>
          <a:ln/>
          <a:effectLst>
            <a:outerShdw sx="100000" sy="100000" kx="0" ky="0" algn="bl" rotWithShape="0" blurRad="101600" dist="25400" dir="5400000">
              <a:srgbClr val="000000">
                <a:alpha val="8000"/>
              </a:srgbClr>
            </a:outerShdw>
          </a:effectLst>
        </p:spPr>
      </p:sp>
      <p:sp>
        <p:nvSpPr>
          <p:cNvPr id="21" name="Text 19"/>
          <p:cNvSpPr/>
          <p:nvPr/>
        </p:nvSpPr>
        <p:spPr>
          <a:xfrm>
            <a:off x="777240" y="5020056"/>
            <a:ext cx="1005840" cy="731520"/>
          </a:xfrm>
          <a:prstGeom prst="rect">
            <a:avLst/>
          </a:prstGeom>
          <a:noFill/>
          <a:ln/>
        </p:spPr>
        <p:txBody>
          <a:bodyPr wrap="square" lIns="0" tIns="0" rIns="0" bIns="0" rtlCol="0" anchor="ctr"/>
          <a:lstStyle/>
          <a:p>
            <a:pPr indent="0" marL="0">
              <a:buNone/>
            </a:pPr>
            <a:r>
              <a:rPr lang="en-US" sz="3000" b="1" dirty="0">
                <a:solidFill>
                  <a:srgbClr val="E3DCD2"/>
                </a:solidFill>
                <a:latin typeface="Cambria" pitchFamily="34" charset="0"/>
                <a:ea typeface="Cambria" pitchFamily="34" charset="-122"/>
                <a:cs typeface="Cambria" pitchFamily="34" charset="-120"/>
              </a:rPr>
              <a:t>05</a:t>
            </a:r>
            <a:endParaRPr lang="en-US" sz="3000" dirty="0"/>
          </a:p>
        </p:txBody>
      </p:sp>
      <p:sp>
        <p:nvSpPr>
          <p:cNvPr id="22" name="Text 20"/>
          <p:cNvSpPr/>
          <p:nvPr/>
        </p:nvSpPr>
        <p:spPr>
          <a:xfrm>
            <a:off x="1737360" y="5038344"/>
            <a:ext cx="3840480" cy="411480"/>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Thực nghiệm &amp; Đánh giá</a:t>
            </a:r>
            <a:endParaRPr lang="en-US" sz="1650" dirty="0"/>
          </a:p>
        </p:txBody>
      </p:sp>
      <p:sp>
        <p:nvSpPr>
          <p:cNvPr id="23" name="Text 21"/>
          <p:cNvSpPr/>
          <p:nvPr/>
        </p:nvSpPr>
        <p:spPr>
          <a:xfrm>
            <a:off x="1737360" y="5477256"/>
            <a:ext cx="3840480" cy="640080"/>
          </a:xfrm>
          <a:prstGeom prst="rect">
            <a:avLst/>
          </a:prstGeom>
          <a:noFill/>
          <a:ln/>
        </p:spPr>
        <p:txBody>
          <a:bodyPr wrap="square" lIns="0" tIns="0" rIns="0" bIns="0" rtlCol="0" anchor="ctr"/>
          <a:lstStyle/>
          <a:p>
            <a:pPr indent="0" marL="0">
              <a:buNone/>
            </a:pPr>
            <a:r>
              <a:rPr lang="en-US" sz="1150" dirty="0">
                <a:solidFill>
                  <a:srgbClr val="5B6B85"/>
                </a:solidFill>
                <a:latin typeface="Calibri" pitchFamily="34" charset="0"/>
                <a:ea typeface="Calibri" pitchFamily="34" charset="-122"/>
                <a:cs typeface="Calibri" pitchFamily="34" charset="-120"/>
              </a:rPr>
              <a:t>Kết quả 7 câu hỏi nghiên cứu</a:t>
            </a:r>
            <a:endParaRPr lang="en-US" sz="1150" dirty="0"/>
          </a:p>
        </p:txBody>
      </p:sp>
      <p:sp>
        <p:nvSpPr>
          <p:cNvPr id="24" name="Shape 22"/>
          <p:cNvSpPr/>
          <p:nvPr/>
        </p:nvSpPr>
        <p:spPr>
          <a:xfrm>
            <a:off x="6217920" y="4855464"/>
            <a:ext cx="5257800" cy="1417320"/>
          </a:xfrm>
          <a:prstGeom prst="roundRect">
            <a:avLst>
              <a:gd name="adj" fmla="val 4516"/>
            </a:avLst>
          </a:prstGeom>
          <a:solidFill>
            <a:srgbClr val="FFFFFF"/>
          </a:solidFill>
          <a:ln/>
          <a:effectLst>
            <a:outerShdw sx="100000" sy="100000" kx="0" ky="0" algn="bl" rotWithShape="0" blurRad="101600" dist="25400" dir="5400000">
              <a:srgbClr val="000000">
                <a:alpha val="8000"/>
              </a:srgbClr>
            </a:outerShdw>
          </a:effectLst>
        </p:spPr>
      </p:sp>
      <p:sp>
        <p:nvSpPr>
          <p:cNvPr id="25" name="Text 23"/>
          <p:cNvSpPr/>
          <p:nvPr/>
        </p:nvSpPr>
        <p:spPr>
          <a:xfrm>
            <a:off x="6446520" y="5020056"/>
            <a:ext cx="1005840" cy="731520"/>
          </a:xfrm>
          <a:prstGeom prst="rect">
            <a:avLst/>
          </a:prstGeom>
          <a:noFill/>
          <a:ln/>
        </p:spPr>
        <p:txBody>
          <a:bodyPr wrap="square" lIns="0" tIns="0" rIns="0" bIns="0" rtlCol="0" anchor="ctr"/>
          <a:lstStyle/>
          <a:p>
            <a:pPr indent="0" marL="0">
              <a:buNone/>
            </a:pPr>
            <a:r>
              <a:rPr lang="en-US" sz="3000" b="1" dirty="0">
                <a:solidFill>
                  <a:srgbClr val="E3DCD2"/>
                </a:solidFill>
                <a:latin typeface="Cambria" pitchFamily="34" charset="0"/>
                <a:ea typeface="Cambria" pitchFamily="34" charset="-122"/>
                <a:cs typeface="Cambria" pitchFamily="34" charset="-120"/>
              </a:rPr>
              <a:t>06</a:t>
            </a:r>
            <a:endParaRPr lang="en-US" sz="3000" dirty="0"/>
          </a:p>
        </p:txBody>
      </p:sp>
      <p:sp>
        <p:nvSpPr>
          <p:cNvPr id="26" name="Text 24"/>
          <p:cNvSpPr/>
          <p:nvPr/>
        </p:nvSpPr>
        <p:spPr>
          <a:xfrm>
            <a:off x="7406640" y="5038344"/>
            <a:ext cx="3840480" cy="411480"/>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Kết luận &amp; Hướng phát triển</a:t>
            </a:r>
            <a:endParaRPr lang="en-US" sz="1650" dirty="0"/>
          </a:p>
        </p:txBody>
      </p:sp>
      <p:sp>
        <p:nvSpPr>
          <p:cNvPr id="27" name="Text 25"/>
          <p:cNvSpPr/>
          <p:nvPr/>
        </p:nvSpPr>
        <p:spPr>
          <a:xfrm>
            <a:off x="7406640" y="5477256"/>
            <a:ext cx="3840480" cy="640080"/>
          </a:xfrm>
          <a:prstGeom prst="rect">
            <a:avLst/>
          </a:prstGeom>
          <a:noFill/>
          <a:ln/>
        </p:spPr>
        <p:txBody>
          <a:bodyPr wrap="square" lIns="0" tIns="0" rIns="0" bIns="0" rtlCol="0" anchor="ctr"/>
          <a:lstStyle/>
          <a:p>
            <a:pPr indent="0" marL="0">
              <a:buNone/>
            </a:pPr>
            <a:r>
              <a:rPr lang="en-US" sz="1150" dirty="0">
                <a:solidFill>
                  <a:srgbClr val="5B6B85"/>
                </a:solidFill>
                <a:latin typeface="Calibri" pitchFamily="34" charset="0"/>
                <a:ea typeface="Calibri" pitchFamily="34" charset="-122"/>
                <a:cs typeface="Calibri" pitchFamily="34" charset="-120"/>
              </a:rPr>
              <a:t>Tổng kết và định hướng mở rộng</a:t>
            </a:r>
            <a:endParaRPr lang="en-US" sz="1150" dirty="0"/>
          </a:p>
        </p:txBody>
      </p:sp>
      <p:sp>
        <p:nvSpPr>
          <p:cNvPr id="28" name="Text 2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MỞ ĐẦU</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Bối cảnh và động lực nghiên cứu</a:t>
            </a:r>
            <a:endParaRPr lang="en-US" sz="3000" dirty="0"/>
          </a:p>
        </p:txBody>
      </p:sp>
      <p:sp>
        <p:nvSpPr>
          <p:cNvPr id="4" name="Shape 2"/>
          <p:cNvSpPr/>
          <p:nvPr/>
        </p:nvSpPr>
        <p:spPr>
          <a:xfrm>
            <a:off x="548640" y="1691640"/>
            <a:ext cx="6400800" cy="4434840"/>
          </a:xfrm>
          <a:prstGeom prst="roundRect">
            <a:avLst>
              <a:gd name="adj" fmla="val 1649"/>
            </a:avLst>
          </a:prstGeom>
          <a:solidFill>
            <a:srgbClr val="FFFFFF"/>
          </a:solidFill>
          <a:ln/>
          <a:effectLst>
            <a:outerShdw sx="100000" sy="100000" kx="0" ky="0" algn="bl" rotWithShape="0" blurRad="101600" dist="25400" dir="5400000">
              <a:srgbClr val="000000">
                <a:alpha val="8000"/>
              </a:srgbClr>
            </a:outerShdw>
          </a:effectLst>
        </p:spPr>
      </p:sp>
      <p:sp>
        <p:nvSpPr>
          <p:cNvPr id="5" name="Text 3"/>
          <p:cNvSpPr/>
          <p:nvPr/>
        </p:nvSpPr>
        <p:spPr>
          <a:xfrm>
            <a:off x="868680" y="1965960"/>
            <a:ext cx="5852160" cy="3931920"/>
          </a:xfrm>
          <a:prstGeom prst="rect">
            <a:avLst/>
          </a:prstGeom>
          <a:noFill/>
          <a:ln/>
        </p:spPr>
        <p:txBody>
          <a:bodyPr wrap="square" rtlCol="0" anchor="ctr"/>
          <a:lstStyle/>
          <a:p>
            <a:pPr marL="342900" indent="-342900">
              <a:lnSpc>
                <a:spcPts val="1900"/>
              </a:lnSpc>
              <a:spcAft>
                <a:spcPts val="1200"/>
              </a:spcAft>
              <a:buSzPct val="100000"/>
              <a:buChar char="•"/>
            </a:pPr>
            <a:r>
              <a:rPr lang="en-US" sz="1350" dirty="0">
                <a:solidFill>
                  <a:srgbClr val="1F2430"/>
                </a:solidFill>
                <a:latin typeface="Calibri" pitchFamily="34" charset="0"/>
                <a:ea typeface="Calibri" pitchFamily="34" charset="-122"/>
                <a:cs typeface="Calibri" pitchFamily="34" charset="-120"/>
              </a:rPr>
              <a:t>Thị trường bất động sản Việt Nam đang tạo ra khối lượng dữ liệu khổng lồ nhưng thô, nhiều tạp chất và nhiễu thông tin.</a:t>
            </a:r>
            <a:endParaRPr lang="en-US" sz="1350" dirty="0"/>
          </a:p>
          <a:p>
            <a:pPr marL="342900" indent="-342900">
              <a:lnSpc>
                <a:spcPts val="1900"/>
              </a:lnSpc>
              <a:spcAft>
                <a:spcPts val="1200"/>
              </a:spcAft>
              <a:buSzPct val="100000"/>
              <a:buChar char="•"/>
            </a:pPr>
            <a:r>
              <a:rPr lang="en-US" sz="1350" dirty="0">
                <a:solidFill>
                  <a:srgbClr val="1F2430"/>
                </a:solidFill>
                <a:latin typeface="Calibri" pitchFamily="34" charset="0"/>
                <a:ea typeface="Calibri" pitchFamily="34" charset="-122"/>
                <a:cs typeface="Calibri" pitchFamily="34" charset="-120"/>
              </a:rPr>
              <a:t>Người mua, nhà đầu tư cá nhân khó xử lý thủ công để nhận diện xu hướng và xác định giá trị thực của tài sản.</a:t>
            </a:r>
            <a:endParaRPr lang="en-US" sz="1350" dirty="0"/>
          </a:p>
          <a:p>
            <a:pPr marL="342900" indent="-342900">
              <a:lnSpc>
                <a:spcPts val="1900"/>
              </a:lnSpc>
              <a:spcAft>
                <a:spcPts val="1200"/>
              </a:spcAft>
              <a:buSzPct val="100000"/>
              <a:buChar char="•"/>
            </a:pPr>
            <a:r>
              <a:rPr lang="en-US" sz="1350" dirty="0">
                <a:solidFill>
                  <a:srgbClr val="1F2430"/>
                </a:solidFill>
                <a:latin typeface="Calibri" pitchFamily="34" charset="0"/>
                <a:ea typeface="Calibri" pitchFamily="34" charset="-122"/>
                <a:cs typeface="Calibri" pitchFamily="34" charset="-120"/>
              </a:rPr>
              <a:t>Giải pháp: ứng dụng Khoa học dữ liệu (Data Science) kết hợp Học máy hồi quy (Machine Learning Regression) để tự động hóa phân tích và dự báo giá trị bất động sản.</a:t>
            </a:r>
            <a:endParaRPr lang="en-US" sz="1350" dirty="0"/>
          </a:p>
          <a:p>
            <a:pPr marL="342900" indent="-342900">
              <a:lnSpc>
                <a:spcPts val="1900"/>
              </a:lnSpc>
              <a:buSzPct val="100000"/>
              <a:buChar char="•"/>
            </a:pPr>
            <a:r>
              <a:rPr lang="en-US" sz="1350" dirty="0">
                <a:solidFill>
                  <a:srgbClr val="1F2430"/>
                </a:solidFill>
                <a:latin typeface="Calibri" pitchFamily="34" charset="0"/>
                <a:ea typeface="Calibri" pitchFamily="34" charset="-122"/>
                <a:cs typeface="Calibri" pitchFamily="34" charset="-120"/>
              </a:rPr>
              <a:t>Mục tiêu cuối: giảm thiểu rủi ro thông tin bất đối xứng, hỗ trợ ra quyết định khách quan và chính xác.</a:t>
            </a:r>
            <a:endParaRPr lang="en-US" sz="1350" dirty="0"/>
          </a:p>
        </p:txBody>
      </p:sp>
      <p:sp>
        <p:nvSpPr>
          <p:cNvPr id="6" name="Shape 4"/>
          <p:cNvSpPr/>
          <p:nvPr/>
        </p:nvSpPr>
        <p:spPr>
          <a:xfrm>
            <a:off x="7178040" y="1691640"/>
            <a:ext cx="4480560" cy="4434840"/>
          </a:xfrm>
          <a:prstGeom prst="roundRect">
            <a:avLst>
              <a:gd name="adj" fmla="val 1649"/>
            </a:avLst>
          </a:prstGeom>
          <a:solidFill>
            <a:srgbClr val="1B2A4A"/>
          </a:solidFill>
          <a:ln/>
          <a:effectLst>
            <a:outerShdw sx="100000" sy="100000" kx="0" ky="0" algn="bl" rotWithShape="0" blurRad="127000" dist="38100" dir="5400000">
              <a:srgbClr val="000000">
                <a:alpha val="18000"/>
              </a:srgbClr>
            </a:outerShdw>
          </a:effectLst>
        </p:spPr>
      </p:sp>
      <p:sp>
        <p:nvSpPr>
          <p:cNvPr id="7" name="Shape 5"/>
          <p:cNvSpPr/>
          <p:nvPr/>
        </p:nvSpPr>
        <p:spPr>
          <a:xfrm>
            <a:off x="7498080" y="1965960"/>
            <a:ext cx="548640" cy="548640"/>
          </a:xfrm>
          <a:prstGeom prst="ellipse">
            <a:avLst/>
          </a:prstGeom>
          <a:solidFill>
            <a:srgbClr val="C0654A"/>
          </a:solidFill>
          <a:ln/>
        </p:spPr>
      </p:sp>
      <p:pic>
        <p:nvPicPr>
          <p:cNvPr id="8" name="Image 0" descr="preencoded.png">    </p:cNvPr>
          <p:cNvPicPr>
            <a:picLocks noChangeAspect="1"/>
          </p:cNvPicPr>
          <p:nvPr/>
        </p:nvPicPr>
        <p:blipFill>
          <a:blip r:embed="rId1"/>
          <a:stretch>
            <a:fillRect/>
          </a:stretch>
        </p:blipFill>
        <p:spPr>
          <a:xfrm>
            <a:off x="7580376" y="2048256"/>
            <a:ext cx="384048" cy="384048"/>
          </a:xfrm>
          <a:prstGeom prst="rect">
            <a:avLst/>
          </a:prstGeom>
        </p:spPr>
      </p:pic>
      <p:sp>
        <p:nvSpPr>
          <p:cNvPr id="9" name="Text 6"/>
          <p:cNvSpPr/>
          <p:nvPr/>
        </p:nvSpPr>
        <p:spPr>
          <a:xfrm>
            <a:off x="8183880" y="2029968"/>
            <a:ext cx="3291840" cy="41148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Dữ liệu nguồn</a:t>
            </a:r>
            <a:endParaRPr lang="en-US" sz="1600" dirty="0"/>
          </a:p>
        </p:txBody>
      </p:sp>
      <p:sp>
        <p:nvSpPr>
          <p:cNvPr id="10" name="Text 7"/>
          <p:cNvSpPr/>
          <p:nvPr/>
        </p:nvSpPr>
        <p:spPr>
          <a:xfrm>
            <a:off x="7498080" y="2697480"/>
            <a:ext cx="3931920" cy="365760"/>
          </a:xfrm>
          <a:prstGeom prst="rect">
            <a:avLst/>
          </a:prstGeom>
          <a:noFill/>
          <a:ln/>
        </p:spPr>
        <p:txBody>
          <a:bodyPr wrap="square" lIns="0" tIns="0" rIns="0" bIns="0" rtlCol="0" anchor="ctr"/>
          <a:lstStyle/>
          <a:p>
            <a:pPr indent="0" marL="0">
              <a:buNone/>
            </a:pPr>
            <a:r>
              <a:rPr lang="en-US" sz="1250" i="1" dirty="0">
                <a:solidFill>
                  <a:srgbClr val="CADCFC"/>
                </a:solidFill>
                <a:latin typeface="Calibri" pitchFamily="34" charset="0"/>
                <a:ea typeface="Calibri" pitchFamily="34" charset="-122"/>
                <a:cs typeface="Calibri" pitchFamily="34" charset="-120"/>
              </a:rPr>
              <a:t>sale_real_estate.csv</a:t>
            </a:r>
            <a:endParaRPr lang="en-US" sz="1250" dirty="0"/>
          </a:p>
        </p:txBody>
      </p:sp>
      <p:sp>
        <p:nvSpPr>
          <p:cNvPr id="11" name="Text 8"/>
          <p:cNvSpPr/>
          <p:nvPr/>
        </p:nvSpPr>
        <p:spPr>
          <a:xfrm>
            <a:off x="7498080" y="3154680"/>
            <a:ext cx="3931920" cy="1828800"/>
          </a:xfrm>
          <a:prstGeom prst="rect">
            <a:avLst/>
          </a:prstGeom>
          <a:noFill/>
          <a:ln/>
        </p:spPr>
        <p:txBody>
          <a:bodyPr wrap="square" rtlCol="0" anchor="ctr"/>
          <a:lstStyle/>
          <a:p>
            <a:pPr marL="342900" indent="-342900">
              <a:lnSpc>
                <a:spcPts val="1700"/>
              </a:lnSpc>
              <a:spcAft>
                <a:spcPts val="1000"/>
              </a:spcAft>
              <a:buSzPct val="100000"/>
              <a:buChar char="•"/>
            </a:pPr>
            <a:r>
              <a:rPr lang="en-US" sz="1250" dirty="0">
                <a:solidFill>
                  <a:srgbClr val="E8ECF7"/>
                </a:solidFill>
                <a:latin typeface="Calibri" pitchFamily="34" charset="0"/>
                <a:ea typeface="Calibri" pitchFamily="34" charset="-122"/>
                <a:cs typeface="Calibri" pitchFamily="34" charset="-120"/>
              </a:rPr>
              <a:t>Vị trí địa lý phân cấp (Tỉnh/Quận/Phường)</a:t>
            </a:r>
            <a:endParaRPr lang="en-US" sz="1250" dirty="0"/>
          </a:p>
          <a:p>
            <a:pPr marL="342900" indent="-342900">
              <a:lnSpc>
                <a:spcPts val="1700"/>
              </a:lnSpc>
              <a:spcAft>
                <a:spcPts val="1000"/>
              </a:spcAft>
              <a:buSzPct val="100000"/>
              <a:buChar char="•"/>
            </a:pPr>
            <a:r>
              <a:rPr lang="en-US" sz="1250" dirty="0">
                <a:solidFill>
                  <a:srgbClr val="E8ECF7"/>
                </a:solidFill>
                <a:latin typeface="Calibri" pitchFamily="34" charset="0"/>
                <a:ea typeface="Calibri" pitchFamily="34" charset="-122"/>
                <a:cs typeface="Calibri" pitchFamily="34" charset="-120"/>
              </a:rPr>
              <a:t>Diện tích sử dụng</a:t>
            </a:r>
            <a:endParaRPr lang="en-US" sz="1250" dirty="0"/>
          </a:p>
          <a:p>
            <a:pPr marL="342900" indent="-342900">
              <a:lnSpc>
                <a:spcPts val="1700"/>
              </a:lnSpc>
              <a:spcAft>
                <a:spcPts val="1000"/>
              </a:spcAft>
              <a:buSzPct val="100000"/>
              <a:buChar char="•"/>
            </a:pPr>
            <a:r>
              <a:rPr lang="en-US" sz="1250" dirty="0">
                <a:solidFill>
                  <a:srgbClr val="E8ECF7"/>
                </a:solidFill>
                <a:latin typeface="Calibri" pitchFamily="34" charset="0"/>
                <a:ea typeface="Calibri" pitchFamily="34" charset="-122"/>
                <a:cs typeface="Calibri" pitchFamily="34" charset="-120"/>
              </a:rPr>
              <a:t>Số phòng ngủ / vệ sinh</a:t>
            </a:r>
            <a:endParaRPr lang="en-US" sz="1250" dirty="0"/>
          </a:p>
          <a:p>
            <a:pPr marL="342900" indent="-342900">
              <a:lnSpc>
                <a:spcPts val="1700"/>
              </a:lnSpc>
              <a:buSzPct val="100000"/>
              <a:buChar char="•"/>
            </a:pPr>
            <a:r>
              <a:rPr lang="en-US" sz="1250" dirty="0">
                <a:solidFill>
                  <a:srgbClr val="E8ECF7"/>
                </a:solidFill>
                <a:latin typeface="Calibri" pitchFamily="34" charset="0"/>
                <a:ea typeface="Calibri" pitchFamily="34" charset="-122"/>
                <a:cs typeface="Calibri" pitchFamily="34" charset="-120"/>
              </a:rPr>
              <a:t>Hướng nhà phong thủy &amp; giá bán</a:t>
            </a:r>
            <a:endParaRPr lang="en-US" sz="1250" dirty="0"/>
          </a:p>
        </p:txBody>
      </p:sp>
      <p:sp>
        <p:nvSpPr>
          <p:cNvPr id="12" name="Text 9"/>
          <p:cNvSpPr/>
          <p:nvPr/>
        </p:nvSpPr>
        <p:spPr>
          <a:xfrm>
            <a:off x="7498080" y="5257800"/>
            <a:ext cx="3931920" cy="640080"/>
          </a:xfrm>
          <a:prstGeom prst="rect">
            <a:avLst/>
          </a:prstGeom>
          <a:noFill/>
          <a:ln/>
        </p:spPr>
        <p:txBody>
          <a:bodyPr wrap="square" lIns="0" tIns="0" rIns="0" bIns="0" rtlCol="0" anchor="ctr"/>
          <a:lstStyle/>
          <a:p>
            <a:pPr indent="0" marL="0">
              <a:lnSpc>
                <a:spcPts val="1400"/>
              </a:lnSpc>
              <a:buNone/>
            </a:pPr>
            <a:r>
              <a:rPr lang="en-US" sz="1050" i="1" dirty="0">
                <a:solidFill>
                  <a:srgbClr val="8A93A8"/>
                </a:solidFill>
                <a:latin typeface="Calibri" pitchFamily="34" charset="0"/>
                <a:ea typeface="Calibri" pitchFamily="34" charset="-122"/>
                <a:cs typeface="Calibri" pitchFamily="34" charset="-120"/>
              </a:rPr>
              <a:t>Python  ·  Regex  ·  Linear Regression  ·  Random Forest  ·  XGBoost  ·  Streamlit</a:t>
            </a:r>
            <a:endParaRPr lang="en-US" sz="1050" dirty="0"/>
          </a:p>
        </p:txBody>
      </p:sp>
      <p:sp>
        <p:nvSpPr>
          <p:cNvPr id="13" name="Text 10"/>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CHƯƠNG 1 · GIỚI THIỆU ĐỀ TÀI</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Lý do chọn đề tài &amp; Mục tiêu</a:t>
            </a:r>
            <a:endParaRPr lang="en-US" sz="3000" dirty="0"/>
          </a:p>
        </p:txBody>
      </p:sp>
      <p:sp>
        <p:nvSpPr>
          <p:cNvPr id="4" name="Shape 2"/>
          <p:cNvSpPr/>
          <p:nvPr/>
        </p:nvSpPr>
        <p:spPr>
          <a:xfrm>
            <a:off x="548640" y="1691640"/>
            <a:ext cx="5440680" cy="4434840"/>
          </a:xfrm>
          <a:prstGeom prst="roundRect">
            <a:avLst>
              <a:gd name="adj" fmla="val 1649"/>
            </a:avLst>
          </a:prstGeom>
          <a:solidFill>
            <a:srgbClr val="FFFFFF"/>
          </a:solidFill>
          <a:ln/>
          <a:effectLst>
            <a:outerShdw sx="100000" sy="100000" kx="0" ky="0" algn="bl" rotWithShape="0" blurRad="101600" dist="25400" dir="5400000">
              <a:srgbClr val="000000">
                <a:alpha val="8000"/>
              </a:srgbClr>
            </a:outerShdw>
          </a:effectLst>
        </p:spPr>
      </p:sp>
      <p:sp>
        <p:nvSpPr>
          <p:cNvPr id="5" name="Shape 3"/>
          <p:cNvSpPr/>
          <p:nvPr/>
        </p:nvSpPr>
        <p:spPr>
          <a:xfrm>
            <a:off x="868680" y="1920240"/>
            <a:ext cx="502920" cy="502920"/>
          </a:xfrm>
          <a:prstGeom prst="ellipse">
            <a:avLst/>
          </a:prstGeom>
          <a:solidFill>
            <a:srgbClr val="FBEFEA"/>
          </a:solidFill>
          <a:ln/>
        </p:spPr>
      </p:sp>
      <p:pic>
        <p:nvPicPr>
          <p:cNvPr id="6" name="Image 0" descr="preencoded.png">    </p:cNvPr>
          <p:cNvPicPr>
            <a:picLocks noChangeAspect="1"/>
          </p:cNvPicPr>
          <p:nvPr/>
        </p:nvPicPr>
        <p:blipFill>
          <a:blip r:embed="rId1"/>
          <a:stretch>
            <a:fillRect/>
          </a:stretch>
        </p:blipFill>
        <p:spPr>
          <a:xfrm>
            <a:off x="949147" y="2000707"/>
            <a:ext cx="341986" cy="341986"/>
          </a:xfrm>
          <a:prstGeom prst="rect">
            <a:avLst/>
          </a:prstGeom>
        </p:spPr>
      </p:pic>
      <p:pic>
        <p:nvPicPr>
          <p:cNvPr id="7" name="Image 1" descr="preencoded.png">    </p:cNvPr>
          <p:cNvPicPr>
            <a:picLocks noChangeAspect="1"/>
          </p:cNvPicPr>
          <p:nvPr/>
        </p:nvPicPr>
        <p:blipFill>
          <a:blip r:embed="rId2"/>
          <a:stretch>
            <a:fillRect/>
          </a:stretch>
        </p:blipFill>
        <p:spPr>
          <a:xfrm>
            <a:off x="1005840" y="2057400"/>
            <a:ext cx="228600" cy="228600"/>
          </a:xfrm>
          <a:prstGeom prst="rect">
            <a:avLst/>
          </a:prstGeom>
        </p:spPr>
      </p:pic>
      <p:sp>
        <p:nvSpPr>
          <p:cNvPr id="8" name="Text 4"/>
          <p:cNvSpPr/>
          <p:nvPr/>
        </p:nvSpPr>
        <p:spPr>
          <a:xfrm>
            <a:off x="1508760" y="1965960"/>
            <a:ext cx="4206240" cy="411480"/>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Lý do chọn đề tài</a:t>
            </a:r>
            <a:endParaRPr lang="en-US" sz="1700" dirty="0"/>
          </a:p>
        </p:txBody>
      </p:sp>
      <p:sp>
        <p:nvSpPr>
          <p:cNvPr id="9" name="Text 5"/>
          <p:cNvSpPr/>
          <p:nvPr/>
        </p:nvSpPr>
        <p:spPr>
          <a:xfrm>
            <a:off x="868680" y="2468880"/>
            <a:ext cx="4846320" cy="3383280"/>
          </a:xfrm>
          <a:prstGeom prst="rect">
            <a:avLst/>
          </a:prstGeom>
          <a:noFill/>
          <a:ln/>
        </p:spPr>
        <p:txBody>
          <a:bodyPr wrap="square" rtlCol="0" anchor="t"/>
          <a:lstStyle/>
          <a:p>
            <a:pPr marL="342900" indent="-342900">
              <a:lnSpc>
                <a:spcPts val="2000"/>
              </a:lnSpc>
              <a:spcAft>
                <a:spcPts val="1400"/>
              </a:spcAft>
              <a:buSzPct val="100000"/>
              <a:buChar char="•"/>
            </a:pPr>
            <a:r>
              <a:rPr lang="en-US" sz="1350" dirty="0">
                <a:solidFill>
                  <a:srgbClr val="1F2430"/>
                </a:solidFill>
                <a:latin typeface="Calibri" pitchFamily="34" charset="0"/>
                <a:ea typeface="Calibri" pitchFamily="34" charset="-122"/>
                <a:cs typeface="Calibri" pitchFamily="34" charset="-120"/>
              </a:rPr>
              <a:t>Giá BĐS biến động phức tạp theo vị trí, diện tích, loại hình và chính sách KT-XH.</a:t>
            </a:r>
            <a:endParaRPr lang="en-US" sz="1350" dirty="0"/>
          </a:p>
          <a:p>
            <a:pPr marL="342900" indent="-342900">
              <a:lnSpc>
                <a:spcPts val="2000"/>
              </a:lnSpc>
              <a:spcAft>
                <a:spcPts val="1400"/>
              </a:spcAft>
              <a:buSzPct val="100000"/>
              <a:buChar char="•"/>
            </a:pPr>
            <a:r>
              <a:rPr lang="en-US" sz="1350" dirty="0">
                <a:solidFill>
                  <a:srgbClr val="1F2430"/>
                </a:solidFill>
                <a:latin typeface="Calibri" pitchFamily="34" charset="0"/>
                <a:ea typeface="Calibri" pitchFamily="34" charset="-122"/>
                <a:cs typeface="Calibri" pitchFamily="34" charset="-120"/>
              </a:rPr>
              <a:t>Bùng nổ dữ liệu trực tuyến nhưng khai thác còn hạn chế → quyết định dựa cảm tính.</a:t>
            </a:r>
            <a:endParaRPr lang="en-US" sz="1350" dirty="0"/>
          </a:p>
          <a:p>
            <a:pPr marL="342900" indent="-342900">
              <a:lnSpc>
                <a:spcPts val="2000"/>
              </a:lnSpc>
              <a:buSzPct val="100000"/>
              <a:buChar char="•"/>
            </a:pPr>
            <a:r>
              <a:rPr lang="en-US" sz="1350" dirty="0">
                <a:solidFill>
                  <a:srgbClr val="1F2430"/>
                </a:solidFill>
                <a:latin typeface="Calibri" pitchFamily="34" charset="0"/>
                <a:ea typeface="Calibri" pitchFamily="34" charset="-122"/>
                <a:cs typeface="Calibri" pitchFamily="34" charset="-120"/>
              </a:rPr>
              <a:t>Data Science + Machine Learning mở ra giải pháp: phân tích hiện trạng và dự báo tương lai.</a:t>
            </a:r>
            <a:endParaRPr lang="en-US" sz="1350" dirty="0"/>
          </a:p>
        </p:txBody>
      </p:sp>
      <p:sp>
        <p:nvSpPr>
          <p:cNvPr id="10" name="Shape 6"/>
          <p:cNvSpPr/>
          <p:nvPr/>
        </p:nvSpPr>
        <p:spPr>
          <a:xfrm>
            <a:off x="6199632" y="1691640"/>
            <a:ext cx="5440680" cy="4434840"/>
          </a:xfrm>
          <a:prstGeom prst="roundRect">
            <a:avLst>
              <a:gd name="adj" fmla="val 1649"/>
            </a:avLst>
          </a:prstGeom>
          <a:solidFill>
            <a:srgbClr val="1B2A4A"/>
          </a:solidFill>
          <a:ln/>
          <a:effectLst>
            <a:outerShdw sx="100000" sy="100000" kx="0" ky="0" algn="bl" rotWithShape="0" blurRad="127000" dist="38100" dir="5400000">
              <a:srgbClr val="000000">
                <a:alpha val="18000"/>
              </a:srgbClr>
            </a:outerShdw>
          </a:effectLst>
        </p:spPr>
      </p:sp>
      <p:sp>
        <p:nvSpPr>
          <p:cNvPr id="11" name="Shape 7"/>
          <p:cNvSpPr/>
          <p:nvPr/>
        </p:nvSpPr>
        <p:spPr>
          <a:xfrm>
            <a:off x="6519672" y="1920240"/>
            <a:ext cx="502920" cy="502920"/>
          </a:xfrm>
          <a:prstGeom prst="ellipse">
            <a:avLst/>
          </a:prstGeom>
          <a:solidFill>
            <a:srgbClr val="2A3B61"/>
          </a:solidFill>
          <a:ln/>
        </p:spPr>
      </p:sp>
      <p:pic>
        <p:nvPicPr>
          <p:cNvPr id="12" name="Image 2" descr="preencoded.png">    </p:cNvPr>
          <p:cNvPicPr>
            <a:picLocks noChangeAspect="1"/>
          </p:cNvPicPr>
          <p:nvPr/>
        </p:nvPicPr>
        <p:blipFill>
          <a:blip r:embed="rId3"/>
          <a:stretch>
            <a:fillRect/>
          </a:stretch>
        </p:blipFill>
        <p:spPr>
          <a:xfrm>
            <a:off x="6600139" y="2000707"/>
            <a:ext cx="341986" cy="341986"/>
          </a:xfrm>
          <a:prstGeom prst="rect">
            <a:avLst/>
          </a:prstGeom>
        </p:spPr>
      </p:pic>
      <p:sp>
        <p:nvSpPr>
          <p:cNvPr id="13" name="Text 8"/>
          <p:cNvSpPr/>
          <p:nvPr/>
        </p:nvSpPr>
        <p:spPr>
          <a:xfrm>
            <a:off x="7159752" y="1965960"/>
            <a:ext cx="4206240" cy="4114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Mục tiêu đề tài</a:t>
            </a:r>
            <a:endParaRPr lang="en-US" sz="1700" dirty="0"/>
          </a:p>
        </p:txBody>
      </p:sp>
      <p:sp>
        <p:nvSpPr>
          <p:cNvPr id="14" name="Text 9"/>
          <p:cNvSpPr/>
          <p:nvPr/>
        </p:nvSpPr>
        <p:spPr>
          <a:xfrm>
            <a:off x="6519672" y="2542032"/>
            <a:ext cx="4846320" cy="777240"/>
          </a:xfrm>
          <a:prstGeom prst="rect">
            <a:avLst/>
          </a:prstGeom>
          <a:noFill/>
          <a:ln/>
        </p:spPr>
        <p:txBody>
          <a:bodyPr wrap="square" lIns="0" tIns="0" rIns="0" bIns="0" rtlCol="0" anchor="ctr"/>
          <a:lstStyle/>
          <a:p>
            <a:pPr indent="0" marL="0">
              <a:lnSpc>
                <a:spcPts val="1600"/>
              </a:lnSpc>
              <a:buNone/>
            </a:pPr>
            <a:r>
              <a:rPr lang="en-US" sz="1200" i="1" dirty="0">
                <a:solidFill>
                  <a:srgbClr val="CADCFC"/>
                </a:solidFill>
                <a:latin typeface="Calibri" pitchFamily="34" charset="0"/>
                <a:ea typeface="Calibri" pitchFamily="34" charset="-122"/>
                <a:cs typeface="Calibri" pitchFamily="34" charset="-120"/>
              </a:rPr>
              <a:t>Xây dựng quy trình toàn diện: khai thác → xử lý → trực quan hóa → dự báo giá BĐS, hỗ trợ ra quyết định thông minh.</a:t>
            </a:r>
            <a:endParaRPr lang="en-US" sz="1200" dirty="0"/>
          </a:p>
        </p:txBody>
      </p:sp>
      <p:sp>
        <p:nvSpPr>
          <p:cNvPr id="15" name="Text 10"/>
          <p:cNvSpPr/>
          <p:nvPr/>
        </p:nvSpPr>
        <p:spPr>
          <a:xfrm>
            <a:off x="6519672" y="3657600"/>
            <a:ext cx="4846320" cy="2560320"/>
          </a:xfrm>
          <a:prstGeom prst="rect">
            <a:avLst/>
          </a:prstGeom>
          <a:noFill/>
          <a:ln/>
        </p:spPr>
        <p:txBody>
          <a:bodyPr wrap="square" rtlCol="0" anchor="ctr"/>
          <a:lstStyle/>
          <a:p>
            <a:pPr marL="342900" indent="-342900">
              <a:lnSpc>
                <a:spcPts val="1600"/>
              </a:lnSpc>
              <a:spcAft>
                <a:spcPts val="1100"/>
              </a:spcAft>
              <a:buSzPct val="100000"/>
              <a:buChar char="•"/>
            </a:pPr>
            <a:r>
              <a:rPr lang="en-US" sz="1200" dirty="0">
                <a:solidFill>
                  <a:srgbClr val="E8ECF7"/>
                </a:solidFill>
                <a:latin typeface="Calibri" pitchFamily="34" charset="0"/>
                <a:ea typeface="Calibri" pitchFamily="34" charset="-122"/>
                <a:cs typeface="Calibri" pitchFamily="34" charset="-120"/>
              </a:rPr>
              <a:t>Thu thập &amp; tiền xử lý dữ liệu thực tế, loại bỏ Outliers</a:t>
            </a:r>
            <a:endParaRPr lang="en-US" sz="1200" dirty="0"/>
          </a:p>
          <a:p>
            <a:pPr marL="342900" indent="-342900">
              <a:lnSpc>
                <a:spcPts val="1600"/>
              </a:lnSpc>
              <a:spcAft>
                <a:spcPts val="1100"/>
              </a:spcAft>
              <a:buSzPct val="100000"/>
              <a:buChar char="•"/>
            </a:pPr>
            <a:r>
              <a:rPr lang="en-US" sz="1200" dirty="0">
                <a:solidFill>
                  <a:srgbClr val="E8ECF7"/>
                </a:solidFill>
                <a:latin typeface="Calibri" pitchFamily="34" charset="0"/>
                <a:ea typeface="Calibri" pitchFamily="34" charset="-122"/>
                <a:cs typeface="Calibri" pitchFamily="34" charset="-120"/>
              </a:rPr>
              <a:t>Phân tích khám phá dữ liệu (EDA) qua 5 bài toán thực tế</a:t>
            </a:r>
            <a:endParaRPr lang="en-US" sz="1200" dirty="0"/>
          </a:p>
          <a:p>
            <a:pPr marL="342900" indent="-342900">
              <a:lnSpc>
                <a:spcPts val="1600"/>
              </a:lnSpc>
              <a:spcAft>
                <a:spcPts val="1100"/>
              </a:spcAft>
              <a:buSzPct val="100000"/>
              <a:buChar char="•"/>
            </a:pPr>
            <a:r>
              <a:rPr lang="en-US" sz="1200" dirty="0">
                <a:solidFill>
                  <a:srgbClr val="E8ECF7"/>
                </a:solidFill>
                <a:latin typeface="Calibri" pitchFamily="34" charset="0"/>
                <a:ea typeface="Calibri" pitchFamily="34" charset="-122"/>
                <a:cs typeface="Calibri" pitchFamily="34" charset="-120"/>
              </a:rPr>
              <a:t>Xây dựng mô hình hồi quy: Linear, Random Forest, XGBoost</a:t>
            </a:r>
            <a:endParaRPr lang="en-US" sz="1200" dirty="0"/>
          </a:p>
          <a:p>
            <a:pPr marL="342900" indent="-342900">
              <a:lnSpc>
                <a:spcPts val="1600"/>
              </a:lnSpc>
              <a:buSzPct val="100000"/>
              <a:buChar char="•"/>
            </a:pPr>
            <a:r>
              <a:rPr lang="en-US" sz="1200" dirty="0">
                <a:solidFill>
                  <a:srgbClr val="E8ECF7"/>
                </a:solidFill>
                <a:latin typeface="Calibri" pitchFamily="34" charset="0"/>
                <a:ea typeface="Calibri" pitchFamily="34" charset="-122"/>
                <a:cs typeface="Calibri" pitchFamily="34" charset="-120"/>
              </a:rPr>
              <a:t>Đánh giá bằng RMSE &amp; R² để chọn thuật toán tối ưu</a:t>
            </a:r>
            <a:endParaRPr lang="en-US" sz="1200" dirty="0"/>
          </a:p>
        </p:txBody>
      </p:sp>
      <p:sp>
        <p:nvSpPr>
          <p:cNvPr id="16" name="Text 11"/>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CHƯƠNG 1 · GIỚI THIỆU ĐỀ TÀI</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Phạm vi nghiên cứu</a:t>
            </a:r>
            <a:endParaRPr lang="en-US" sz="3000" dirty="0"/>
          </a:p>
        </p:txBody>
      </p:sp>
      <p:sp>
        <p:nvSpPr>
          <p:cNvPr id="4" name="Shape 2"/>
          <p:cNvSpPr/>
          <p:nvPr/>
        </p:nvSpPr>
        <p:spPr>
          <a:xfrm>
            <a:off x="548640" y="1874520"/>
            <a:ext cx="3520440" cy="4160520"/>
          </a:xfrm>
          <a:prstGeom prst="roundRect">
            <a:avLst>
              <a:gd name="adj" fmla="val 2078"/>
            </a:avLst>
          </a:prstGeom>
          <a:solidFill>
            <a:srgbClr val="FFFFFF"/>
          </a:solidFill>
          <a:ln/>
          <a:effectLst>
            <a:outerShdw sx="100000" sy="100000" kx="0" ky="0" algn="bl" rotWithShape="0" blurRad="101600" dist="25400" dir="5400000">
              <a:srgbClr val="000000">
                <a:alpha val="8000"/>
              </a:srgbClr>
            </a:outerShdw>
          </a:effectLst>
        </p:spPr>
      </p:sp>
      <p:sp>
        <p:nvSpPr>
          <p:cNvPr id="5" name="Shape 3"/>
          <p:cNvSpPr/>
          <p:nvPr/>
        </p:nvSpPr>
        <p:spPr>
          <a:xfrm>
            <a:off x="868680" y="2240280"/>
            <a:ext cx="685800" cy="685800"/>
          </a:xfrm>
          <a:prstGeom prst="ellipse">
            <a:avLst/>
          </a:prstGeom>
          <a:solidFill>
            <a:srgbClr val="1B2A4A"/>
          </a:solidFill>
          <a:ln/>
        </p:spPr>
      </p:sp>
      <p:pic>
        <p:nvPicPr>
          <p:cNvPr id="6" name="Image 0" descr="preencoded.png">    </p:cNvPr>
          <p:cNvPicPr>
            <a:picLocks noChangeAspect="1"/>
          </p:cNvPicPr>
          <p:nvPr/>
        </p:nvPicPr>
        <p:blipFill>
          <a:blip r:embed="rId1"/>
          <a:stretch>
            <a:fillRect/>
          </a:stretch>
        </p:blipFill>
        <p:spPr>
          <a:xfrm>
            <a:off x="978408" y="2350008"/>
            <a:ext cx="466344" cy="466344"/>
          </a:xfrm>
          <a:prstGeom prst="rect">
            <a:avLst/>
          </a:prstGeom>
        </p:spPr>
      </p:pic>
      <p:sp>
        <p:nvSpPr>
          <p:cNvPr id="7" name="Text 4"/>
          <p:cNvSpPr/>
          <p:nvPr/>
        </p:nvSpPr>
        <p:spPr>
          <a:xfrm>
            <a:off x="868680" y="3108960"/>
            <a:ext cx="2880360" cy="457200"/>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Không gian</a:t>
            </a:r>
            <a:endParaRPr lang="en-US" sz="1650" dirty="0"/>
          </a:p>
        </p:txBody>
      </p:sp>
      <p:sp>
        <p:nvSpPr>
          <p:cNvPr id="8" name="Text 5"/>
          <p:cNvSpPr/>
          <p:nvPr/>
        </p:nvSpPr>
        <p:spPr>
          <a:xfrm>
            <a:off x="868680" y="3611880"/>
            <a:ext cx="2880360" cy="2194560"/>
          </a:xfrm>
          <a:prstGeom prst="rect">
            <a:avLst/>
          </a:prstGeom>
          <a:noFill/>
          <a:ln/>
        </p:spPr>
        <p:txBody>
          <a:bodyPr wrap="square" lIns="0" tIns="0" rIns="0" bIns="0" rtlCol="0" anchor="ctr"/>
          <a:lstStyle/>
          <a:p>
            <a:pPr indent="0" marL="0">
              <a:lnSpc>
                <a:spcPts val="1700"/>
              </a:lnSpc>
              <a:buNone/>
            </a:pPr>
            <a:r>
              <a:rPr lang="en-US" sz="1200" dirty="0">
                <a:solidFill>
                  <a:srgbClr val="5B6B85"/>
                </a:solidFill>
                <a:latin typeface="Calibri" pitchFamily="34" charset="0"/>
                <a:ea typeface="Calibri" pitchFamily="34" charset="-122"/>
                <a:cs typeface="Calibri" pitchFamily="34" charset="-120"/>
              </a:rPr>
              <a:t>Bóc tách sâu theo Quận/Huyện, tập trung phân tích chuyên sâu thị trường BĐS Thái Nguyên.</a:t>
            </a:r>
            <a:endParaRPr lang="en-US" sz="1200" dirty="0"/>
          </a:p>
        </p:txBody>
      </p:sp>
      <p:sp>
        <p:nvSpPr>
          <p:cNvPr id="9" name="Shape 6"/>
          <p:cNvSpPr/>
          <p:nvPr/>
        </p:nvSpPr>
        <p:spPr>
          <a:xfrm>
            <a:off x="4343400" y="1874520"/>
            <a:ext cx="3520440" cy="4160520"/>
          </a:xfrm>
          <a:prstGeom prst="roundRect">
            <a:avLst>
              <a:gd name="adj" fmla="val 2078"/>
            </a:avLst>
          </a:prstGeom>
          <a:solidFill>
            <a:srgbClr val="FFFFFF"/>
          </a:solidFill>
          <a:ln/>
          <a:effectLst>
            <a:outerShdw sx="100000" sy="100000" kx="0" ky="0" algn="bl" rotWithShape="0" blurRad="101600" dist="25400" dir="5400000">
              <a:srgbClr val="000000">
                <a:alpha val="8000"/>
              </a:srgbClr>
            </a:outerShdw>
          </a:effectLst>
        </p:spPr>
      </p:sp>
      <p:sp>
        <p:nvSpPr>
          <p:cNvPr id="10" name="Shape 7"/>
          <p:cNvSpPr/>
          <p:nvPr/>
        </p:nvSpPr>
        <p:spPr>
          <a:xfrm>
            <a:off x="4663440" y="2240280"/>
            <a:ext cx="685800" cy="685800"/>
          </a:xfrm>
          <a:prstGeom prst="ellipse">
            <a:avLst/>
          </a:prstGeom>
          <a:solidFill>
            <a:srgbClr val="1B2A4A"/>
          </a:solidFill>
          <a:ln/>
        </p:spPr>
      </p:sp>
      <p:pic>
        <p:nvPicPr>
          <p:cNvPr id="11" name="Image 1" descr="preencoded.png">    </p:cNvPr>
          <p:cNvPicPr>
            <a:picLocks noChangeAspect="1"/>
          </p:cNvPicPr>
          <p:nvPr/>
        </p:nvPicPr>
        <p:blipFill>
          <a:blip r:embed="rId2"/>
          <a:stretch>
            <a:fillRect/>
          </a:stretch>
        </p:blipFill>
        <p:spPr>
          <a:xfrm>
            <a:off x="4773168" y="2350008"/>
            <a:ext cx="466344" cy="466344"/>
          </a:xfrm>
          <a:prstGeom prst="rect">
            <a:avLst/>
          </a:prstGeom>
        </p:spPr>
      </p:pic>
      <p:sp>
        <p:nvSpPr>
          <p:cNvPr id="12" name="Text 8"/>
          <p:cNvSpPr/>
          <p:nvPr/>
        </p:nvSpPr>
        <p:spPr>
          <a:xfrm>
            <a:off x="4663440" y="3108960"/>
            <a:ext cx="2880360" cy="457200"/>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Nội dung dữ liệu</a:t>
            </a:r>
            <a:endParaRPr lang="en-US" sz="1650" dirty="0"/>
          </a:p>
        </p:txBody>
      </p:sp>
      <p:sp>
        <p:nvSpPr>
          <p:cNvPr id="13" name="Text 9"/>
          <p:cNvSpPr/>
          <p:nvPr/>
        </p:nvSpPr>
        <p:spPr>
          <a:xfrm>
            <a:off x="4663440" y="3611880"/>
            <a:ext cx="2880360" cy="2194560"/>
          </a:xfrm>
          <a:prstGeom prst="rect">
            <a:avLst/>
          </a:prstGeom>
          <a:noFill/>
          <a:ln/>
        </p:spPr>
        <p:txBody>
          <a:bodyPr wrap="square" lIns="0" tIns="0" rIns="0" bIns="0" rtlCol="0" anchor="ctr"/>
          <a:lstStyle/>
          <a:p>
            <a:pPr indent="0" marL="0">
              <a:lnSpc>
                <a:spcPts val="1700"/>
              </a:lnSpc>
              <a:buNone/>
            </a:pPr>
            <a:r>
              <a:rPr lang="en-US" sz="1200" dirty="0">
                <a:solidFill>
                  <a:srgbClr val="5B6B85"/>
                </a:solidFill>
                <a:latin typeface="Calibri" pitchFamily="34" charset="0"/>
                <a:ea typeface="Calibri" pitchFamily="34" charset="-122"/>
                <a:cs typeface="Calibri" pitchFamily="34" charset="-120"/>
              </a:rPr>
              <a:t>Vị trí, Diện tích, Số phòng ngủ, Số nhà vệ sinh, Hướng nhà và Giá bán.</a:t>
            </a:r>
            <a:endParaRPr lang="en-US" sz="1200" dirty="0"/>
          </a:p>
        </p:txBody>
      </p:sp>
      <p:sp>
        <p:nvSpPr>
          <p:cNvPr id="14" name="Shape 10"/>
          <p:cNvSpPr/>
          <p:nvPr/>
        </p:nvSpPr>
        <p:spPr>
          <a:xfrm>
            <a:off x="8138160" y="1874520"/>
            <a:ext cx="3520440" cy="4160520"/>
          </a:xfrm>
          <a:prstGeom prst="roundRect">
            <a:avLst>
              <a:gd name="adj" fmla="val 2078"/>
            </a:avLst>
          </a:prstGeom>
          <a:solidFill>
            <a:srgbClr val="FFFFFF"/>
          </a:solidFill>
          <a:ln/>
          <a:effectLst>
            <a:outerShdw sx="100000" sy="100000" kx="0" ky="0" algn="bl" rotWithShape="0" blurRad="101600" dist="25400" dir="5400000">
              <a:srgbClr val="000000">
                <a:alpha val="8000"/>
              </a:srgbClr>
            </a:outerShdw>
          </a:effectLst>
        </p:spPr>
      </p:sp>
      <p:sp>
        <p:nvSpPr>
          <p:cNvPr id="15" name="Shape 11"/>
          <p:cNvSpPr/>
          <p:nvPr/>
        </p:nvSpPr>
        <p:spPr>
          <a:xfrm>
            <a:off x="8458200" y="2240280"/>
            <a:ext cx="685800" cy="685800"/>
          </a:xfrm>
          <a:prstGeom prst="ellipse">
            <a:avLst/>
          </a:prstGeom>
          <a:solidFill>
            <a:srgbClr val="1B2A4A"/>
          </a:solidFill>
          <a:ln/>
        </p:spPr>
      </p:sp>
      <p:pic>
        <p:nvPicPr>
          <p:cNvPr id="16" name="Image 2" descr="preencoded.png">    </p:cNvPr>
          <p:cNvPicPr>
            <a:picLocks noChangeAspect="1"/>
          </p:cNvPicPr>
          <p:nvPr/>
        </p:nvPicPr>
        <p:blipFill>
          <a:blip r:embed="rId3"/>
          <a:stretch>
            <a:fillRect/>
          </a:stretch>
        </p:blipFill>
        <p:spPr>
          <a:xfrm>
            <a:off x="8567928" y="2350008"/>
            <a:ext cx="466344" cy="466344"/>
          </a:xfrm>
          <a:prstGeom prst="rect">
            <a:avLst/>
          </a:prstGeom>
        </p:spPr>
      </p:pic>
      <p:sp>
        <p:nvSpPr>
          <p:cNvPr id="17" name="Text 12"/>
          <p:cNvSpPr/>
          <p:nvPr/>
        </p:nvSpPr>
        <p:spPr>
          <a:xfrm>
            <a:off x="8458200" y="3108960"/>
            <a:ext cx="2880360" cy="457200"/>
          </a:xfrm>
          <a:prstGeom prst="rect">
            <a:avLst/>
          </a:prstGeom>
          <a:noFill/>
          <a:ln/>
        </p:spPr>
        <p:txBody>
          <a:bodyPr wrap="square" lIns="0" tIns="0" rIns="0" bIns="0" rtlCol="0" anchor="ctr"/>
          <a:lstStyle/>
          <a:p>
            <a:pPr indent="0" marL="0">
              <a:buNone/>
            </a:pPr>
            <a:r>
              <a:rPr lang="en-US" sz="1650" b="1" dirty="0">
                <a:solidFill>
                  <a:srgbClr val="1B2A4A"/>
                </a:solidFill>
                <a:latin typeface="Cambria" pitchFamily="34" charset="0"/>
                <a:ea typeface="Cambria" pitchFamily="34" charset="-122"/>
                <a:cs typeface="Cambria" pitchFamily="34" charset="-120"/>
              </a:rPr>
              <a:t>Công cụ &amp; công nghệ</a:t>
            </a:r>
            <a:endParaRPr lang="en-US" sz="1650" dirty="0"/>
          </a:p>
        </p:txBody>
      </p:sp>
      <p:sp>
        <p:nvSpPr>
          <p:cNvPr id="18" name="Text 13"/>
          <p:cNvSpPr/>
          <p:nvPr/>
        </p:nvSpPr>
        <p:spPr>
          <a:xfrm>
            <a:off x="8458200" y="3611880"/>
            <a:ext cx="2880360" cy="2194560"/>
          </a:xfrm>
          <a:prstGeom prst="rect">
            <a:avLst/>
          </a:prstGeom>
          <a:noFill/>
          <a:ln/>
        </p:spPr>
        <p:txBody>
          <a:bodyPr wrap="square" lIns="0" tIns="0" rIns="0" bIns="0" rtlCol="0" anchor="ctr"/>
          <a:lstStyle/>
          <a:p>
            <a:pPr indent="0" marL="0">
              <a:lnSpc>
                <a:spcPts val="1700"/>
              </a:lnSpc>
              <a:buNone/>
            </a:pPr>
            <a:r>
              <a:rPr lang="en-US" sz="1200" dirty="0">
                <a:solidFill>
                  <a:srgbClr val="5B6B85"/>
                </a:solidFill>
                <a:latin typeface="Calibri" pitchFamily="34" charset="0"/>
                <a:ea typeface="Calibri" pitchFamily="34" charset="-122"/>
                <a:cs typeface="Calibri" pitchFamily="34" charset="-120"/>
              </a:rPr>
              <a:t>Python, Pandas, NumPy, Matplotlib, Seaborn, Scikit-learn và XGBoost.</a:t>
            </a:r>
            <a:endParaRPr lang="en-US" sz="1200" dirty="0"/>
          </a:p>
        </p:txBody>
      </p:sp>
      <p:sp>
        <p:nvSpPr>
          <p:cNvPr id="19" name="Text 14"/>
          <p:cNvSpPr/>
          <p:nvPr/>
        </p:nvSpPr>
        <p:spPr>
          <a:xfrm>
            <a:off x="548640" y="6172200"/>
            <a:ext cx="10607040" cy="365760"/>
          </a:xfrm>
          <a:prstGeom prst="rect">
            <a:avLst/>
          </a:prstGeom>
          <a:noFill/>
          <a:ln/>
        </p:spPr>
        <p:txBody>
          <a:bodyPr wrap="square" lIns="0" tIns="0" rIns="0" bIns="0" rtlCol="0" anchor="ctr"/>
          <a:lstStyle/>
          <a:p>
            <a:pPr indent="0" marL="0">
              <a:buNone/>
            </a:pPr>
            <a:r>
              <a:rPr lang="en-US" sz="1100" i="1" dirty="0">
                <a:solidFill>
                  <a:srgbClr val="5B6B85"/>
                </a:solidFill>
                <a:latin typeface="Calibri" pitchFamily="34" charset="0"/>
                <a:ea typeface="Calibri" pitchFamily="34" charset="-122"/>
                <a:cs typeface="Calibri" pitchFamily="34" charset="-120"/>
              </a:rPr>
              <a:t>Các yếu tố ngoại vi (chính sách pháp lý, vĩ mô, phong thủy ngoài hướng nhà) nằm ngoài phạm vi phân tích.</a:t>
            </a:r>
            <a:endParaRPr lang="en-US" sz="1100" dirty="0"/>
          </a:p>
        </p:txBody>
      </p:sp>
      <p:sp>
        <p:nvSpPr>
          <p:cNvPr id="20"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E8A084"/>
                </a:solidFill>
                <a:latin typeface="Calibri" pitchFamily="34" charset="0"/>
                <a:ea typeface="Calibri" pitchFamily="34" charset="-122"/>
                <a:cs typeface="Calibri" pitchFamily="34" charset="-120"/>
              </a:rPr>
              <a:t>CHƯƠNG 1 · GIỚI THIỆU ĐỀ TÀI</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7 câu hỏi nghiên cứu cốt lõi</a:t>
            </a:r>
            <a:endParaRPr lang="en-US" sz="3000" dirty="0"/>
          </a:p>
        </p:txBody>
      </p:sp>
      <p:sp>
        <p:nvSpPr>
          <p:cNvPr id="4" name="Text 2"/>
          <p:cNvSpPr/>
          <p:nvPr/>
        </p:nvSpPr>
        <p:spPr>
          <a:xfrm>
            <a:off x="548640" y="1554480"/>
            <a:ext cx="5486400" cy="320040"/>
          </a:xfrm>
          <a:prstGeom prst="rect">
            <a:avLst/>
          </a:prstGeom>
          <a:noFill/>
          <a:ln/>
        </p:spPr>
        <p:txBody>
          <a:bodyPr wrap="square" lIns="0" tIns="0" rIns="0" bIns="0" rtlCol="0" anchor="ctr"/>
          <a:lstStyle/>
          <a:p>
            <a:pPr indent="0" marL="0">
              <a:buNone/>
            </a:pPr>
            <a:r>
              <a:rPr lang="en-US" sz="1150" b="1" spc="150" kern="0" dirty="0">
                <a:solidFill>
                  <a:srgbClr val="C0654A"/>
                </a:solidFill>
                <a:latin typeface="Calibri" pitchFamily="34" charset="0"/>
                <a:ea typeface="Calibri" pitchFamily="34" charset="-122"/>
                <a:cs typeface="Calibri" pitchFamily="34" charset="-120"/>
              </a:rPr>
              <a:t>KHỐI EDA — PHÂN TÍCH KHÁM PHÁ DỮ LIỆU</a:t>
            </a:r>
            <a:endParaRPr lang="en-US" sz="1150" dirty="0"/>
          </a:p>
        </p:txBody>
      </p:sp>
      <p:sp>
        <p:nvSpPr>
          <p:cNvPr id="5" name="Shape 3"/>
          <p:cNvSpPr/>
          <p:nvPr/>
        </p:nvSpPr>
        <p:spPr>
          <a:xfrm>
            <a:off x="548640" y="1965960"/>
            <a:ext cx="384048" cy="384048"/>
          </a:xfrm>
          <a:prstGeom prst="ellipse">
            <a:avLst/>
          </a:prstGeom>
          <a:solidFill>
            <a:srgbClr val="121D33"/>
          </a:solidFill>
          <a:ln/>
        </p:spPr>
      </p:sp>
      <p:pic>
        <p:nvPicPr>
          <p:cNvPr id="6" name="Image 0" descr="preencoded.png">    </p:cNvPr>
          <p:cNvPicPr>
            <a:picLocks noChangeAspect="1"/>
          </p:cNvPicPr>
          <p:nvPr/>
        </p:nvPicPr>
        <p:blipFill>
          <a:blip r:embed="rId1"/>
          <a:stretch>
            <a:fillRect/>
          </a:stretch>
        </p:blipFill>
        <p:spPr>
          <a:xfrm>
            <a:off x="606247" y="2023567"/>
            <a:ext cx="268834" cy="268834"/>
          </a:xfrm>
          <a:prstGeom prst="rect">
            <a:avLst/>
          </a:prstGeom>
        </p:spPr>
      </p:pic>
      <p:sp>
        <p:nvSpPr>
          <p:cNvPr id="7" name="Text 4"/>
          <p:cNvSpPr/>
          <p:nvPr/>
        </p:nvSpPr>
        <p:spPr>
          <a:xfrm>
            <a:off x="1051560" y="1947672"/>
            <a:ext cx="1188720" cy="411480"/>
          </a:xfrm>
          <a:prstGeom prst="rect">
            <a:avLst/>
          </a:prstGeom>
          <a:noFill/>
          <a:ln/>
        </p:spPr>
        <p:txBody>
          <a:bodyPr wrap="square" lIns="0" tIns="0" rIns="0" bIns="0" rtlCol="0" anchor="ctr"/>
          <a:lstStyle/>
          <a:p>
            <a:pPr indent="0" marL="0">
              <a:buNone/>
            </a:pPr>
            <a:r>
              <a:rPr lang="en-US" sz="1050" b="1" dirty="0">
                <a:solidFill>
                  <a:srgbClr val="8A93A8"/>
                </a:solidFill>
                <a:latin typeface="Calibri" pitchFamily="34" charset="0"/>
                <a:ea typeface="Calibri" pitchFamily="34" charset="-122"/>
                <a:cs typeface="Calibri" pitchFamily="34" charset="-120"/>
              </a:rPr>
              <a:t>Câu hỏi 1</a:t>
            </a:r>
            <a:endParaRPr lang="en-US" sz="1050" dirty="0"/>
          </a:p>
        </p:txBody>
      </p:sp>
      <p:sp>
        <p:nvSpPr>
          <p:cNvPr id="8" name="Text 5"/>
          <p:cNvSpPr/>
          <p:nvPr/>
        </p:nvSpPr>
        <p:spPr>
          <a:xfrm>
            <a:off x="1051560" y="2112264"/>
            <a:ext cx="5120640" cy="365760"/>
          </a:xfrm>
          <a:prstGeom prst="rect">
            <a:avLst/>
          </a:prstGeom>
          <a:noFill/>
          <a:ln/>
        </p:spPr>
        <p:txBody>
          <a:bodyPr wrap="square" lIns="0" tIns="0" rIns="0" bIns="0" rtlCol="0" anchor="ctr"/>
          <a:lstStyle/>
          <a:p>
            <a:pPr indent="0" marL="0">
              <a:buNone/>
            </a:pPr>
            <a:r>
              <a:rPr lang="en-US" sz="1200" dirty="0">
                <a:solidFill>
                  <a:srgbClr val="E8ECF7"/>
                </a:solidFill>
                <a:latin typeface="Calibri" pitchFamily="34" charset="0"/>
                <a:ea typeface="Calibri" pitchFamily="34" charset="-122"/>
                <a:cs typeface="Calibri" pitchFamily="34" charset="-120"/>
              </a:rPr>
              <a:t>Mật độ phân bố giá biến động ra sao theo Quận/Huyện?</a:t>
            </a:r>
            <a:endParaRPr lang="en-US" sz="1200" dirty="0"/>
          </a:p>
        </p:txBody>
      </p:sp>
      <p:sp>
        <p:nvSpPr>
          <p:cNvPr id="9" name="Shape 6"/>
          <p:cNvSpPr/>
          <p:nvPr/>
        </p:nvSpPr>
        <p:spPr>
          <a:xfrm>
            <a:off x="548640" y="2532888"/>
            <a:ext cx="384048" cy="384048"/>
          </a:xfrm>
          <a:prstGeom prst="ellipse">
            <a:avLst/>
          </a:prstGeom>
          <a:solidFill>
            <a:srgbClr val="121D33"/>
          </a:solidFill>
          <a:ln/>
        </p:spPr>
      </p:sp>
      <p:pic>
        <p:nvPicPr>
          <p:cNvPr id="10" name="Image 1" descr="preencoded.png">    </p:cNvPr>
          <p:cNvPicPr>
            <a:picLocks noChangeAspect="1"/>
          </p:cNvPicPr>
          <p:nvPr/>
        </p:nvPicPr>
        <p:blipFill>
          <a:blip r:embed="rId2"/>
          <a:stretch>
            <a:fillRect/>
          </a:stretch>
        </p:blipFill>
        <p:spPr>
          <a:xfrm>
            <a:off x="606247" y="2590495"/>
            <a:ext cx="268834" cy="268834"/>
          </a:xfrm>
          <a:prstGeom prst="rect">
            <a:avLst/>
          </a:prstGeom>
        </p:spPr>
      </p:pic>
      <p:sp>
        <p:nvSpPr>
          <p:cNvPr id="11" name="Text 7"/>
          <p:cNvSpPr/>
          <p:nvPr/>
        </p:nvSpPr>
        <p:spPr>
          <a:xfrm>
            <a:off x="1051560" y="2514600"/>
            <a:ext cx="1188720" cy="411480"/>
          </a:xfrm>
          <a:prstGeom prst="rect">
            <a:avLst/>
          </a:prstGeom>
          <a:noFill/>
          <a:ln/>
        </p:spPr>
        <p:txBody>
          <a:bodyPr wrap="square" lIns="0" tIns="0" rIns="0" bIns="0" rtlCol="0" anchor="ctr"/>
          <a:lstStyle/>
          <a:p>
            <a:pPr indent="0" marL="0">
              <a:buNone/>
            </a:pPr>
            <a:r>
              <a:rPr lang="en-US" sz="1050" b="1" dirty="0">
                <a:solidFill>
                  <a:srgbClr val="8A93A8"/>
                </a:solidFill>
                <a:latin typeface="Calibri" pitchFamily="34" charset="0"/>
                <a:ea typeface="Calibri" pitchFamily="34" charset="-122"/>
                <a:cs typeface="Calibri" pitchFamily="34" charset="-120"/>
              </a:rPr>
              <a:t>Câu hỏi 2</a:t>
            </a:r>
            <a:endParaRPr lang="en-US" sz="1050" dirty="0"/>
          </a:p>
        </p:txBody>
      </p:sp>
      <p:sp>
        <p:nvSpPr>
          <p:cNvPr id="12" name="Text 8"/>
          <p:cNvSpPr/>
          <p:nvPr/>
        </p:nvSpPr>
        <p:spPr>
          <a:xfrm>
            <a:off x="1051560" y="2679192"/>
            <a:ext cx="5120640" cy="365760"/>
          </a:xfrm>
          <a:prstGeom prst="rect">
            <a:avLst/>
          </a:prstGeom>
          <a:noFill/>
          <a:ln/>
        </p:spPr>
        <p:txBody>
          <a:bodyPr wrap="square" lIns="0" tIns="0" rIns="0" bIns="0" rtlCol="0" anchor="ctr"/>
          <a:lstStyle/>
          <a:p>
            <a:pPr indent="0" marL="0">
              <a:buNone/>
            </a:pPr>
            <a:r>
              <a:rPr lang="en-US" sz="1200" dirty="0">
                <a:solidFill>
                  <a:srgbClr val="E8ECF7"/>
                </a:solidFill>
                <a:latin typeface="Calibri" pitchFamily="34" charset="0"/>
                <a:ea typeface="Calibri" pitchFamily="34" charset="-122"/>
                <a:cs typeface="Calibri" pitchFamily="34" charset="-120"/>
              </a:rPr>
              <a:t>Diện tích hay số phòng ngủ tương quan mạnh hơn với giá?</a:t>
            </a:r>
            <a:endParaRPr lang="en-US" sz="1200" dirty="0"/>
          </a:p>
        </p:txBody>
      </p:sp>
      <p:sp>
        <p:nvSpPr>
          <p:cNvPr id="13" name="Shape 9"/>
          <p:cNvSpPr/>
          <p:nvPr/>
        </p:nvSpPr>
        <p:spPr>
          <a:xfrm>
            <a:off x="548640" y="3099816"/>
            <a:ext cx="384048" cy="384048"/>
          </a:xfrm>
          <a:prstGeom prst="ellipse">
            <a:avLst/>
          </a:prstGeom>
          <a:solidFill>
            <a:srgbClr val="121D33"/>
          </a:solidFill>
          <a:ln/>
        </p:spPr>
      </p:sp>
      <p:pic>
        <p:nvPicPr>
          <p:cNvPr id="14" name="Image 2" descr="preencoded.png">    </p:cNvPr>
          <p:cNvPicPr>
            <a:picLocks noChangeAspect="1"/>
          </p:cNvPicPr>
          <p:nvPr/>
        </p:nvPicPr>
        <p:blipFill>
          <a:blip r:embed="rId3"/>
          <a:stretch>
            <a:fillRect/>
          </a:stretch>
        </p:blipFill>
        <p:spPr>
          <a:xfrm>
            <a:off x="606247" y="3157423"/>
            <a:ext cx="268834" cy="268834"/>
          </a:xfrm>
          <a:prstGeom prst="rect">
            <a:avLst/>
          </a:prstGeom>
        </p:spPr>
      </p:pic>
      <p:sp>
        <p:nvSpPr>
          <p:cNvPr id="15" name="Text 10"/>
          <p:cNvSpPr/>
          <p:nvPr/>
        </p:nvSpPr>
        <p:spPr>
          <a:xfrm>
            <a:off x="1051560" y="3081528"/>
            <a:ext cx="1188720" cy="411480"/>
          </a:xfrm>
          <a:prstGeom prst="rect">
            <a:avLst/>
          </a:prstGeom>
          <a:noFill/>
          <a:ln/>
        </p:spPr>
        <p:txBody>
          <a:bodyPr wrap="square" lIns="0" tIns="0" rIns="0" bIns="0" rtlCol="0" anchor="ctr"/>
          <a:lstStyle/>
          <a:p>
            <a:pPr indent="0" marL="0">
              <a:buNone/>
            </a:pPr>
            <a:r>
              <a:rPr lang="en-US" sz="1050" b="1" dirty="0">
                <a:solidFill>
                  <a:srgbClr val="8A93A8"/>
                </a:solidFill>
                <a:latin typeface="Calibri" pitchFamily="34" charset="0"/>
                <a:ea typeface="Calibri" pitchFamily="34" charset="-122"/>
                <a:cs typeface="Calibri" pitchFamily="34" charset="-120"/>
              </a:rPr>
              <a:t>Câu hỏi 3</a:t>
            </a:r>
            <a:endParaRPr lang="en-US" sz="1050" dirty="0"/>
          </a:p>
        </p:txBody>
      </p:sp>
      <p:sp>
        <p:nvSpPr>
          <p:cNvPr id="16" name="Text 11"/>
          <p:cNvSpPr/>
          <p:nvPr/>
        </p:nvSpPr>
        <p:spPr>
          <a:xfrm>
            <a:off x="1051560" y="3246120"/>
            <a:ext cx="5120640" cy="365760"/>
          </a:xfrm>
          <a:prstGeom prst="rect">
            <a:avLst/>
          </a:prstGeom>
          <a:noFill/>
          <a:ln/>
        </p:spPr>
        <p:txBody>
          <a:bodyPr wrap="square" lIns="0" tIns="0" rIns="0" bIns="0" rtlCol="0" anchor="ctr"/>
          <a:lstStyle/>
          <a:p>
            <a:pPr indent="0" marL="0">
              <a:buNone/>
            </a:pPr>
            <a:r>
              <a:rPr lang="en-US" sz="1200" dirty="0">
                <a:solidFill>
                  <a:srgbClr val="E8ECF7"/>
                </a:solidFill>
                <a:latin typeface="Calibri" pitchFamily="34" charset="0"/>
                <a:ea typeface="Calibri" pitchFamily="34" charset="-122"/>
                <a:cs typeface="Calibri" pitchFamily="34" charset="-120"/>
              </a:rPr>
              <a:t>Loại hình BĐS nào chiếm tỷ trọng lớn nhất?</a:t>
            </a:r>
            <a:endParaRPr lang="en-US" sz="1200" dirty="0"/>
          </a:p>
        </p:txBody>
      </p:sp>
      <p:sp>
        <p:nvSpPr>
          <p:cNvPr id="17" name="Shape 12"/>
          <p:cNvSpPr/>
          <p:nvPr/>
        </p:nvSpPr>
        <p:spPr>
          <a:xfrm>
            <a:off x="548640" y="3666744"/>
            <a:ext cx="384048" cy="384048"/>
          </a:xfrm>
          <a:prstGeom prst="ellipse">
            <a:avLst/>
          </a:prstGeom>
          <a:solidFill>
            <a:srgbClr val="121D33"/>
          </a:solidFill>
          <a:ln/>
        </p:spPr>
      </p:sp>
      <p:pic>
        <p:nvPicPr>
          <p:cNvPr id="18" name="Image 3" descr="preencoded.png">    </p:cNvPr>
          <p:cNvPicPr>
            <a:picLocks noChangeAspect="1"/>
          </p:cNvPicPr>
          <p:nvPr/>
        </p:nvPicPr>
        <p:blipFill>
          <a:blip r:embed="rId4"/>
          <a:stretch>
            <a:fillRect/>
          </a:stretch>
        </p:blipFill>
        <p:spPr>
          <a:xfrm>
            <a:off x="606247" y="3724351"/>
            <a:ext cx="268834" cy="268834"/>
          </a:xfrm>
          <a:prstGeom prst="rect">
            <a:avLst/>
          </a:prstGeom>
        </p:spPr>
      </p:pic>
      <p:sp>
        <p:nvSpPr>
          <p:cNvPr id="19" name="Text 13"/>
          <p:cNvSpPr/>
          <p:nvPr/>
        </p:nvSpPr>
        <p:spPr>
          <a:xfrm>
            <a:off x="1051560" y="3648456"/>
            <a:ext cx="1188720" cy="411480"/>
          </a:xfrm>
          <a:prstGeom prst="rect">
            <a:avLst/>
          </a:prstGeom>
          <a:noFill/>
          <a:ln/>
        </p:spPr>
        <p:txBody>
          <a:bodyPr wrap="square" lIns="0" tIns="0" rIns="0" bIns="0" rtlCol="0" anchor="ctr"/>
          <a:lstStyle/>
          <a:p>
            <a:pPr indent="0" marL="0">
              <a:buNone/>
            </a:pPr>
            <a:r>
              <a:rPr lang="en-US" sz="1050" b="1" dirty="0">
                <a:solidFill>
                  <a:srgbClr val="8A93A8"/>
                </a:solidFill>
                <a:latin typeface="Calibri" pitchFamily="34" charset="0"/>
                <a:ea typeface="Calibri" pitchFamily="34" charset="-122"/>
                <a:cs typeface="Calibri" pitchFamily="34" charset="-120"/>
              </a:rPr>
              <a:t>Câu hỏi 4</a:t>
            </a:r>
            <a:endParaRPr lang="en-US" sz="1050" dirty="0"/>
          </a:p>
        </p:txBody>
      </p:sp>
      <p:sp>
        <p:nvSpPr>
          <p:cNvPr id="20" name="Text 14"/>
          <p:cNvSpPr/>
          <p:nvPr/>
        </p:nvSpPr>
        <p:spPr>
          <a:xfrm>
            <a:off x="1051560" y="3813048"/>
            <a:ext cx="5120640" cy="365760"/>
          </a:xfrm>
          <a:prstGeom prst="rect">
            <a:avLst/>
          </a:prstGeom>
          <a:noFill/>
          <a:ln/>
        </p:spPr>
        <p:txBody>
          <a:bodyPr wrap="square" lIns="0" tIns="0" rIns="0" bIns="0" rtlCol="0" anchor="ctr"/>
          <a:lstStyle/>
          <a:p>
            <a:pPr indent="0" marL="0">
              <a:buNone/>
            </a:pPr>
            <a:r>
              <a:rPr lang="en-US" sz="1200" dirty="0">
                <a:solidFill>
                  <a:srgbClr val="E8ECF7"/>
                </a:solidFill>
                <a:latin typeface="Calibri" pitchFamily="34" charset="0"/>
                <a:ea typeface="Calibri" pitchFamily="34" charset="-122"/>
                <a:cs typeface="Calibri" pitchFamily="34" charset="-120"/>
              </a:rPr>
              <a:t>Hướng nhà có ảnh hưởng đến giá / lượt tương tác?</a:t>
            </a:r>
            <a:endParaRPr lang="en-US" sz="1200" dirty="0"/>
          </a:p>
        </p:txBody>
      </p:sp>
      <p:sp>
        <p:nvSpPr>
          <p:cNvPr id="21" name="Shape 15"/>
          <p:cNvSpPr/>
          <p:nvPr/>
        </p:nvSpPr>
        <p:spPr>
          <a:xfrm>
            <a:off x="548640" y="4233672"/>
            <a:ext cx="384048" cy="384048"/>
          </a:xfrm>
          <a:prstGeom prst="ellipse">
            <a:avLst/>
          </a:prstGeom>
          <a:solidFill>
            <a:srgbClr val="121D33"/>
          </a:solidFill>
          <a:ln/>
        </p:spPr>
      </p:sp>
      <p:pic>
        <p:nvPicPr>
          <p:cNvPr id="22" name="Image 4" descr="preencoded.png">    </p:cNvPr>
          <p:cNvPicPr>
            <a:picLocks noChangeAspect="1"/>
          </p:cNvPicPr>
          <p:nvPr/>
        </p:nvPicPr>
        <p:blipFill>
          <a:blip r:embed="rId5"/>
          <a:stretch>
            <a:fillRect/>
          </a:stretch>
        </p:blipFill>
        <p:spPr>
          <a:xfrm>
            <a:off x="606247" y="4291279"/>
            <a:ext cx="268834" cy="268834"/>
          </a:xfrm>
          <a:prstGeom prst="rect">
            <a:avLst/>
          </a:prstGeom>
        </p:spPr>
      </p:pic>
      <p:sp>
        <p:nvSpPr>
          <p:cNvPr id="23" name="Text 16"/>
          <p:cNvSpPr/>
          <p:nvPr/>
        </p:nvSpPr>
        <p:spPr>
          <a:xfrm>
            <a:off x="1051560" y="4215384"/>
            <a:ext cx="1188720" cy="411480"/>
          </a:xfrm>
          <a:prstGeom prst="rect">
            <a:avLst/>
          </a:prstGeom>
          <a:noFill/>
          <a:ln/>
        </p:spPr>
        <p:txBody>
          <a:bodyPr wrap="square" lIns="0" tIns="0" rIns="0" bIns="0" rtlCol="0" anchor="ctr"/>
          <a:lstStyle/>
          <a:p>
            <a:pPr indent="0" marL="0">
              <a:buNone/>
            </a:pPr>
            <a:r>
              <a:rPr lang="en-US" sz="1050" b="1" dirty="0">
                <a:solidFill>
                  <a:srgbClr val="8A93A8"/>
                </a:solidFill>
                <a:latin typeface="Calibri" pitchFamily="34" charset="0"/>
                <a:ea typeface="Calibri" pitchFamily="34" charset="-122"/>
                <a:cs typeface="Calibri" pitchFamily="34" charset="-120"/>
              </a:rPr>
              <a:t>Câu hỏi 5</a:t>
            </a:r>
            <a:endParaRPr lang="en-US" sz="1050" dirty="0"/>
          </a:p>
        </p:txBody>
      </p:sp>
      <p:sp>
        <p:nvSpPr>
          <p:cNvPr id="24" name="Text 17"/>
          <p:cNvSpPr/>
          <p:nvPr/>
        </p:nvSpPr>
        <p:spPr>
          <a:xfrm>
            <a:off x="1051560" y="4379976"/>
            <a:ext cx="5120640" cy="365760"/>
          </a:xfrm>
          <a:prstGeom prst="rect">
            <a:avLst/>
          </a:prstGeom>
          <a:noFill/>
          <a:ln/>
        </p:spPr>
        <p:txBody>
          <a:bodyPr wrap="square" lIns="0" tIns="0" rIns="0" bIns="0" rtlCol="0" anchor="ctr"/>
          <a:lstStyle/>
          <a:p>
            <a:pPr indent="0" marL="0">
              <a:buNone/>
            </a:pPr>
            <a:r>
              <a:rPr lang="en-US" sz="1200" dirty="0">
                <a:solidFill>
                  <a:srgbClr val="E8ECF7"/>
                </a:solidFill>
                <a:latin typeface="Calibri" pitchFamily="34" charset="0"/>
                <a:ea typeface="Calibri" pitchFamily="34" charset="-122"/>
                <a:cs typeface="Calibri" pitchFamily="34" charset="-120"/>
              </a:rPr>
              <a:t>Outliers tập trung ở phân khúc nào?</a:t>
            </a:r>
            <a:endParaRPr lang="en-US" sz="1200" dirty="0"/>
          </a:p>
        </p:txBody>
      </p:sp>
      <p:sp>
        <p:nvSpPr>
          <p:cNvPr id="25" name="Text 18"/>
          <p:cNvSpPr/>
          <p:nvPr/>
        </p:nvSpPr>
        <p:spPr>
          <a:xfrm>
            <a:off x="6492240" y="1554480"/>
            <a:ext cx="5486400" cy="320040"/>
          </a:xfrm>
          <a:prstGeom prst="rect">
            <a:avLst/>
          </a:prstGeom>
          <a:noFill/>
          <a:ln/>
        </p:spPr>
        <p:txBody>
          <a:bodyPr wrap="square" lIns="0" tIns="0" rIns="0" bIns="0" rtlCol="0" anchor="ctr"/>
          <a:lstStyle/>
          <a:p>
            <a:pPr indent="0" marL="0">
              <a:buNone/>
            </a:pPr>
            <a:r>
              <a:rPr lang="en-US" sz="1150" b="1" spc="150" kern="0" dirty="0">
                <a:solidFill>
                  <a:srgbClr val="C0654A"/>
                </a:solidFill>
                <a:latin typeface="Calibri" pitchFamily="34" charset="0"/>
                <a:ea typeface="Calibri" pitchFamily="34" charset="-122"/>
                <a:cs typeface="Calibri" pitchFamily="34" charset="-120"/>
              </a:rPr>
              <a:t>KHỐI ML — DỰ ĐOÁN GIÁ TRỊ</a:t>
            </a:r>
            <a:endParaRPr lang="en-US" sz="1150" dirty="0"/>
          </a:p>
        </p:txBody>
      </p:sp>
      <p:sp>
        <p:nvSpPr>
          <p:cNvPr id="26" name="Shape 19"/>
          <p:cNvSpPr/>
          <p:nvPr/>
        </p:nvSpPr>
        <p:spPr>
          <a:xfrm>
            <a:off x="6492240" y="1965960"/>
            <a:ext cx="5166360" cy="1280160"/>
          </a:xfrm>
          <a:prstGeom prst="roundRect">
            <a:avLst>
              <a:gd name="adj" fmla="val 5714"/>
            </a:avLst>
          </a:prstGeom>
          <a:solidFill>
            <a:srgbClr val="121D33"/>
          </a:solidFill>
          <a:ln/>
        </p:spPr>
      </p:sp>
      <p:sp>
        <p:nvSpPr>
          <p:cNvPr id="27" name="Text 20"/>
          <p:cNvSpPr/>
          <p:nvPr/>
        </p:nvSpPr>
        <p:spPr>
          <a:xfrm>
            <a:off x="6766560" y="2130552"/>
            <a:ext cx="2743200" cy="320040"/>
          </a:xfrm>
          <a:prstGeom prst="rect">
            <a:avLst/>
          </a:prstGeom>
          <a:noFill/>
          <a:ln/>
        </p:spPr>
        <p:txBody>
          <a:bodyPr wrap="square" lIns="0" tIns="0" rIns="0" bIns="0" rtlCol="0" anchor="ctr"/>
          <a:lstStyle/>
          <a:p>
            <a:pPr indent="0" marL="0">
              <a:buNone/>
            </a:pPr>
            <a:r>
              <a:rPr lang="en-US" sz="1150" b="1" dirty="0">
                <a:solidFill>
                  <a:srgbClr val="C0654A"/>
                </a:solidFill>
                <a:latin typeface="Calibri" pitchFamily="34" charset="0"/>
                <a:ea typeface="Calibri" pitchFamily="34" charset="-122"/>
                <a:cs typeface="Calibri" pitchFamily="34" charset="-120"/>
              </a:rPr>
              <a:t>Câu hỏi 6</a:t>
            </a:r>
            <a:endParaRPr lang="en-US" sz="1150" dirty="0"/>
          </a:p>
        </p:txBody>
      </p:sp>
      <p:sp>
        <p:nvSpPr>
          <p:cNvPr id="28" name="Text 21"/>
          <p:cNvSpPr/>
          <p:nvPr/>
        </p:nvSpPr>
        <p:spPr>
          <a:xfrm>
            <a:off x="6766560" y="2423160"/>
            <a:ext cx="4617720" cy="73152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Mô hình ML dự đoán giá với sai số RMSE là bao nhiêu?</a:t>
            </a:r>
            <a:endParaRPr lang="en-US" sz="1300" dirty="0"/>
          </a:p>
        </p:txBody>
      </p:sp>
      <p:sp>
        <p:nvSpPr>
          <p:cNvPr id="29" name="Shape 22"/>
          <p:cNvSpPr/>
          <p:nvPr/>
        </p:nvSpPr>
        <p:spPr>
          <a:xfrm>
            <a:off x="6492240" y="3474720"/>
            <a:ext cx="5166360" cy="1280160"/>
          </a:xfrm>
          <a:prstGeom prst="roundRect">
            <a:avLst>
              <a:gd name="adj" fmla="val 5714"/>
            </a:avLst>
          </a:prstGeom>
          <a:solidFill>
            <a:srgbClr val="121D33"/>
          </a:solidFill>
          <a:ln/>
        </p:spPr>
      </p:sp>
      <p:sp>
        <p:nvSpPr>
          <p:cNvPr id="30" name="Text 23"/>
          <p:cNvSpPr/>
          <p:nvPr/>
        </p:nvSpPr>
        <p:spPr>
          <a:xfrm>
            <a:off x="6766560" y="3639312"/>
            <a:ext cx="2743200" cy="320040"/>
          </a:xfrm>
          <a:prstGeom prst="rect">
            <a:avLst/>
          </a:prstGeom>
          <a:noFill/>
          <a:ln/>
        </p:spPr>
        <p:txBody>
          <a:bodyPr wrap="square" lIns="0" tIns="0" rIns="0" bIns="0" rtlCol="0" anchor="ctr"/>
          <a:lstStyle/>
          <a:p>
            <a:pPr indent="0" marL="0">
              <a:buNone/>
            </a:pPr>
            <a:r>
              <a:rPr lang="en-US" sz="1150" b="1" dirty="0">
                <a:solidFill>
                  <a:srgbClr val="C0654A"/>
                </a:solidFill>
                <a:latin typeface="Calibri" pitchFamily="34" charset="0"/>
                <a:ea typeface="Calibri" pitchFamily="34" charset="-122"/>
                <a:cs typeface="Calibri" pitchFamily="34" charset="-120"/>
              </a:rPr>
              <a:t>Câu hỏi 7</a:t>
            </a:r>
            <a:endParaRPr lang="en-US" sz="1150" dirty="0"/>
          </a:p>
        </p:txBody>
      </p:sp>
      <p:sp>
        <p:nvSpPr>
          <p:cNvPr id="31" name="Text 24"/>
          <p:cNvSpPr/>
          <p:nvPr/>
        </p:nvSpPr>
        <p:spPr>
          <a:xfrm>
            <a:off x="6766560" y="3931920"/>
            <a:ext cx="4617720" cy="73152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Thuật toán nào (Linear / Random Forest / XGBoost) cho R² cao nhất?</a:t>
            </a:r>
            <a:endParaRPr lang="en-US" sz="1300" dirty="0"/>
          </a:p>
        </p:txBody>
      </p:sp>
      <p:sp>
        <p:nvSpPr>
          <p:cNvPr id="32" name="Text 25"/>
          <p:cNvSpPr/>
          <p:nvPr/>
        </p:nvSpPr>
        <p:spPr>
          <a:xfrm>
            <a:off x="548640" y="6400800"/>
            <a:ext cx="5486400" cy="274320"/>
          </a:xfrm>
          <a:prstGeom prst="rect">
            <a:avLst/>
          </a:prstGeom>
          <a:noFill/>
          <a:ln/>
        </p:spPr>
        <p:txBody>
          <a:bodyPr wrap="square" lIns="0" tIns="0" rIns="0" bIns="0" rtlCol="0" anchor="ctr"/>
          <a:lstStyle/>
          <a:p>
            <a:pPr indent="0" marL="0">
              <a:buNone/>
            </a:pPr>
            <a:r>
              <a:rPr lang="en-US" sz="900" spc="100" kern="0" dirty="0">
                <a:solidFill>
                  <a:srgbClr val="8A93A8"/>
                </a:solidFill>
                <a:latin typeface="Calibri" pitchFamily="34" charset="0"/>
                <a:ea typeface="Calibri" pitchFamily="34" charset="-122"/>
                <a:cs typeface="Calibri" pitchFamily="34" charset="-120"/>
              </a:rPr>
              <a:t>PHÂN TÍCH &amp; DỰ ĐOÁN BĐS VIỆT NAM</a:t>
            </a:r>
            <a:endParaRPr lang="en-US" sz="900" dirty="0"/>
          </a:p>
        </p:txBody>
      </p:sp>
      <p:sp>
        <p:nvSpPr>
          <p:cNvPr id="33" name="Text 2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CHƯƠNG 1 · GIỚI THIỆU ĐỀ TÀI</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Phương pháp nghiên cứu</a:t>
            </a:r>
            <a:endParaRPr lang="en-US" sz="3000" dirty="0"/>
          </a:p>
        </p:txBody>
      </p:sp>
      <p:sp>
        <p:nvSpPr>
          <p:cNvPr id="4" name="Shape 2"/>
          <p:cNvSpPr/>
          <p:nvPr/>
        </p:nvSpPr>
        <p:spPr>
          <a:xfrm>
            <a:off x="548640" y="1737360"/>
            <a:ext cx="3520440" cy="1874520"/>
          </a:xfrm>
          <a:prstGeom prst="roundRect">
            <a:avLst>
              <a:gd name="adj" fmla="val 3415"/>
            </a:avLst>
          </a:prstGeom>
          <a:solidFill>
            <a:srgbClr val="FFFFFF"/>
          </a:solidFill>
          <a:ln/>
          <a:effectLst>
            <a:outerShdw sx="100000" sy="100000" kx="0" ky="0" algn="bl" rotWithShape="0" blurRad="88900" dist="25400" dir="5400000">
              <a:srgbClr val="000000">
                <a:alpha val="8000"/>
              </a:srgbClr>
            </a:outerShdw>
          </a:effectLst>
        </p:spPr>
      </p:sp>
      <p:sp>
        <p:nvSpPr>
          <p:cNvPr id="5" name="Text 3"/>
          <p:cNvSpPr/>
          <p:nvPr/>
        </p:nvSpPr>
        <p:spPr>
          <a:xfrm>
            <a:off x="749808" y="1874520"/>
            <a:ext cx="914400" cy="365760"/>
          </a:xfrm>
          <a:prstGeom prst="rect">
            <a:avLst/>
          </a:prstGeom>
          <a:noFill/>
          <a:ln/>
        </p:spPr>
        <p:txBody>
          <a:bodyPr wrap="square" lIns="0" tIns="0" rIns="0" bIns="0" rtlCol="0" anchor="ctr"/>
          <a:lstStyle/>
          <a:p>
            <a:pPr indent="0" marL="0">
              <a:buNone/>
            </a:pPr>
            <a:r>
              <a:rPr lang="en-US" sz="1600" b="1" dirty="0">
                <a:solidFill>
                  <a:srgbClr val="C0654A"/>
                </a:solidFill>
                <a:latin typeface="Cambria" pitchFamily="34" charset="0"/>
                <a:ea typeface="Cambria" pitchFamily="34" charset="-122"/>
                <a:cs typeface="Cambria" pitchFamily="34" charset="-120"/>
              </a:rPr>
              <a:t>01</a:t>
            </a:r>
            <a:endParaRPr lang="en-US" sz="1600" dirty="0"/>
          </a:p>
        </p:txBody>
      </p:sp>
      <p:sp>
        <p:nvSpPr>
          <p:cNvPr id="6" name="Text 4"/>
          <p:cNvSpPr/>
          <p:nvPr/>
        </p:nvSpPr>
        <p:spPr>
          <a:xfrm>
            <a:off x="749808" y="2240280"/>
            <a:ext cx="3108960" cy="411480"/>
          </a:xfrm>
          <a:prstGeom prst="rect">
            <a:avLst/>
          </a:prstGeom>
          <a:noFill/>
          <a:ln/>
        </p:spPr>
        <p:txBody>
          <a:bodyPr wrap="square" lIns="0" tIns="0" rIns="0" bIns="0" rtlCol="0" anchor="ctr"/>
          <a:lstStyle/>
          <a:p>
            <a:pPr indent="0" marL="0">
              <a:buNone/>
            </a:pPr>
            <a:r>
              <a:rPr lang="en-US" sz="1350" b="1" dirty="0">
                <a:solidFill>
                  <a:srgbClr val="1B2A4A"/>
                </a:solidFill>
                <a:latin typeface="Cambria" pitchFamily="34" charset="0"/>
                <a:ea typeface="Cambria" pitchFamily="34" charset="-122"/>
                <a:cs typeface="Cambria" pitchFamily="34" charset="-120"/>
              </a:rPr>
              <a:t>Tiền xử lý chuỗi nâng cao</a:t>
            </a:r>
            <a:endParaRPr lang="en-US" sz="1350" dirty="0"/>
          </a:p>
        </p:txBody>
      </p:sp>
      <p:sp>
        <p:nvSpPr>
          <p:cNvPr id="7" name="Text 5"/>
          <p:cNvSpPr/>
          <p:nvPr/>
        </p:nvSpPr>
        <p:spPr>
          <a:xfrm>
            <a:off x="749808" y="2651760"/>
            <a:ext cx="3108960" cy="868680"/>
          </a:xfrm>
          <a:prstGeom prst="rect">
            <a:avLst/>
          </a:prstGeom>
          <a:noFill/>
          <a:ln/>
        </p:spPr>
        <p:txBody>
          <a:bodyPr wrap="square" lIns="0" tIns="0" rIns="0" bIns="0" rtlCol="0" anchor="ctr"/>
          <a:lstStyle/>
          <a:p>
            <a:pPr indent="0" marL="0">
              <a:lnSpc>
                <a:spcPts val="1400"/>
              </a:lnSpc>
              <a:buNone/>
            </a:pPr>
            <a:r>
              <a:rPr lang="en-US" sz="1050" dirty="0">
                <a:solidFill>
                  <a:srgbClr val="5B6B85"/>
                </a:solidFill>
                <a:latin typeface="Calibri" pitchFamily="34" charset="0"/>
                <a:ea typeface="Calibri" pitchFamily="34" charset="-122"/>
                <a:cs typeface="Calibri" pitchFamily="34" charset="-120"/>
              </a:rPr>
              <a:t>Pandas + Regular Expression bóc tách địa chỉ, làm sạch ký tự rác, chuẩn hóa dữ liệu</a:t>
            </a:r>
            <a:endParaRPr lang="en-US" sz="1050" dirty="0"/>
          </a:p>
        </p:txBody>
      </p:sp>
      <p:sp>
        <p:nvSpPr>
          <p:cNvPr id="8" name="Shape 6"/>
          <p:cNvSpPr/>
          <p:nvPr/>
        </p:nvSpPr>
        <p:spPr>
          <a:xfrm>
            <a:off x="4343400" y="1737360"/>
            <a:ext cx="3520440" cy="1874520"/>
          </a:xfrm>
          <a:prstGeom prst="roundRect">
            <a:avLst>
              <a:gd name="adj" fmla="val 3415"/>
            </a:avLst>
          </a:prstGeom>
          <a:solidFill>
            <a:srgbClr val="FFFFFF"/>
          </a:solidFill>
          <a:ln/>
          <a:effectLst>
            <a:outerShdw sx="100000" sy="100000" kx="0" ky="0" algn="bl" rotWithShape="0" blurRad="88900" dist="25400" dir="5400000">
              <a:srgbClr val="000000">
                <a:alpha val="8000"/>
              </a:srgbClr>
            </a:outerShdw>
          </a:effectLst>
        </p:spPr>
      </p:sp>
      <p:sp>
        <p:nvSpPr>
          <p:cNvPr id="9" name="Text 7"/>
          <p:cNvSpPr/>
          <p:nvPr/>
        </p:nvSpPr>
        <p:spPr>
          <a:xfrm>
            <a:off x="4544568" y="1874520"/>
            <a:ext cx="914400" cy="365760"/>
          </a:xfrm>
          <a:prstGeom prst="rect">
            <a:avLst/>
          </a:prstGeom>
          <a:noFill/>
          <a:ln/>
        </p:spPr>
        <p:txBody>
          <a:bodyPr wrap="square" lIns="0" tIns="0" rIns="0" bIns="0" rtlCol="0" anchor="ctr"/>
          <a:lstStyle/>
          <a:p>
            <a:pPr indent="0" marL="0">
              <a:buNone/>
            </a:pPr>
            <a:r>
              <a:rPr lang="en-US" sz="1600" b="1" dirty="0">
                <a:solidFill>
                  <a:srgbClr val="C0654A"/>
                </a:solidFill>
                <a:latin typeface="Cambria" pitchFamily="34" charset="0"/>
                <a:ea typeface="Cambria" pitchFamily="34" charset="-122"/>
                <a:cs typeface="Cambria" pitchFamily="34" charset="-120"/>
              </a:rPr>
              <a:t>02</a:t>
            </a:r>
            <a:endParaRPr lang="en-US" sz="1600" dirty="0"/>
          </a:p>
        </p:txBody>
      </p:sp>
      <p:sp>
        <p:nvSpPr>
          <p:cNvPr id="10" name="Text 8"/>
          <p:cNvSpPr/>
          <p:nvPr/>
        </p:nvSpPr>
        <p:spPr>
          <a:xfrm>
            <a:off x="4544568" y="2240280"/>
            <a:ext cx="3108960" cy="411480"/>
          </a:xfrm>
          <a:prstGeom prst="rect">
            <a:avLst/>
          </a:prstGeom>
          <a:noFill/>
          <a:ln/>
        </p:spPr>
        <p:txBody>
          <a:bodyPr wrap="square" lIns="0" tIns="0" rIns="0" bIns="0" rtlCol="0" anchor="ctr"/>
          <a:lstStyle/>
          <a:p>
            <a:pPr indent="0" marL="0">
              <a:buNone/>
            </a:pPr>
            <a:r>
              <a:rPr lang="en-US" sz="1350" b="1" dirty="0">
                <a:solidFill>
                  <a:srgbClr val="1B2A4A"/>
                </a:solidFill>
                <a:latin typeface="Cambria" pitchFamily="34" charset="0"/>
                <a:ea typeface="Cambria" pitchFamily="34" charset="-122"/>
                <a:cs typeface="Cambria" pitchFamily="34" charset="-120"/>
              </a:rPr>
              <a:t>Thống kê mô tả</a:t>
            </a:r>
            <a:endParaRPr lang="en-US" sz="1350" dirty="0"/>
          </a:p>
        </p:txBody>
      </p:sp>
      <p:sp>
        <p:nvSpPr>
          <p:cNvPr id="11" name="Text 9"/>
          <p:cNvSpPr/>
          <p:nvPr/>
        </p:nvSpPr>
        <p:spPr>
          <a:xfrm>
            <a:off x="4544568" y="2651760"/>
            <a:ext cx="3108960" cy="868680"/>
          </a:xfrm>
          <a:prstGeom prst="rect">
            <a:avLst/>
          </a:prstGeom>
          <a:noFill/>
          <a:ln/>
        </p:spPr>
        <p:txBody>
          <a:bodyPr wrap="square" lIns="0" tIns="0" rIns="0" bIns="0" rtlCol="0" anchor="ctr"/>
          <a:lstStyle/>
          <a:p>
            <a:pPr indent="0" marL="0">
              <a:lnSpc>
                <a:spcPts val="1400"/>
              </a:lnSpc>
              <a:buNone/>
            </a:pPr>
            <a:r>
              <a:rPr lang="en-US" sz="1050" dirty="0">
                <a:solidFill>
                  <a:srgbClr val="5B6B85"/>
                </a:solidFill>
                <a:latin typeface="Calibri" pitchFamily="34" charset="0"/>
                <a:ea typeface="Calibri" pitchFamily="34" charset="-122"/>
                <a:cs typeface="Calibri" pitchFamily="34" charset="-120"/>
              </a:rPr>
              <a:t>Gộp nhóm (groupby), tính trung bình &amp; tần suất theo Quận/Huyện và loại hình BĐS</a:t>
            </a:r>
            <a:endParaRPr lang="en-US" sz="1050" dirty="0"/>
          </a:p>
        </p:txBody>
      </p:sp>
      <p:sp>
        <p:nvSpPr>
          <p:cNvPr id="12" name="Shape 10"/>
          <p:cNvSpPr/>
          <p:nvPr/>
        </p:nvSpPr>
        <p:spPr>
          <a:xfrm>
            <a:off x="8138160" y="1737360"/>
            <a:ext cx="3520440" cy="1874520"/>
          </a:xfrm>
          <a:prstGeom prst="roundRect">
            <a:avLst>
              <a:gd name="adj" fmla="val 3415"/>
            </a:avLst>
          </a:prstGeom>
          <a:solidFill>
            <a:srgbClr val="FFFFFF"/>
          </a:solidFill>
          <a:ln/>
          <a:effectLst>
            <a:outerShdw sx="100000" sy="100000" kx="0" ky="0" algn="bl" rotWithShape="0" blurRad="88900" dist="25400" dir="5400000">
              <a:srgbClr val="000000">
                <a:alpha val="8000"/>
              </a:srgbClr>
            </a:outerShdw>
          </a:effectLst>
        </p:spPr>
      </p:sp>
      <p:sp>
        <p:nvSpPr>
          <p:cNvPr id="13" name="Text 11"/>
          <p:cNvSpPr/>
          <p:nvPr/>
        </p:nvSpPr>
        <p:spPr>
          <a:xfrm>
            <a:off x="8339328" y="1874520"/>
            <a:ext cx="914400" cy="365760"/>
          </a:xfrm>
          <a:prstGeom prst="rect">
            <a:avLst/>
          </a:prstGeom>
          <a:noFill/>
          <a:ln/>
        </p:spPr>
        <p:txBody>
          <a:bodyPr wrap="square" lIns="0" tIns="0" rIns="0" bIns="0" rtlCol="0" anchor="ctr"/>
          <a:lstStyle/>
          <a:p>
            <a:pPr indent="0" marL="0">
              <a:buNone/>
            </a:pPr>
            <a:r>
              <a:rPr lang="en-US" sz="1600" b="1" dirty="0">
                <a:solidFill>
                  <a:srgbClr val="C0654A"/>
                </a:solidFill>
                <a:latin typeface="Cambria" pitchFamily="34" charset="0"/>
                <a:ea typeface="Cambria" pitchFamily="34" charset="-122"/>
                <a:cs typeface="Cambria" pitchFamily="34" charset="-120"/>
              </a:rPr>
              <a:t>03</a:t>
            </a:r>
            <a:endParaRPr lang="en-US" sz="1600" dirty="0"/>
          </a:p>
        </p:txBody>
      </p:sp>
      <p:sp>
        <p:nvSpPr>
          <p:cNvPr id="14" name="Text 12"/>
          <p:cNvSpPr/>
          <p:nvPr/>
        </p:nvSpPr>
        <p:spPr>
          <a:xfrm>
            <a:off x="8339328" y="2240280"/>
            <a:ext cx="3108960" cy="411480"/>
          </a:xfrm>
          <a:prstGeom prst="rect">
            <a:avLst/>
          </a:prstGeom>
          <a:noFill/>
          <a:ln/>
        </p:spPr>
        <p:txBody>
          <a:bodyPr wrap="square" lIns="0" tIns="0" rIns="0" bIns="0" rtlCol="0" anchor="ctr"/>
          <a:lstStyle/>
          <a:p>
            <a:pPr indent="0" marL="0">
              <a:buNone/>
            </a:pPr>
            <a:r>
              <a:rPr lang="en-US" sz="1350" b="1" dirty="0">
                <a:solidFill>
                  <a:srgbClr val="1B2A4A"/>
                </a:solidFill>
                <a:latin typeface="Cambria" pitchFamily="34" charset="0"/>
                <a:ea typeface="Cambria" pitchFamily="34" charset="-122"/>
                <a:cs typeface="Cambria" pitchFamily="34" charset="-120"/>
              </a:rPr>
              <a:t>Định lượng tương quan</a:t>
            </a:r>
            <a:endParaRPr lang="en-US" sz="1350" dirty="0"/>
          </a:p>
        </p:txBody>
      </p:sp>
      <p:sp>
        <p:nvSpPr>
          <p:cNvPr id="15" name="Text 13"/>
          <p:cNvSpPr/>
          <p:nvPr/>
        </p:nvSpPr>
        <p:spPr>
          <a:xfrm>
            <a:off x="8339328" y="2651760"/>
            <a:ext cx="3108960" cy="868680"/>
          </a:xfrm>
          <a:prstGeom prst="rect">
            <a:avLst/>
          </a:prstGeom>
          <a:noFill/>
          <a:ln/>
        </p:spPr>
        <p:txBody>
          <a:bodyPr wrap="square" lIns="0" tIns="0" rIns="0" bIns="0" rtlCol="0" anchor="ctr"/>
          <a:lstStyle/>
          <a:p>
            <a:pPr indent="0" marL="0">
              <a:lnSpc>
                <a:spcPts val="1400"/>
              </a:lnSpc>
              <a:buNone/>
            </a:pPr>
            <a:r>
              <a:rPr lang="en-US" sz="1050" dirty="0">
                <a:solidFill>
                  <a:srgbClr val="5B6B85"/>
                </a:solidFill>
                <a:latin typeface="Calibri" pitchFamily="34" charset="0"/>
                <a:ea typeface="Calibri" pitchFamily="34" charset="-122"/>
                <a:cs typeface="Calibri" pitchFamily="34" charset="-120"/>
              </a:rPr>
              <a:t>Ma trận hệ số Pearson (r) đo mức ảnh hưởng của diện tích &amp; số phòng ngủ</a:t>
            </a:r>
            <a:endParaRPr lang="en-US" sz="1050" dirty="0"/>
          </a:p>
        </p:txBody>
      </p:sp>
      <p:sp>
        <p:nvSpPr>
          <p:cNvPr id="16" name="Shape 14"/>
          <p:cNvSpPr/>
          <p:nvPr/>
        </p:nvSpPr>
        <p:spPr>
          <a:xfrm>
            <a:off x="548640" y="3886200"/>
            <a:ext cx="3520440" cy="1874520"/>
          </a:xfrm>
          <a:prstGeom prst="roundRect">
            <a:avLst>
              <a:gd name="adj" fmla="val 3415"/>
            </a:avLst>
          </a:prstGeom>
          <a:solidFill>
            <a:srgbClr val="FFFFFF"/>
          </a:solidFill>
          <a:ln/>
          <a:effectLst>
            <a:outerShdw sx="100000" sy="100000" kx="0" ky="0" algn="bl" rotWithShape="0" blurRad="88900" dist="25400" dir="5400000">
              <a:srgbClr val="000000">
                <a:alpha val="8000"/>
              </a:srgbClr>
            </a:outerShdw>
          </a:effectLst>
        </p:spPr>
      </p:sp>
      <p:sp>
        <p:nvSpPr>
          <p:cNvPr id="17" name="Text 15"/>
          <p:cNvSpPr/>
          <p:nvPr/>
        </p:nvSpPr>
        <p:spPr>
          <a:xfrm>
            <a:off x="749808" y="4023360"/>
            <a:ext cx="914400" cy="365760"/>
          </a:xfrm>
          <a:prstGeom prst="rect">
            <a:avLst/>
          </a:prstGeom>
          <a:noFill/>
          <a:ln/>
        </p:spPr>
        <p:txBody>
          <a:bodyPr wrap="square" lIns="0" tIns="0" rIns="0" bIns="0" rtlCol="0" anchor="ctr"/>
          <a:lstStyle/>
          <a:p>
            <a:pPr indent="0" marL="0">
              <a:buNone/>
            </a:pPr>
            <a:r>
              <a:rPr lang="en-US" sz="1600" b="1" dirty="0">
                <a:solidFill>
                  <a:srgbClr val="C0654A"/>
                </a:solidFill>
                <a:latin typeface="Cambria" pitchFamily="34" charset="0"/>
                <a:ea typeface="Cambria" pitchFamily="34" charset="-122"/>
                <a:cs typeface="Cambria" pitchFamily="34" charset="-120"/>
              </a:rPr>
              <a:t>04</a:t>
            </a:r>
            <a:endParaRPr lang="en-US" sz="1600" dirty="0"/>
          </a:p>
        </p:txBody>
      </p:sp>
      <p:sp>
        <p:nvSpPr>
          <p:cNvPr id="18" name="Text 16"/>
          <p:cNvSpPr/>
          <p:nvPr/>
        </p:nvSpPr>
        <p:spPr>
          <a:xfrm>
            <a:off x="749808" y="4389120"/>
            <a:ext cx="3108960" cy="411480"/>
          </a:xfrm>
          <a:prstGeom prst="rect">
            <a:avLst/>
          </a:prstGeom>
          <a:noFill/>
          <a:ln/>
        </p:spPr>
        <p:txBody>
          <a:bodyPr wrap="square" lIns="0" tIns="0" rIns="0" bIns="0" rtlCol="0" anchor="ctr"/>
          <a:lstStyle/>
          <a:p>
            <a:pPr indent="0" marL="0">
              <a:buNone/>
            </a:pPr>
            <a:r>
              <a:rPr lang="en-US" sz="1350" b="1" dirty="0">
                <a:solidFill>
                  <a:srgbClr val="1B2A4A"/>
                </a:solidFill>
                <a:latin typeface="Cambria" pitchFamily="34" charset="0"/>
                <a:ea typeface="Cambria" pitchFamily="34" charset="-122"/>
                <a:cs typeface="Cambria" pitchFamily="34" charset="-120"/>
              </a:rPr>
              <a:t>Trực quan hóa dữ liệu</a:t>
            </a:r>
            <a:endParaRPr lang="en-US" sz="1350" dirty="0"/>
          </a:p>
        </p:txBody>
      </p:sp>
      <p:sp>
        <p:nvSpPr>
          <p:cNvPr id="19" name="Text 17"/>
          <p:cNvSpPr/>
          <p:nvPr/>
        </p:nvSpPr>
        <p:spPr>
          <a:xfrm>
            <a:off x="749808" y="4800600"/>
            <a:ext cx="3108960" cy="868680"/>
          </a:xfrm>
          <a:prstGeom prst="rect">
            <a:avLst/>
          </a:prstGeom>
          <a:noFill/>
          <a:ln/>
        </p:spPr>
        <p:txBody>
          <a:bodyPr wrap="square" lIns="0" tIns="0" rIns="0" bIns="0" rtlCol="0" anchor="ctr"/>
          <a:lstStyle/>
          <a:p>
            <a:pPr indent="0" marL="0">
              <a:lnSpc>
                <a:spcPts val="1400"/>
              </a:lnSpc>
              <a:buNone/>
            </a:pPr>
            <a:r>
              <a:rPr lang="en-US" sz="1050" dirty="0">
                <a:solidFill>
                  <a:srgbClr val="5B6B85"/>
                </a:solidFill>
                <a:latin typeface="Calibri" pitchFamily="34" charset="0"/>
                <a:ea typeface="Calibri" pitchFamily="34" charset="-122"/>
                <a:cs typeface="Calibri" pitchFamily="34" charset="-120"/>
              </a:rPr>
              <a:t>Matplotlib &amp; Seaborn: biểu đồ phân tán, cột, mật độ</a:t>
            </a:r>
            <a:endParaRPr lang="en-US" sz="1050" dirty="0"/>
          </a:p>
        </p:txBody>
      </p:sp>
      <p:sp>
        <p:nvSpPr>
          <p:cNvPr id="20" name="Shape 18"/>
          <p:cNvSpPr/>
          <p:nvPr/>
        </p:nvSpPr>
        <p:spPr>
          <a:xfrm>
            <a:off x="4343400" y="3886200"/>
            <a:ext cx="3520440" cy="1874520"/>
          </a:xfrm>
          <a:prstGeom prst="roundRect">
            <a:avLst>
              <a:gd name="adj" fmla="val 3415"/>
            </a:avLst>
          </a:prstGeom>
          <a:solidFill>
            <a:srgbClr val="FFFFFF"/>
          </a:solidFill>
          <a:ln/>
          <a:effectLst>
            <a:outerShdw sx="100000" sy="100000" kx="0" ky="0" algn="bl" rotWithShape="0" blurRad="88900" dist="25400" dir="5400000">
              <a:srgbClr val="000000">
                <a:alpha val="8000"/>
              </a:srgbClr>
            </a:outerShdw>
          </a:effectLst>
        </p:spPr>
      </p:sp>
      <p:sp>
        <p:nvSpPr>
          <p:cNvPr id="21" name="Text 19"/>
          <p:cNvSpPr/>
          <p:nvPr/>
        </p:nvSpPr>
        <p:spPr>
          <a:xfrm>
            <a:off x="4544568" y="4023360"/>
            <a:ext cx="914400" cy="365760"/>
          </a:xfrm>
          <a:prstGeom prst="rect">
            <a:avLst/>
          </a:prstGeom>
          <a:noFill/>
          <a:ln/>
        </p:spPr>
        <p:txBody>
          <a:bodyPr wrap="square" lIns="0" tIns="0" rIns="0" bIns="0" rtlCol="0" anchor="ctr"/>
          <a:lstStyle/>
          <a:p>
            <a:pPr indent="0" marL="0">
              <a:buNone/>
            </a:pPr>
            <a:r>
              <a:rPr lang="en-US" sz="1600" b="1" dirty="0">
                <a:solidFill>
                  <a:srgbClr val="C0654A"/>
                </a:solidFill>
                <a:latin typeface="Cambria" pitchFamily="34" charset="0"/>
                <a:ea typeface="Cambria" pitchFamily="34" charset="-122"/>
                <a:cs typeface="Cambria" pitchFamily="34" charset="-120"/>
              </a:rPr>
              <a:t>05</a:t>
            </a:r>
            <a:endParaRPr lang="en-US" sz="1600" dirty="0"/>
          </a:p>
        </p:txBody>
      </p:sp>
      <p:sp>
        <p:nvSpPr>
          <p:cNvPr id="22" name="Text 20"/>
          <p:cNvSpPr/>
          <p:nvPr/>
        </p:nvSpPr>
        <p:spPr>
          <a:xfrm>
            <a:off x="4544568" y="4389120"/>
            <a:ext cx="3108960" cy="411480"/>
          </a:xfrm>
          <a:prstGeom prst="rect">
            <a:avLst/>
          </a:prstGeom>
          <a:noFill/>
          <a:ln/>
        </p:spPr>
        <p:txBody>
          <a:bodyPr wrap="square" lIns="0" tIns="0" rIns="0" bIns="0" rtlCol="0" anchor="ctr"/>
          <a:lstStyle/>
          <a:p>
            <a:pPr indent="0" marL="0">
              <a:buNone/>
            </a:pPr>
            <a:r>
              <a:rPr lang="en-US" sz="1350" b="1" dirty="0">
                <a:solidFill>
                  <a:srgbClr val="1B2A4A"/>
                </a:solidFill>
                <a:latin typeface="Cambria" pitchFamily="34" charset="0"/>
                <a:ea typeface="Cambria" pitchFamily="34" charset="-122"/>
                <a:cs typeface="Cambria" pitchFamily="34" charset="-120"/>
              </a:rPr>
              <a:t>Học máy hồi quy</a:t>
            </a:r>
            <a:endParaRPr lang="en-US" sz="1350" dirty="0"/>
          </a:p>
        </p:txBody>
      </p:sp>
      <p:sp>
        <p:nvSpPr>
          <p:cNvPr id="23" name="Text 21"/>
          <p:cNvSpPr/>
          <p:nvPr/>
        </p:nvSpPr>
        <p:spPr>
          <a:xfrm>
            <a:off x="4544568" y="4800600"/>
            <a:ext cx="3108960" cy="868680"/>
          </a:xfrm>
          <a:prstGeom prst="rect">
            <a:avLst/>
          </a:prstGeom>
          <a:noFill/>
          <a:ln/>
        </p:spPr>
        <p:txBody>
          <a:bodyPr wrap="square" lIns="0" tIns="0" rIns="0" bIns="0" rtlCol="0" anchor="ctr"/>
          <a:lstStyle/>
          <a:p>
            <a:pPr indent="0" marL="0">
              <a:lnSpc>
                <a:spcPts val="1400"/>
              </a:lnSpc>
              <a:buNone/>
            </a:pPr>
            <a:r>
              <a:rPr lang="en-US" sz="1050" dirty="0">
                <a:solidFill>
                  <a:srgbClr val="5B6B85"/>
                </a:solidFill>
                <a:latin typeface="Calibri" pitchFamily="34" charset="0"/>
                <a:ea typeface="Calibri" pitchFamily="34" charset="-122"/>
                <a:cs typeface="Calibri" pitchFamily="34" charset="-120"/>
              </a:rPr>
              <a:t>Linear Regression, Random Forest, XGBoost Regressor để dự báo giá trị</a:t>
            </a:r>
            <a:endParaRPr lang="en-US" sz="1050" dirty="0"/>
          </a:p>
        </p:txBody>
      </p:sp>
      <p:sp>
        <p:nvSpPr>
          <p:cNvPr id="24" name="Shape 22"/>
          <p:cNvSpPr/>
          <p:nvPr/>
        </p:nvSpPr>
        <p:spPr>
          <a:xfrm>
            <a:off x="8138160" y="3886200"/>
            <a:ext cx="3520440" cy="1874520"/>
          </a:xfrm>
          <a:prstGeom prst="roundRect">
            <a:avLst>
              <a:gd name="adj" fmla="val 3415"/>
            </a:avLst>
          </a:prstGeom>
          <a:solidFill>
            <a:srgbClr val="FFFFFF"/>
          </a:solidFill>
          <a:ln/>
          <a:effectLst>
            <a:outerShdw sx="100000" sy="100000" kx="0" ky="0" algn="bl" rotWithShape="0" blurRad="88900" dist="25400" dir="5400000">
              <a:srgbClr val="000000">
                <a:alpha val="8000"/>
              </a:srgbClr>
            </a:outerShdw>
          </a:effectLst>
        </p:spPr>
      </p:sp>
      <p:sp>
        <p:nvSpPr>
          <p:cNvPr id="25" name="Text 23"/>
          <p:cNvSpPr/>
          <p:nvPr/>
        </p:nvSpPr>
        <p:spPr>
          <a:xfrm>
            <a:off x="8339328" y="4023360"/>
            <a:ext cx="914400" cy="365760"/>
          </a:xfrm>
          <a:prstGeom prst="rect">
            <a:avLst/>
          </a:prstGeom>
          <a:noFill/>
          <a:ln/>
        </p:spPr>
        <p:txBody>
          <a:bodyPr wrap="square" lIns="0" tIns="0" rIns="0" bIns="0" rtlCol="0" anchor="ctr"/>
          <a:lstStyle/>
          <a:p>
            <a:pPr indent="0" marL="0">
              <a:buNone/>
            </a:pPr>
            <a:r>
              <a:rPr lang="en-US" sz="1600" b="1" dirty="0">
                <a:solidFill>
                  <a:srgbClr val="C0654A"/>
                </a:solidFill>
                <a:latin typeface="Cambria" pitchFamily="34" charset="0"/>
                <a:ea typeface="Cambria" pitchFamily="34" charset="-122"/>
                <a:cs typeface="Cambria" pitchFamily="34" charset="-120"/>
              </a:rPr>
              <a:t>06</a:t>
            </a:r>
            <a:endParaRPr lang="en-US" sz="1600" dirty="0"/>
          </a:p>
        </p:txBody>
      </p:sp>
      <p:sp>
        <p:nvSpPr>
          <p:cNvPr id="26" name="Text 24"/>
          <p:cNvSpPr/>
          <p:nvPr/>
        </p:nvSpPr>
        <p:spPr>
          <a:xfrm>
            <a:off x="8339328" y="4389120"/>
            <a:ext cx="3108960" cy="411480"/>
          </a:xfrm>
          <a:prstGeom prst="rect">
            <a:avLst/>
          </a:prstGeom>
          <a:noFill/>
          <a:ln/>
        </p:spPr>
        <p:txBody>
          <a:bodyPr wrap="square" lIns="0" tIns="0" rIns="0" bIns="0" rtlCol="0" anchor="ctr"/>
          <a:lstStyle/>
          <a:p>
            <a:pPr indent="0" marL="0">
              <a:buNone/>
            </a:pPr>
            <a:r>
              <a:rPr lang="en-US" sz="1350" b="1" dirty="0">
                <a:solidFill>
                  <a:srgbClr val="1B2A4A"/>
                </a:solidFill>
                <a:latin typeface="Cambria" pitchFamily="34" charset="0"/>
                <a:ea typeface="Cambria" pitchFamily="34" charset="-122"/>
                <a:cs typeface="Cambria" pitchFamily="34" charset="-120"/>
              </a:rPr>
              <a:t>Thực nghiệm &amp; đánh giá</a:t>
            </a:r>
            <a:endParaRPr lang="en-US" sz="1350" dirty="0"/>
          </a:p>
        </p:txBody>
      </p:sp>
      <p:sp>
        <p:nvSpPr>
          <p:cNvPr id="27" name="Text 25"/>
          <p:cNvSpPr/>
          <p:nvPr/>
        </p:nvSpPr>
        <p:spPr>
          <a:xfrm>
            <a:off x="8339328" y="4800600"/>
            <a:ext cx="3108960" cy="868680"/>
          </a:xfrm>
          <a:prstGeom prst="rect">
            <a:avLst/>
          </a:prstGeom>
          <a:noFill/>
          <a:ln/>
        </p:spPr>
        <p:txBody>
          <a:bodyPr wrap="square" lIns="0" tIns="0" rIns="0" bIns="0" rtlCol="0" anchor="ctr"/>
          <a:lstStyle/>
          <a:p>
            <a:pPr indent="0" marL="0">
              <a:lnSpc>
                <a:spcPts val="1400"/>
              </a:lnSpc>
              <a:buNone/>
            </a:pPr>
            <a:r>
              <a:rPr lang="en-US" sz="1050" dirty="0">
                <a:solidFill>
                  <a:srgbClr val="5B6B85"/>
                </a:solidFill>
                <a:latin typeface="Calibri" pitchFamily="34" charset="0"/>
                <a:ea typeface="Calibri" pitchFamily="34" charset="-122"/>
                <a:cs typeface="Calibri" pitchFamily="34" charset="-120"/>
              </a:rPr>
              <a:t>Đo RMSE và R² trên tập kiểm thử để chọn thuật toán tối ưu</a:t>
            </a:r>
            <a:endParaRPr lang="en-US" sz="1050" dirty="0"/>
          </a:p>
        </p:txBody>
      </p:sp>
      <p:sp>
        <p:nvSpPr>
          <p:cNvPr id="28" name="Text 2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CHƯƠNG 2 · CƠ SỞ LÝ THUYẾT</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Khoa học dữ liệu &amp; Quy trình phân tích</a:t>
            </a:r>
            <a:endParaRPr lang="en-US" sz="3000" dirty="0"/>
          </a:p>
        </p:txBody>
      </p:sp>
      <p:sp>
        <p:nvSpPr>
          <p:cNvPr id="4" name="Shape 2"/>
          <p:cNvSpPr/>
          <p:nvPr/>
        </p:nvSpPr>
        <p:spPr>
          <a:xfrm>
            <a:off x="548640" y="1691640"/>
            <a:ext cx="5486400" cy="4434840"/>
          </a:xfrm>
          <a:prstGeom prst="roundRect">
            <a:avLst>
              <a:gd name="adj" fmla="val 1649"/>
            </a:avLst>
          </a:prstGeom>
          <a:solidFill>
            <a:srgbClr val="1B2A4A"/>
          </a:solidFill>
          <a:ln/>
          <a:effectLst>
            <a:outerShdw sx="100000" sy="100000" kx="0" ky="0" algn="bl" rotWithShape="0" blurRad="127000" dist="38100" dir="5400000">
              <a:srgbClr val="000000">
                <a:alpha val="18000"/>
              </a:srgbClr>
            </a:outerShdw>
          </a:effectLst>
        </p:spPr>
      </p:sp>
      <p:sp>
        <p:nvSpPr>
          <p:cNvPr id="5" name="Shape 3"/>
          <p:cNvSpPr/>
          <p:nvPr/>
        </p:nvSpPr>
        <p:spPr>
          <a:xfrm>
            <a:off x="868680" y="1965960"/>
            <a:ext cx="548640" cy="548640"/>
          </a:xfrm>
          <a:prstGeom prst="ellipse">
            <a:avLst/>
          </a:prstGeom>
          <a:solidFill>
            <a:srgbClr val="C0654A"/>
          </a:solidFill>
          <a:ln/>
        </p:spPr>
      </p:sp>
      <p:pic>
        <p:nvPicPr>
          <p:cNvPr id="6" name="Image 0" descr="preencoded.png">    </p:cNvPr>
          <p:cNvPicPr>
            <a:picLocks noChangeAspect="1"/>
          </p:cNvPicPr>
          <p:nvPr/>
        </p:nvPicPr>
        <p:blipFill>
          <a:blip r:embed="rId1"/>
          <a:stretch>
            <a:fillRect/>
          </a:stretch>
        </p:blipFill>
        <p:spPr>
          <a:xfrm>
            <a:off x="950976" y="2048256"/>
            <a:ext cx="384048" cy="384048"/>
          </a:xfrm>
          <a:prstGeom prst="rect">
            <a:avLst/>
          </a:prstGeom>
        </p:spPr>
      </p:pic>
      <p:sp>
        <p:nvSpPr>
          <p:cNvPr id="7" name="Text 4"/>
          <p:cNvSpPr/>
          <p:nvPr/>
        </p:nvSpPr>
        <p:spPr>
          <a:xfrm>
            <a:off x="1554480" y="2029968"/>
            <a:ext cx="4297680" cy="45720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Khoa học dữ liệu là gì?</a:t>
            </a:r>
            <a:endParaRPr lang="en-US" sz="1650" dirty="0"/>
          </a:p>
        </p:txBody>
      </p:sp>
      <p:sp>
        <p:nvSpPr>
          <p:cNvPr id="8" name="Text 5"/>
          <p:cNvSpPr/>
          <p:nvPr/>
        </p:nvSpPr>
        <p:spPr>
          <a:xfrm>
            <a:off x="868680" y="2743200"/>
            <a:ext cx="4937760" cy="1691640"/>
          </a:xfrm>
          <a:prstGeom prst="rect">
            <a:avLst/>
          </a:prstGeom>
          <a:noFill/>
          <a:ln/>
        </p:spPr>
        <p:txBody>
          <a:bodyPr wrap="square" lIns="0" tIns="0" rIns="0" bIns="0" rtlCol="0" anchor="ctr"/>
          <a:lstStyle/>
          <a:p>
            <a:pPr indent="0" marL="0">
              <a:lnSpc>
                <a:spcPts val="1800"/>
              </a:lnSpc>
              <a:buNone/>
            </a:pPr>
            <a:r>
              <a:rPr lang="en-US" sz="1250" dirty="0">
                <a:solidFill>
                  <a:srgbClr val="E8ECF7"/>
                </a:solidFill>
                <a:latin typeface="Calibri" pitchFamily="34" charset="0"/>
                <a:ea typeface="Calibri" pitchFamily="34" charset="-122"/>
                <a:cs typeface="Calibri" pitchFamily="34" charset="-120"/>
              </a:rPr>
              <a:t>Lĩnh vực liên ngành kết hợp toán thống kê, khoa học máy tính và kiến thức chuyên ngành nhằm thu thập, xử lý, phân tích và khai thác tri thức từ dữ liệu lớn — chuyển hóa dữ liệu thô thành quyết định có cơ sở khoa học.</a:t>
            </a:r>
            <a:endParaRPr lang="en-US" sz="1250" dirty="0"/>
          </a:p>
        </p:txBody>
      </p:sp>
      <p:sp>
        <p:nvSpPr>
          <p:cNvPr id="9" name="Text 6"/>
          <p:cNvSpPr/>
          <p:nvPr/>
        </p:nvSpPr>
        <p:spPr>
          <a:xfrm>
            <a:off x="868680" y="4754880"/>
            <a:ext cx="4937760" cy="1188720"/>
          </a:xfrm>
          <a:prstGeom prst="rect">
            <a:avLst/>
          </a:prstGeom>
          <a:noFill/>
          <a:ln/>
        </p:spPr>
        <p:txBody>
          <a:bodyPr wrap="square" lIns="0" tIns="0" rIns="0" bIns="0" rtlCol="0" anchor="ctr"/>
          <a:lstStyle/>
          <a:p>
            <a:pPr indent="0" marL="0">
              <a:lnSpc>
                <a:spcPts val="1700"/>
              </a:lnSpc>
              <a:buNone/>
            </a:pPr>
            <a:r>
              <a:rPr lang="en-US" sz="1200" i="1" dirty="0">
                <a:solidFill>
                  <a:srgbClr val="CADCFC"/>
                </a:solidFill>
                <a:latin typeface="Calibri" pitchFamily="34" charset="0"/>
                <a:ea typeface="Calibri" pitchFamily="34" charset="-122"/>
                <a:cs typeface="Calibri" pitchFamily="34" charset="-120"/>
              </a:rPr>
              <a:t>Áp dụng trong đề tài: Python + Pandas/Matplotlib/Seaborn, hệ số Pearson, và K-Means Clustering (Scikit-learn) để khai phá toàn diện tập dữ liệu BĐS thực tế.</a:t>
            </a:r>
            <a:endParaRPr lang="en-US" sz="1200" dirty="0"/>
          </a:p>
        </p:txBody>
      </p:sp>
      <p:sp>
        <p:nvSpPr>
          <p:cNvPr id="10" name="Text 7"/>
          <p:cNvSpPr/>
          <p:nvPr/>
        </p:nvSpPr>
        <p:spPr>
          <a:xfrm>
            <a:off x="6355080" y="1691640"/>
            <a:ext cx="5212080" cy="365760"/>
          </a:xfrm>
          <a:prstGeom prst="rect">
            <a:avLst/>
          </a:prstGeom>
          <a:noFill/>
          <a:ln/>
        </p:spPr>
        <p:txBody>
          <a:bodyPr wrap="square" lIns="0" tIns="0" rIns="0" bIns="0" rtlCol="0" anchor="ctr"/>
          <a:lstStyle/>
          <a:p>
            <a:pPr indent="0" marL="0">
              <a:buNone/>
            </a:pPr>
            <a:r>
              <a:rPr lang="en-US" sz="1500" b="1" dirty="0">
                <a:solidFill>
                  <a:srgbClr val="1B2A4A"/>
                </a:solidFill>
                <a:latin typeface="Cambria" pitchFamily="34" charset="0"/>
                <a:ea typeface="Cambria" pitchFamily="34" charset="-122"/>
                <a:cs typeface="Cambria" pitchFamily="34" charset="-120"/>
              </a:rPr>
              <a:t>Quy trình phân tích dữ liệu</a:t>
            </a:r>
            <a:endParaRPr lang="en-US" sz="1500" dirty="0"/>
          </a:p>
        </p:txBody>
      </p:sp>
      <p:sp>
        <p:nvSpPr>
          <p:cNvPr id="11" name="Shape 8"/>
          <p:cNvSpPr/>
          <p:nvPr/>
        </p:nvSpPr>
        <p:spPr>
          <a:xfrm>
            <a:off x="6355080" y="2194560"/>
            <a:ext cx="365760" cy="365760"/>
          </a:xfrm>
          <a:prstGeom prst="ellipse">
            <a:avLst/>
          </a:prstGeom>
          <a:solidFill>
            <a:srgbClr val="FFFFFF"/>
          </a:solidFill>
          <a:ln w="19050">
            <a:solidFill>
              <a:srgbClr val="C0654A"/>
            </a:solidFill>
            <a:prstDash val="solid"/>
          </a:ln>
        </p:spPr>
      </p:sp>
      <p:sp>
        <p:nvSpPr>
          <p:cNvPr id="12" name="Text 9"/>
          <p:cNvSpPr/>
          <p:nvPr/>
        </p:nvSpPr>
        <p:spPr>
          <a:xfrm>
            <a:off x="6355080" y="2194560"/>
            <a:ext cx="365760" cy="365760"/>
          </a:xfrm>
          <a:prstGeom prst="rect">
            <a:avLst/>
          </a:prstGeom>
          <a:noFill/>
          <a:ln/>
        </p:spPr>
        <p:txBody>
          <a:bodyPr wrap="square" lIns="0" tIns="0" rIns="0" bIns="0" rtlCol="0" anchor="ctr"/>
          <a:lstStyle/>
          <a:p>
            <a:pPr algn="ctr" indent="0" marL="0">
              <a:buNone/>
            </a:pPr>
            <a:r>
              <a:rPr lang="en-US" sz="1200" b="1" dirty="0">
                <a:solidFill>
                  <a:srgbClr val="C0654A"/>
                </a:solidFill>
                <a:latin typeface="Calibri" pitchFamily="34" charset="0"/>
                <a:ea typeface="Calibri" pitchFamily="34" charset="-122"/>
                <a:cs typeface="Calibri" pitchFamily="34" charset="-120"/>
              </a:rPr>
              <a:t>1</a:t>
            </a:r>
            <a:endParaRPr lang="en-US" sz="1200" dirty="0"/>
          </a:p>
        </p:txBody>
      </p:sp>
      <p:sp>
        <p:nvSpPr>
          <p:cNvPr id="13" name="Text 10"/>
          <p:cNvSpPr/>
          <p:nvPr/>
        </p:nvSpPr>
        <p:spPr>
          <a:xfrm>
            <a:off x="6858000" y="2212848"/>
            <a:ext cx="4480560" cy="347472"/>
          </a:xfrm>
          <a:prstGeom prst="rect">
            <a:avLst/>
          </a:prstGeom>
          <a:noFill/>
          <a:ln/>
        </p:spPr>
        <p:txBody>
          <a:bodyPr wrap="square" lIns="0" tIns="0" rIns="0" bIns="0" rtlCol="0" anchor="ctr"/>
          <a:lstStyle/>
          <a:p>
            <a:pPr indent="0" marL="0">
              <a:buNone/>
            </a:pPr>
            <a:r>
              <a:rPr lang="en-US" sz="1250" dirty="0">
                <a:solidFill>
                  <a:srgbClr val="1F2430"/>
                </a:solidFill>
                <a:latin typeface="Calibri" pitchFamily="34" charset="0"/>
                <a:ea typeface="Calibri" pitchFamily="34" charset="-122"/>
                <a:cs typeface="Calibri" pitchFamily="34" charset="-120"/>
              </a:rPr>
              <a:t>Thu thập dữ liệu</a:t>
            </a:r>
            <a:endParaRPr lang="en-US" sz="1250" dirty="0"/>
          </a:p>
        </p:txBody>
      </p:sp>
      <p:sp>
        <p:nvSpPr>
          <p:cNvPr id="14" name="Shape 11"/>
          <p:cNvSpPr/>
          <p:nvPr/>
        </p:nvSpPr>
        <p:spPr>
          <a:xfrm>
            <a:off x="6537960" y="2560320"/>
            <a:ext cx="0" cy="182880"/>
          </a:xfrm>
          <a:prstGeom prst="line">
            <a:avLst/>
          </a:prstGeom>
          <a:noFill/>
          <a:ln w="19050">
            <a:solidFill>
              <a:srgbClr val="D6D0C5"/>
            </a:solidFill>
            <a:prstDash val="solid"/>
          </a:ln>
        </p:spPr>
      </p:sp>
      <p:sp>
        <p:nvSpPr>
          <p:cNvPr id="15" name="Shape 12"/>
          <p:cNvSpPr/>
          <p:nvPr/>
        </p:nvSpPr>
        <p:spPr>
          <a:xfrm>
            <a:off x="6355080" y="2743200"/>
            <a:ext cx="365760" cy="365760"/>
          </a:xfrm>
          <a:prstGeom prst="ellipse">
            <a:avLst/>
          </a:prstGeom>
          <a:solidFill>
            <a:srgbClr val="FFFFFF"/>
          </a:solidFill>
          <a:ln w="19050">
            <a:solidFill>
              <a:srgbClr val="C0654A"/>
            </a:solidFill>
            <a:prstDash val="solid"/>
          </a:ln>
        </p:spPr>
      </p:sp>
      <p:sp>
        <p:nvSpPr>
          <p:cNvPr id="16" name="Text 13"/>
          <p:cNvSpPr/>
          <p:nvPr/>
        </p:nvSpPr>
        <p:spPr>
          <a:xfrm>
            <a:off x="6355080" y="2743200"/>
            <a:ext cx="365760" cy="365760"/>
          </a:xfrm>
          <a:prstGeom prst="rect">
            <a:avLst/>
          </a:prstGeom>
          <a:noFill/>
          <a:ln/>
        </p:spPr>
        <p:txBody>
          <a:bodyPr wrap="square" lIns="0" tIns="0" rIns="0" bIns="0" rtlCol="0" anchor="ctr"/>
          <a:lstStyle/>
          <a:p>
            <a:pPr algn="ctr" indent="0" marL="0">
              <a:buNone/>
            </a:pPr>
            <a:r>
              <a:rPr lang="en-US" sz="1200" b="1" dirty="0">
                <a:solidFill>
                  <a:srgbClr val="C0654A"/>
                </a:solidFill>
                <a:latin typeface="Calibri" pitchFamily="34" charset="0"/>
                <a:ea typeface="Calibri" pitchFamily="34" charset="-122"/>
                <a:cs typeface="Calibri" pitchFamily="34" charset="-120"/>
              </a:rPr>
              <a:t>2</a:t>
            </a:r>
            <a:endParaRPr lang="en-US" sz="1200" dirty="0"/>
          </a:p>
        </p:txBody>
      </p:sp>
      <p:sp>
        <p:nvSpPr>
          <p:cNvPr id="17" name="Text 14"/>
          <p:cNvSpPr/>
          <p:nvPr/>
        </p:nvSpPr>
        <p:spPr>
          <a:xfrm>
            <a:off x="6858000" y="2761488"/>
            <a:ext cx="4480560" cy="347472"/>
          </a:xfrm>
          <a:prstGeom prst="rect">
            <a:avLst/>
          </a:prstGeom>
          <a:noFill/>
          <a:ln/>
        </p:spPr>
        <p:txBody>
          <a:bodyPr wrap="square" lIns="0" tIns="0" rIns="0" bIns="0" rtlCol="0" anchor="ctr"/>
          <a:lstStyle/>
          <a:p>
            <a:pPr indent="0" marL="0">
              <a:buNone/>
            </a:pPr>
            <a:r>
              <a:rPr lang="en-US" sz="1250" dirty="0">
                <a:solidFill>
                  <a:srgbClr val="1F2430"/>
                </a:solidFill>
                <a:latin typeface="Calibri" pitchFamily="34" charset="0"/>
                <a:ea typeface="Calibri" pitchFamily="34" charset="-122"/>
                <a:cs typeface="Calibri" pitchFamily="34" charset="-120"/>
              </a:rPr>
              <a:t>Tiền xử lý dữ liệu</a:t>
            </a:r>
            <a:endParaRPr lang="en-US" sz="1250" dirty="0"/>
          </a:p>
        </p:txBody>
      </p:sp>
      <p:sp>
        <p:nvSpPr>
          <p:cNvPr id="18" name="Shape 15"/>
          <p:cNvSpPr/>
          <p:nvPr/>
        </p:nvSpPr>
        <p:spPr>
          <a:xfrm>
            <a:off x="6537960" y="3108960"/>
            <a:ext cx="0" cy="182880"/>
          </a:xfrm>
          <a:prstGeom prst="line">
            <a:avLst/>
          </a:prstGeom>
          <a:noFill/>
          <a:ln w="19050">
            <a:solidFill>
              <a:srgbClr val="D6D0C5"/>
            </a:solidFill>
            <a:prstDash val="solid"/>
          </a:ln>
        </p:spPr>
      </p:sp>
      <p:sp>
        <p:nvSpPr>
          <p:cNvPr id="19" name="Shape 16"/>
          <p:cNvSpPr/>
          <p:nvPr/>
        </p:nvSpPr>
        <p:spPr>
          <a:xfrm>
            <a:off x="6355080" y="3291840"/>
            <a:ext cx="365760" cy="365760"/>
          </a:xfrm>
          <a:prstGeom prst="ellipse">
            <a:avLst/>
          </a:prstGeom>
          <a:solidFill>
            <a:srgbClr val="FFFFFF"/>
          </a:solidFill>
          <a:ln w="19050">
            <a:solidFill>
              <a:srgbClr val="C0654A"/>
            </a:solidFill>
            <a:prstDash val="solid"/>
          </a:ln>
        </p:spPr>
      </p:sp>
      <p:sp>
        <p:nvSpPr>
          <p:cNvPr id="20" name="Text 17"/>
          <p:cNvSpPr/>
          <p:nvPr/>
        </p:nvSpPr>
        <p:spPr>
          <a:xfrm>
            <a:off x="6355080" y="3291840"/>
            <a:ext cx="365760" cy="365760"/>
          </a:xfrm>
          <a:prstGeom prst="rect">
            <a:avLst/>
          </a:prstGeom>
          <a:noFill/>
          <a:ln/>
        </p:spPr>
        <p:txBody>
          <a:bodyPr wrap="square" lIns="0" tIns="0" rIns="0" bIns="0" rtlCol="0" anchor="ctr"/>
          <a:lstStyle/>
          <a:p>
            <a:pPr algn="ctr" indent="0" marL="0">
              <a:buNone/>
            </a:pPr>
            <a:r>
              <a:rPr lang="en-US" sz="1200" b="1" dirty="0">
                <a:solidFill>
                  <a:srgbClr val="C0654A"/>
                </a:solidFill>
                <a:latin typeface="Calibri" pitchFamily="34" charset="0"/>
                <a:ea typeface="Calibri" pitchFamily="34" charset="-122"/>
                <a:cs typeface="Calibri" pitchFamily="34" charset="-120"/>
              </a:rPr>
              <a:t>3</a:t>
            </a:r>
            <a:endParaRPr lang="en-US" sz="1200" dirty="0"/>
          </a:p>
        </p:txBody>
      </p:sp>
      <p:sp>
        <p:nvSpPr>
          <p:cNvPr id="21" name="Text 18"/>
          <p:cNvSpPr/>
          <p:nvPr/>
        </p:nvSpPr>
        <p:spPr>
          <a:xfrm>
            <a:off x="6858000" y="3310128"/>
            <a:ext cx="4480560" cy="347472"/>
          </a:xfrm>
          <a:prstGeom prst="rect">
            <a:avLst/>
          </a:prstGeom>
          <a:noFill/>
          <a:ln/>
        </p:spPr>
        <p:txBody>
          <a:bodyPr wrap="square" lIns="0" tIns="0" rIns="0" bIns="0" rtlCol="0" anchor="ctr"/>
          <a:lstStyle/>
          <a:p>
            <a:pPr indent="0" marL="0">
              <a:buNone/>
            </a:pPr>
            <a:r>
              <a:rPr lang="en-US" sz="1250" dirty="0">
                <a:solidFill>
                  <a:srgbClr val="1F2430"/>
                </a:solidFill>
                <a:latin typeface="Calibri" pitchFamily="34" charset="0"/>
                <a:ea typeface="Calibri" pitchFamily="34" charset="-122"/>
                <a:cs typeface="Calibri" pitchFamily="34" charset="-120"/>
              </a:rPr>
              <a:t>Khám phá dữ liệu</a:t>
            </a:r>
            <a:endParaRPr lang="en-US" sz="1250" dirty="0"/>
          </a:p>
        </p:txBody>
      </p:sp>
      <p:sp>
        <p:nvSpPr>
          <p:cNvPr id="22" name="Shape 19"/>
          <p:cNvSpPr/>
          <p:nvPr/>
        </p:nvSpPr>
        <p:spPr>
          <a:xfrm>
            <a:off x="6537960" y="3657600"/>
            <a:ext cx="0" cy="182880"/>
          </a:xfrm>
          <a:prstGeom prst="line">
            <a:avLst/>
          </a:prstGeom>
          <a:noFill/>
          <a:ln w="19050">
            <a:solidFill>
              <a:srgbClr val="D6D0C5"/>
            </a:solidFill>
            <a:prstDash val="solid"/>
          </a:ln>
        </p:spPr>
      </p:sp>
      <p:sp>
        <p:nvSpPr>
          <p:cNvPr id="23" name="Shape 20"/>
          <p:cNvSpPr/>
          <p:nvPr/>
        </p:nvSpPr>
        <p:spPr>
          <a:xfrm>
            <a:off x="6355080" y="3840480"/>
            <a:ext cx="365760" cy="365760"/>
          </a:xfrm>
          <a:prstGeom prst="ellipse">
            <a:avLst/>
          </a:prstGeom>
          <a:solidFill>
            <a:srgbClr val="FFFFFF"/>
          </a:solidFill>
          <a:ln w="19050">
            <a:solidFill>
              <a:srgbClr val="C0654A"/>
            </a:solidFill>
            <a:prstDash val="solid"/>
          </a:ln>
        </p:spPr>
      </p:sp>
      <p:sp>
        <p:nvSpPr>
          <p:cNvPr id="24" name="Text 21"/>
          <p:cNvSpPr/>
          <p:nvPr/>
        </p:nvSpPr>
        <p:spPr>
          <a:xfrm>
            <a:off x="6355080" y="3840480"/>
            <a:ext cx="365760" cy="365760"/>
          </a:xfrm>
          <a:prstGeom prst="rect">
            <a:avLst/>
          </a:prstGeom>
          <a:noFill/>
          <a:ln/>
        </p:spPr>
        <p:txBody>
          <a:bodyPr wrap="square" lIns="0" tIns="0" rIns="0" bIns="0" rtlCol="0" anchor="ctr"/>
          <a:lstStyle/>
          <a:p>
            <a:pPr algn="ctr" indent="0" marL="0">
              <a:buNone/>
            </a:pPr>
            <a:r>
              <a:rPr lang="en-US" sz="1200" b="1" dirty="0">
                <a:solidFill>
                  <a:srgbClr val="C0654A"/>
                </a:solidFill>
                <a:latin typeface="Calibri" pitchFamily="34" charset="0"/>
                <a:ea typeface="Calibri" pitchFamily="34" charset="-122"/>
                <a:cs typeface="Calibri" pitchFamily="34" charset="-120"/>
              </a:rPr>
              <a:t>4</a:t>
            </a:r>
            <a:endParaRPr lang="en-US" sz="1200" dirty="0"/>
          </a:p>
        </p:txBody>
      </p:sp>
      <p:sp>
        <p:nvSpPr>
          <p:cNvPr id="25" name="Text 22"/>
          <p:cNvSpPr/>
          <p:nvPr/>
        </p:nvSpPr>
        <p:spPr>
          <a:xfrm>
            <a:off x="6858000" y="3858768"/>
            <a:ext cx="4480560" cy="347472"/>
          </a:xfrm>
          <a:prstGeom prst="rect">
            <a:avLst/>
          </a:prstGeom>
          <a:noFill/>
          <a:ln/>
        </p:spPr>
        <p:txBody>
          <a:bodyPr wrap="square" lIns="0" tIns="0" rIns="0" bIns="0" rtlCol="0" anchor="ctr"/>
          <a:lstStyle/>
          <a:p>
            <a:pPr indent="0" marL="0">
              <a:buNone/>
            </a:pPr>
            <a:r>
              <a:rPr lang="en-US" sz="1250" dirty="0">
                <a:solidFill>
                  <a:srgbClr val="1F2430"/>
                </a:solidFill>
                <a:latin typeface="Calibri" pitchFamily="34" charset="0"/>
                <a:ea typeface="Calibri" pitchFamily="34" charset="-122"/>
                <a:cs typeface="Calibri" pitchFamily="34" charset="-120"/>
              </a:rPr>
              <a:t>Phân tích dữ liệu</a:t>
            </a:r>
            <a:endParaRPr lang="en-US" sz="1250" dirty="0"/>
          </a:p>
        </p:txBody>
      </p:sp>
      <p:sp>
        <p:nvSpPr>
          <p:cNvPr id="26" name="Shape 23"/>
          <p:cNvSpPr/>
          <p:nvPr/>
        </p:nvSpPr>
        <p:spPr>
          <a:xfrm>
            <a:off x="6537960" y="4206240"/>
            <a:ext cx="0" cy="182880"/>
          </a:xfrm>
          <a:prstGeom prst="line">
            <a:avLst/>
          </a:prstGeom>
          <a:noFill/>
          <a:ln w="19050">
            <a:solidFill>
              <a:srgbClr val="D6D0C5"/>
            </a:solidFill>
            <a:prstDash val="solid"/>
          </a:ln>
        </p:spPr>
      </p:sp>
      <p:sp>
        <p:nvSpPr>
          <p:cNvPr id="27" name="Shape 24"/>
          <p:cNvSpPr/>
          <p:nvPr/>
        </p:nvSpPr>
        <p:spPr>
          <a:xfrm>
            <a:off x="6355080" y="4389120"/>
            <a:ext cx="365760" cy="365760"/>
          </a:xfrm>
          <a:prstGeom prst="ellipse">
            <a:avLst/>
          </a:prstGeom>
          <a:solidFill>
            <a:srgbClr val="FFFFFF"/>
          </a:solidFill>
          <a:ln w="19050">
            <a:solidFill>
              <a:srgbClr val="C0654A"/>
            </a:solidFill>
            <a:prstDash val="solid"/>
          </a:ln>
        </p:spPr>
      </p:sp>
      <p:sp>
        <p:nvSpPr>
          <p:cNvPr id="28" name="Text 25"/>
          <p:cNvSpPr/>
          <p:nvPr/>
        </p:nvSpPr>
        <p:spPr>
          <a:xfrm>
            <a:off x="6355080" y="4389120"/>
            <a:ext cx="365760" cy="365760"/>
          </a:xfrm>
          <a:prstGeom prst="rect">
            <a:avLst/>
          </a:prstGeom>
          <a:noFill/>
          <a:ln/>
        </p:spPr>
        <p:txBody>
          <a:bodyPr wrap="square" lIns="0" tIns="0" rIns="0" bIns="0" rtlCol="0" anchor="ctr"/>
          <a:lstStyle/>
          <a:p>
            <a:pPr algn="ctr" indent="0" marL="0">
              <a:buNone/>
            </a:pPr>
            <a:r>
              <a:rPr lang="en-US" sz="1200" b="1" dirty="0">
                <a:solidFill>
                  <a:srgbClr val="C0654A"/>
                </a:solidFill>
                <a:latin typeface="Calibri" pitchFamily="34" charset="0"/>
                <a:ea typeface="Calibri" pitchFamily="34" charset="-122"/>
                <a:cs typeface="Calibri" pitchFamily="34" charset="-120"/>
              </a:rPr>
              <a:t>5</a:t>
            </a:r>
            <a:endParaRPr lang="en-US" sz="1200" dirty="0"/>
          </a:p>
        </p:txBody>
      </p:sp>
      <p:sp>
        <p:nvSpPr>
          <p:cNvPr id="29" name="Text 26"/>
          <p:cNvSpPr/>
          <p:nvPr/>
        </p:nvSpPr>
        <p:spPr>
          <a:xfrm>
            <a:off x="6858000" y="4407408"/>
            <a:ext cx="4480560" cy="347472"/>
          </a:xfrm>
          <a:prstGeom prst="rect">
            <a:avLst/>
          </a:prstGeom>
          <a:noFill/>
          <a:ln/>
        </p:spPr>
        <p:txBody>
          <a:bodyPr wrap="square" lIns="0" tIns="0" rIns="0" bIns="0" rtlCol="0" anchor="ctr"/>
          <a:lstStyle/>
          <a:p>
            <a:pPr indent="0" marL="0">
              <a:buNone/>
            </a:pPr>
            <a:r>
              <a:rPr lang="en-US" sz="1250" dirty="0">
                <a:solidFill>
                  <a:srgbClr val="1F2430"/>
                </a:solidFill>
                <a:latin typeface="Calibri" pitchFamily="34" charset="0"/>
                <a:ea typeface="Calibri" pitchFamily="34" charset="-122"/>
                <a:cs typeface="Calibri" pitchFamily="34" charset="-120"/>
              </a:rPr>
              <a:t>Trực quan hóa</a:t>
            </a:r>
            <a:endParaRPr lang="en-US" sz="1250" dirty="0"/>
          </a:p>
        </p:txBody>
      </p:sp>
      <p:sp>
        <p:nvSpPr>
          <p:cNvPr id="30" name="Shape 27"/>
          <p:cNvSpPr/>
          <p:nvPr/>
        </p:nvSpPr>
        <p:spPr>
          <a:xfrm>
            <a:off x="6537960" y="4754880"/>
            <a:ext cx="0" cy="182880"/>
          </a:xfrm>
          <a:prstGeom prst="line">
            <a:avLst/>
          </a:prstGeom>
          <a:noFill/>
          <a:ln w="19050">
            <a:solidFill>
              <a:srgbClr val="D6D0C5"/>
            </a:solidFill>
            <a:prstDash val="solid"/>
          </a:ln>
        </p:spPr>
      </p:sp>
      <p:sp>
        <p:nvSpPr>
          <p:cNvPr id="31" name="Shape 28"/>
          <p:cNvSpPr/>
          <p:nvPr/>
        </p:nvSpPr>
        <p:spPr>
          <a:xfrm>
            <a:off x="6355080" y="4937760"/>
            <a:ext cx="365760" cy="365760"/>
          </a:xfrm>
          <a:prstGeom prst="ellipse">
            <a:avLst/>
          </a:prstGeom>
          <a:solidFill>
            <a:srgbClr val="FFFFFF"/>
          </a:solidFill>
          <a:ln w="19050">
            <a:solidFill>
              <a:srgbClr val="C0654A"/>
            </a:solidFill>
            <a:prstDash val="solid"/>
          </a:ln>
        </p:spPr>
      </p:sp>
      <p:sp>
        <p:nvSpPr>
          <p:cNvPr id="32" name="Text 29"/>
          <p:cNvSpPr/>
          <p:nvPr/>
        </p:nvSpPr>
        <p:spPr>
          <a:xfrm>
            <a:off x="6355080" y="4937760"/>
            <a:ext cx="365760" cy="365760"/>
          </a:xfrm>
          <a:prstGeom prst="rect">
            <a:avLst/>
          </a:prstGeom>
          <a:noFill/>
          <a:ln/>
        </p:spPr>
        <p:txBody>
          <a:bodyPr wrap="square" lIns="0" tIns="0" rIns="0" bIns="0" rtlCol="0" anchor="ctr"/>
          <a:lstStyle/>
          <a:p>
            <a:pPr algn="ctr" indent="0" marL="0">
              <a:buNone/>
            </a:pPr>
            <a:r>
              <a:rPr lang="en-US" sz="1200" b="1" dirty="0">
                <a:solidFill>
                  <a:srgbClr val="C0654A"/>
                </a:solidFill>
                <a:latin typeface="Calibri" pitchFamily="34" charset="0"/>
                <a:ea typeface="Calibri" pitchFamily="34" charset="-122"/>
                <a:cs typeface="Calibri" pitchFamily="34" charset="-120"/>
              </a:rPr>
              <a:t>6</a:t>
            </a:r>
            <a:endParaRPr lang="en-US" sz="1200" dirty="0"/>
          </a:p>
        </p:txBody>
      </p:sp>
      <p:sp>
        <p:nvSpPr>
          <p:cNvPr id="33" name="Text 30"/>
          <p:cNvSpPr/>
          <p:nvPr/>
        </p:nvSpPr>
        <p:spPr>
          <a:xfrm>
            <a:off x="6858000" y="4956048"/>
            <a:ext cx="4480560" cy="347472"/>
          </a:xfrm>
          <a:prstGeom prst="rect">
            <a:avLst/>
          </a:prstGeom>
          <a:noFill/>
          <a:ln/>
        </p:spPr>
        <p:txBody>
          <a:bodyPr wrap="square" lIns="0" tIns="0" rIns="0" bIns="0" rtlCol="0" anchor="ctr"/>
          <a:lstStyle/>
          <a:p>
            <a:pPr indent="0" marL="0">
              <a:buNone/>
            </a:pPr>
            <a:r>
              <a:rPr lang="en-US" sz="1250" dirty="0">
                <a:solidFill>
                  <a:srgbClr val="1F2430"/>
                </a:solidFill>
                <a:latin typeface="Calibri" pitchFamily="34" charset="0"/>
                <a:ea typeface="Calibri" pitchFamily="34" charset="-122"/>
                <a:cs typeface="Calibri" pitchFamily="34" charset="-120"/>
              </a:rPr>
              <a:t>Đánh giá kết quả</a:t>
            </a:r>
            <a:endParaRPr lang="en-US" sz="1250" dirty="0"/>
          </a:p>
        </p:txBody>
      </p:sp>
      <p:sp>
        <p:nvSpPr>
          <p:cNvPr id="34" name="Shape 31"/>
          <p:cNvSpPr/>
          <p:nvPr/>
        </p:nvSpPr>
        <p:spPr>
          <a:xfrm>
            <a:off x="6537960" y="5303520"/>
            <a:ext cx="0" cy="182880"/>
          </a:xfrm>
          <a:prstGeom prst="line">
            <a:avLst/>
          </a:prstGeom>
          <a:noFill/>
          <a:ln w="19050">
            <a:solidFill>
              <a:srgbClr val="D6D0C5"/>
            </a:solidFill>
            <a:prstDash val="solid"/>
          </a:ln>
        </p:spPr>
      </p:sp>
      <p:sp>
        <p:nvSpPr>
          <p:cNvPr id="35" name="Shape 32"/>
          <p:cNvSpPr/>
          <p:nvPr/>
        </p:nvSpPr>
        <p:spPr>
          <a:xfrm>
            <a:off x="6355080" y="5486400"/>
            <a:ext cx="365760" cy="365760"/>
          </a:xfrm>
          <a:prstGeom prst="ellipse">
            <a:avLst/>
          </a:prstGeom>
          <a:solidFill>
            <a:srgbClr val="FFFFFF"/>
          </a:solidFill>
          <a:ln w="19050">
            <a:solidFill>
              <a:srgbClr val="C0654A"/>
            </a:solidFill>
            <a:prstDash val="solid"/>
          </a:ln>
        </p:spPr>
      </p:sp>
      <p:sp>
        <p:nvSpPr>
          <p:cNvPr id="36" name="Text 33"/>
          <p:cNvSpPr/>
          <p:nvPr/>
        </p:nvSpPr>
        <p:spPr>
          <a:xfrm>
            <a:off x="6355080" y="5486400"/>
            <a:ext cx="365760" cy="365760"/>
          </a:xfrm>
          <a:prstGeom prst="rect">
            <a:avLst/>
          </a:prstGeom>
          <a:noFill/>
          <a:ln/>
        </p:spPr>
        <p:txBody>
          <a:bodyPr wrap="square" lIns="0" tIns="0" rIns="0" bIns="0" rtlCol="0" anchor="ctr"/>
          <a:lstStyle/>
          <a:p>
            <a:pPr algn="ctr" indent="0" marL="0">
              <a:buNone/>
            </a:pPr>
            <a:r>
              <a:rPr lang="en-US" sz="1200" b="1" dirty="0">
                <a:solidFill>
                  <a:srgbClr val="C0654A"/>
                </a:solidFill>
                <a:latin typeface="Calibri" pitchFamily="34" charset="0"/>
                <a:ea typeface="Calibri" pitchFamily="34" charset="-122"/>
                <a:cs typeface="Calibri" pitchFamily="34" charset="-120"/>
              </a:rPr>
              <a:t>7</a:t>
            </a:r>
            <a:endParaRPr lang="en-US" sz="1200" dirty="0"/>
          </a:p>
        </p:txBody>
      </p:sp>
      <p:sp>
        <p:nvSpPr>
          <p:cNvPr id="37" name="Text 34"/>
          <p:cNvSpPr/>
          <p:nvPr/>
        </p:nvSpPr>
        <p:spPr>
          <a:xfrm>
            <a:off x="6858000" y="5504688"/>
            <a:ext cx="4480560" cy="347472"/>
          </a:xfrm>
          <a:prstGeom prst="rect">
            <a:avLst/>
          </a:prstGeom>
          <a:noFill/>
          <a:ln/>
        </p:spPr>
        <p:txBody>
          <a:bodyPr wrap="square" lIns="0" tIns="0" rIns="0" bIns="0" rtlCol="0" anchor="ctr"/>
          <a:lstStyle/>
          <a:p>
            <a:pPr indent="0" marL="0">
              <a:buNone/>
            </a:pPr>
            <a:r>
              <a:rPr lang="en-US" sz="1250" dirty="0">
                <a:solidFill>
                  <a:srgbClr val="1F2430"/>
                </a:solidFill>
                <a:latin typeface="Calibri" pitchFamily="34" charset="0"/>
                <a:ea typeface="Calibri" pitchFamily="34" charset="-122"/>
                <a:cs typeface="Calibri" pitchFamily="34" charset="-120"/>
              </a:rPr>
              <a:t>Kết luận &amp; đề xuất</a:t>
            </a:r>
            <a:endParaRPr lang="en-US" sz="1250" dirty="0"/>
          </a:p>
        </p:txBody>
      </p:sp>
      <p:sp>
        <p:nvSpPr>
          <p:cNvPr id="38" name="Text 3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CHƯƠNG 2 · CƠ SỞ LÝ THUYẾT</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Công cụ và thư viện sử dụng</a:t>
            </a:r>
            <a:endParaRPr lang="en-US" sz="3000" dirty="0"/>
          </a:p>
        </p:txBody>
      </p:sp>
      <p:sp>
        <p:nvSpPr>
          <p:cNvPr id="4" name="Shape 2"/>
          <p:cNvSpPr/>
          <p:nvPr/>
        </p:nvSpPr>
        <p:spPr>
          <a:xfrm>
            <a:off x="548640" y="1783080"/>
            <a:ext cx="5394960" cy="2084832"/>
          </a:xfrm>
          <a:prstGeom prst="roundRect">
            <a:avLst>
              <a:gd name="adj" fmla="val 3509"/>
            </a:avLst>
          </a:prstGeom>
          <a:solidFill>
            <a:srgbClr val="FFFFFF"/>
          </a:solidFill>
          <a:ln/>
          <a:effectLst>
            <a:outerShdw sx="100000" sy="100000" kx="0" ky="0" algn="bl" rotWithShape="0" blurRad="88900" dist="25400" dir="5400000">
              <a:srgbClr val="000000">
                <a:alpha val="8000"/>
              </a:srgbClr>
            </a:outerShdw>
          </a:effectLst>
        </p:spPr>
      </p:sp>
      <p:sp>
        <p:nvSpPr>
          <p:cNvPr id="5" name="Shape 3"/>
          <p:cNvSpPr/>
          <p:nvPr/>
        </p:nvSpPr>
        <p:spPr>
          <a:xfrm>
            <a:off x="548640" y="1783080"/>
            <a:ext cx="54864" cy="2084832"/>
          </a:xfrm>
          <a:prstGeom prst="rect">
            <a:avLst/>
          </a:prstGeom>
          <a:solidFill>
            <a:srgbClr val="F0EAE0"/>
          </a:solidFill>
          <a:ln/>
        </p:spPr>
      </p:sp>
      <p:sp>
        <p:nvSpPr>
          <p:cNvPr id="6" name="Text 4"/>
          <p:cNvSpPr/>
          <p:nvPr/>
        </p:nvSpPr>
        <p:spPr>
          <a:xfrm>
            <a:off x="868680" y="2039112"/>
            <a:ext cx="4754880" cy="411480"/>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Python</a:t>
            </a:r>
            <a:endParaRPr lang="en-US" sz="1700" dirty="0"/>
          </a:p>
        </p:txBody>
      </p:sp>
      <p:sp>
        <p:nvSpPr>
          <p:cNvPr id="7" name="Text 5"/>
          <p:cNvSpPr/>
          <p:nvPr/>
        </p:nvSpPr>
        <p:spPr>
          <a:xfrm>
            <a:off x="868680" y="2560320"/>
            <a:ext cx="4754880" cy="1143000"/>
          </a:xfrm>
          <a:prstGeom prst="rect">
            <a:avLst/>
          </a:prstGeom>
          <a:noFill/>
          <a:ln/>
        </p:spPr>
        <p:txBody>
          <a:bodyPr wrap="square" lIns="0" tIns="0" rIns="0" bIns="0" rtlCol="0" anchor="ctr"/>
          <a:lstStyle/>
          <a:p>
            <a:pPr indent="0" marL="0">
              <a:lnSpc>
                <a:spcPts val="1800"/>
              </a:lnSpc>
              <a:buNone/>
            </a:pPr>
            <a:r>
              <a:rPr lang="en-US" sz="1250" dirty="0">
                <a:solidFill>
                  <a:srgbClr val="5B6B85"/>
                </a:solidFill>
                <a:latin typeface="Calibri" pitchFamily="34" charset="0"/>
                <a:ea typeface="Calibri" pitchFamily="34" charset="-122"/>
                <a:cs typeface="Calibri" pitchFamily="34" charset="-120"/>
              </a:rPr>
              <a:t>Ngôn ngữ lập trình nền tảng, cú pháp rõ ràng, hệ sinh thái thư viện toán/thống kê phong phú.</a:t>
            </a:r>
            <a:endParaRPr lang="en-US" sz="1250" dirty="0"/>
          </a:p>
        </p:txBody>
      </p:sp>
      <p:sp>
        <p:nvSpPr>
          <p:cNvPr id="8" name="Shape 6"/>
          <p:cNvSpPr/>
          <p:nvPr/>
        </p:nvSpPr>
        <p:spPr>
          <a:xfrm>
            <a:off x="6217920" y="1783080"/>
            <a:ext cx="5394960" cy="2084832"/>
          </a:xfrm>
          <a:prstGeom prst="roundRect">
            <a:avLst>
              <a:gd name="adj" fmla="val 3509"/>
            </a:avLst>
          </a:prstGeom>
          <a:solidFill>
            <a:srgbClr val="FFFFFF"/>
          </a:solidFill>
          <a:ln/>
          <a:effectLst>
            <a:outerShdw sx="100000" sy="100000" kx="0" ky="0" algn="bl" rotWithShape="0" blurRad="88900" dist="25400" dir="5400000">
              <a:srgbClr val="000000">
                <a:alpha val="8000"/>
              </a:srgbClr>
            </a:outerShdw>
          </a:effectLst>
        </p:spPr>
      </p:sp>
      <p:sp>
        <p:nvSpPr>
          <p:cNvPr id="9" name="Shape 7"/>
          <p:cNvSpPr/>
          <p:nvPr/>
        </p:nvSpPr>
        <p:spPr>
          <a:xfrm>
            <a:off x="6217920" y="1783080"/>
            <a:ext cx="54864" cy="2084832"/>
          </a:xfrm>
          <a:prstGeom prst="rect">
            <a:avLst/>
          </a:prstGeom>
          <a:solidFill>
            <a:srgbClr val="F0EAE0"/>
          </a:solidFill>
          <a:ln/>
        </p:spPr>
      </p:sp>
      <p:sp>
        <p:nvSpPr>
          <p:cNvPr id="10" name="Text 8"/>
          <p:cNvSpPr/>
          <p:nvPr/>
        </p:nvSpPr>
        <p:spPr>
          <a:xfrm>
            <a:off x="6537960" y="2039112"/>
            <a:ext cx="4754880" cy="411480"/>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Pandas</a:t>
            </a:r>
            <a:endParaRPr lang="en-US" sz="1700" dirty="0"/>
          </a:p>
        </p:txBody>
      </p:sp>
      <p:sp>
        <p:nvSpPr>
          <p:cNvPr id="11" name="Text 9"/>
          <p:cNvSpPr/>
          <p:nvPr/>
        </p:nvSpPr>
        <p:spPr>
          <a:xfrm>
            <a:off x="6537960" y="2560320"/>
            <a:ext cx="4754880" cy="1143000"/>
          </a:xfrm>
          <a:prstGeom prst="rect">
            <a:avLst/>
          </a:prstGeom>
          <a:noFill/>
          <a:ln/>
        </p:spPr>
        <p:txBody>
          <a:bodyPr wrap="square" lIns="0" tIns="0" rIns="0" bIns="0" rtlCol="0" anchor="ctr"/>
          <a:lstStyle/>
          <a:p>
            <a:pPr indent="0" marL="0">
              <a:lnSpc>
                <a:spcPts val="1800"/>
              </a:lnSpc>
              <a:buNone/>
            </a:pPr>
            <a:r>
              <a:rPr lang="en-US" sz="1250" dirty="0">
                <a:solidFill>
                  <a:srgbClr val="5B6B85"/>
                </a:solidFill>
                <a:latin typeface="Calibri" pitchFamily="34" charset="0"/>
                <a:ea typeface="Calibri" pitchFamily="34" charset="-122"/>
                <a:cs typeface="Calibri" pitchFamily="34" charset="-120"/>
              </a:rPr>
              <a:t>Nạp, làm sạch, biến đổi dữ liệu dạng bảng (DataFrame); groupby, mean(), dropna().</a:t>
            </a:r>
            <a:endParaRPr lang="en-US" sz="1250" dirty="0"/>
          </a:p>
        </p:txBody>
      </p:sp>
      <p:sp>
        <p:nvSpPr>
          <p:cNvPr id="12" name="Shape 10"/>
          <p:cNvSpPr/>
          <p:nvPr/>
        </p:nvSpPr>
        <p:spPr>
          <a:xfrm>
            <a:off x="548640" y="4123944"/>
            <a:ext cx="5394960" cy="2084832"/>
          </a:xfrm>
          <a:prstGeom prst="roundRect">
            <a:avLst>
              <a:gd name="adj" fmla="val 3509"/>
            </a:avLst>
          </a:prstGeom>
          <a:solidFill>
            <a:srgbClr val="FFFFFF"/>
          </a:solidFill>
          <a:ln/>
          <a:effectLst>
            <a:outerShdw sx="100000" sy="100000" kx="0" ky="0" algn="bl" rotWithShape="0" blurRad="88900" dist="25400" dir="5400000">
              <a:srgbClr val="000000">
                <a:alpha val="8000"/>
              </a:srgbClr>
            </a:outerShdw>
          </a:effectLst>
        </p:spPr>
      </p:sp>
      <p:sp>
        <p:nvSpPr>
          <p:cNvPr id="13" name="Shape 11"/>
          <p:cNvSpPr/>
          <p:nvPr/>
        </p:nvSpPr>
        <p:spPr>
          <a:xfrm>
            <a:off x="548640" y="4123944"/>
            <a:ext cx="54864" cy="2084832"/>
          </a:xfrm>
          <a:prstGeom prst="rect">
            <a:avLst/>
          </a:prstGeom>
          <a:solidFill>
            <a:srgbClr val="F0EAE0"/>
          </a:solidFill>
          <a:ln/>
        </p:spPr>
      </p:sp>
      <p:sp>
        <p:nvSpPr>
          <p:cNvPr id="14" name="Text 12"/>
          <p:cNvSpPr/>
          <p:nvPr/>
        </p:nvSpPr>
        <p:spPr>
          <a:xfrm>
            <a:off x="868680" y="4379976"/>
            <a:ext cx="4754880" cy="411480"/>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Matplotlib &amp; Seaborn</a:t>
            </a:r>
            <a:endParaRPr lang="en-US" sz="1700" dirty="0"/>
          </a:p>
        </p:txBody>
      </p:sp>
      <p:sp>
        <p:nvSpPr>
          <p:cNvPr id="15" name="Text 13"/>
          <p:cNvSpPr/>
          <p:nvPr/>
        </p:nvSpPr>
        <p:spPr>
          <a:xfrm>
            <a:off x="868680" y="4901184"/>
            <a:ext cx="4754880" cy="1143000"/>
          </a:xfrm>
          <a:prstGeom prst="rect">
            <a:avLst/>
          </a:prstGeom>
          <a:noFill/>
          <a:ln/>
        </p:spPr>
        <p:txBody>
          <a:bodyPr wrap="square" lIns="0" tIns="0" rIns="0" bIns="0" rtlCol="0" anchor="ctr"/>
          <a:lstStyle/>
          <a:p>
            <a:pPr indent="0" marL="0">
              <a:lnSpc>
                <a:spcPts val="1800"/>
              </a:lnSpc>
              <a:buNone/>
            </a:pPr>
            <a:r>
              <a:rPr lang="en-US" sz="1250" dirty="0">
                <a:solidFill>
                  <a:srgbClr val="5B6B85"/>
                </a:solidFill>
                <a:latin typeface="Calibri" pitchFamily="34" charset="0"/>
                <a:ea typeface="Calibri" pitchFamily="34" charset="-122"/>
                <a:cs typeface="Calibri" pitchFamily="34" charset="-120"/>
              </a:rPr>
              <a:t>Trực quan hóa: scatter plot, bar chart, heatmap tương quan.</a:t>
            </a:r>
            <a:endParaRPr lang="en-US" sz="1250" dirty="0"/>
          </a:p>
        </p:txBody>
      </p:sp>
      <p:sp>
        <p:nvSpPr>
          <p:cNvPr id="16" name="Shape 14"/>
          <p:cNvSpPr/>
          <p:nvPr/>
        </p:nvSpPr>
        <p:spPr>
          <a:xfrm>
            <a:off x="6217920" y="4123944"/>
            <a:ext cx="5394960" cy="2084832"/>
          </a:xfrm>
          <a:prstGeom prst="roundRect">
            <a:avLst>
              <a:gd name="adj" fmla="val 3509"/>
            </a:avLst>
          </a:prstGeom>
          <a:solidFill>
            <a:srgbClr val="FFFFFF"/>
          </a:solidFill>
          <a:ln/>
          <a:effectLst>
            <a:outerShdw sx="100000" sy="100000" kx="0" ky="0" algn="bl" rotWithShape="0" blurRad="88900" dist="25400" dir="5400000">
              <a:srgbClr val="000000">
                <a:alpha val="8000"/>
              </a:srgbClr>
            </a:outerShdw>
          </a:effectLst>
        </p:spPr>
      </p:sp>
      <p:sp>
        <p:nvSpPr>
          <p:cNvPr id="17" name="Shape 15"/>
          <p:cNvSpPr/>
          <p:nvPr/>
        </p:nvSpPr>
        <p:spPr>
          <a:xfrm>
            <a:off x="6217920" y="4123944"/>
            <a:ext cx="54864" cy="2084832"/>
          </a:xfrm>
          <a:prstGeom prst="rect">
            <a:avLst/>
          </a:prstGeom>
          <a:solidFill>
            <a:srgbClr val="F0EAE0"/>
          </a:solidFill>
          <a:ln/>
        </p:spPr>
      </p:sp>
      <p:sp>
        <p:nvSpPr>
          <p:cNvPr id="18" name="Text 16"/>
          <p:cNvSpPr/>
          <p:nvPr/>
        </p:nvSpPr>
        <p:spPr>
          <a:xfrm>
            <a:off x="6537960" y="4379976"/>
            <a:ext cx="4754880" cy="411480"/>
          </a:xfrm>
          <a:prstGeom prst="rect">
            <a:avLst/>
          </a:prstGeom>
          <a:noFill/>
          <a:ln/>
        </p:spPr>
        <p:txBody>
          <a:bodyPr wrap="square" lIns="0" tIns="0" rIns="0" bIns="0" rtlCol="0" anchor="ctr"/>
          <a:lstStyle/>
          <a:p>
            <a:pPr indent="0" marL="0">
              <a:buNone/>
            </a:pPr>
            <a:r>
              <a:rPr lang="en-US" sz="1700" b="1" dirty="0">
                <a:solidFill>
                  <a:srgbClr val="1B2A4A"/>
                </a:solidFill>
                <a:latin typeface="Cambria" pitchFamily="34" charset="0"/>
                <a:ea typeface="Cambria" pitchFamily="34" charset="-122"/>
                <a:cs typeface="Cambria" pitchFamily="34" charset="-120"/>
              </a:rPr>
              <a:t>Scikit-learn</a:t>
            </a:r>
            <a:endParaRPr lang="en-US" sz="1700" dirty="0"/>
          </a:p>
        </p:txBody>
      </p:sp>
      <p:sp>
        <p:nvSpPr>
          <p:cNvPr id="19" name="Text 17"/>
          <p:cNvSpPr/>
          <p:nvPr/>
        </p:nvSpPr>
        <p:spPr>
          <a:xfrm>
            <a:off x="6537960" y="4901184"/>
            <a:ext cx="4754880" cy="1143000"/>
          </a:xfrm>
          <a:prstGeom prst="rect">
            <a:avLst/>
          </a:prstGeom>
          <a:noFill/>
          <a:ln/>
        </p:spPr>
        <p:txBody>
          <a:bodyPr wrap="square" lIns="0" tIns="0" rIns="0" bIns="0" rtlCol="0" anchor="ctr"/>
          <a:lstStyle/>
          <a:p>
            <a:pPr indent="0" marL="0">
              <a:lnSpc>
                <a:spcPts val="1800"/>
              </a:lnSpc>
              <a:buNone/>
            </a:pPr>
            <a:r>
              <a:rPr lang="en-US" sz="1250" dirty="0">
                <a:solidFill>
                  <a:srgbClr val="5B6B85"/>
                </a:solidFill>
                <a:latin typeface="Calibri" pitchFamily="34" charset="0"/>
                <a:ea typeface="Calibri" pitchFamily="34" charset="-122"/>
                <a:cs typeface="Calibri" pitchFamily="34" charset="-120"/>
              </a:rPr>
              <a:t>LabelEncoder mã hóa biến định tính; train_test_split chia tập huấn luyện/kiểm thử.</a:t>
            </a:r>
            <a:endParaRPr lang="en-US" sz="1250" dirty="0"/>
          </a:p>
        </p:txBody>
      </p:sp>
      <p:sp>
        <p:nvSpPr>
          <p:cNvPr id="20" name="Text 1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CHƯƠNG 2 · CƠ SỞ LÝ THUYẾT</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Thuật toán hồi quy &amp; Hệ số tương quan Pearson</a:t>
            </a:r>
            <a:endParaRPr lang="en-US" sz="3000" dirty="0"/>
          </a:p>
        </p:txBody>
      </p:sp>
      <p:sp>
        <p:nvSpPr>
          <p:cNvPr id="4" name="Shape 2"/>
          <p:cNvSpPr/>
          <p:nvPr/>
        </p:nvSpPr>
        <p:spPr>
          <a:xfrm>
            <a:off x="548640" y="1737360"/>
            <a:ext cx="3520440" cy="1874520"/>
          </a:xfrm>
          <a:prstGeom prst="roundRect">
            <a:avLst>
              <a:gd name="adj" fmla="val 3902"/>
            </a:avLst>
          </a:prstGeom>
          <a:solidFill>
            <a:srgbClr val="1B2A4A"/>
          </a:solidFill>
          <a:ln/>
          <a:effectLst>
            <a:outerShdw sx="100000" sy="100000" kx="0" ky="0" algn="bl" rotWithShape="0" blurRad="101600" dist="25400" dir="5400000">
              <a:srgbClr val="000000">
                <a:alpha val="15000"/>
              </a:srgbClr>
            </a:outerShdw>
          </a:effectLst>
        </p:spPr>
      </p:sp>
      <p:sp>
        <p:nvSpPr>
          <p:cNvPr id="5" name="Text 3"/>
          <p:cNvSpPr/>
          <p:nvPr/>
        </p:nvSpPr>
        <p:spPr>
          <a:xfrm>
            <a:off x="777240" y="1920240"/>
            <a:ext cx="3063240" cy="411480"/>
          </a:xfrm>
          <a:prstGeom prst="rect">
            <a:avLst/>
          </a:prstGeom>
          <a:noFill/>
          <a:ln/>
        </p:spPr>
        <p:txBody>
          <a:bodyPr wrap="square" lIns="0" tIns="0" rIns="0" bIns="0" rtlCol="0" anchor="ctr"/>
          <a:lstStyle/>
          <a:p>
            <a:pPr indent="0" marL="0">
              <a:buNone/>
            </a:pPr>
            <a:r>
              <a:rPr lang="en-US" sz="1450" b="1" dirty="0">
                <a:solidFill>
                  <a:srgbClr val="C0654A"/>
                </a:solidFill>
                <a:latin typeface="Cambria" pitchFamily="34" charset="0"/>
                <a:ea typeface="Cambria" pitchFamily="34" charset="-122"/>
                <a:cs typeface="Cambria" pitchFamily="34" charset="-120"/>
              </a:rPr>
              <a:t>Linear Regression</a:t>
            </a:r>
            <a:endParaRPr lang="en-US" sz="1450" dirty="0"/>
          </a:p>
        </p:txBody>
      </p:sp>
      <p:sp>
        <p:nvSpPr>
          <p:cNvPr id="6" name="Text 4"/>
          <p:cNvSpPr/>
          <p:nvPr/>
        </p:nvSpPr>
        <p:spPr>
          <a:xfrm>
            <a:off x="777240" y="2359152"/>
            <a:ext cx="3063240" cy="1143000"/>
          </a:xfrm>
          <a:prstGeom prst="rect">
            <a:avLst/>
          </a:prstGeom>
          <a:noFill/>
          <a:ln/>
        </p:spPr>
        <p:txBody>
          <a:bodyPr wrap="square" lIns="0" tIns="0" rIns="0" bIns="0" rtlCol="0" anchor="ctr"/>
          <a:lstStyle/>
          <a:p>
            <a:pPr indent="0" marL="0">
              <a:lnSpc>
                <a:spcPts val="1500"/>
              </a:lnSpc>
              <a:buNone/>
            </a:pPr>
            <a:r>
              <a:rPr lang="en-US" sz="1100" dirty="0">
                <a:solidFill>
                  <a:srgbClr val="E8ECF7"/>
                </a:solidFill>
                <a:latin typeface="Calibri" pitchFamily="34" charset="0"/>
                <a:ea typeface="Calibri" pitchFamily="34" charset="-122"/>
                <a:cs typeface="Calibri" pitchFamily="34" charset="-120"/>
              </a:rPr>
              <a:t>Quan hệ tuyến tính giữa biến đầu vào và giá bán — mô hình nền tảng (baseline).</a:t>
            </a:r>
            <a:endParaRPr lang="en-US" sz="1100" dirty="0"/>
          </a:p>
        </p:txBody>
      </p:sp>
      <p:sp>
        <p:nvSpPr>
          <p:cNvPr id="7" name="Shape 5"/>
          <p:cNvSpPr/>
          <p:nvPr/>
        </p:nvSpPr>
        <p:spPr>
          <a:xfrm>
            <a:off x="4343400" y="1737360"/>
            <a:ext cx="3520440" cy="1874520"/>
          </a:xfrm>
          <a:prstGeom prst="roundRect">
            <a:avLst>
              <a:gd name="adj" fmla="val 3902"/>
            </a:avLst>
          </a:prstGeom>
          <a:solidFill>
            <a:srgbClr val="1B2A4A"/>
          </a:solidFill>
          <a:ln/>
          <a:effectLst>
            <a:outerShdw sx="100000" sy="100000" kx="0" ky="0" algn="bl" rotWithShape="0" blurRad="101600" dist="25400" dir="5400000">
              <a:srgbClr val="000000">
                <a:alpha val="15000"/>
              </a:srgbClr>
            </a:outerShdw>
          </a:effectLst>
        </p:spPr>
      </p:sp>
      <p:sp>
        <p:nvSpPr>
          <p:cNvPr id="8" name="Text 6"/>
          <p:cNvSpPr/>
          <p:nvPr/>
        </p:nvSpPr>
        <p:spPr>
          <a:xfrm>
            <a:off x="4572000" y="1920240"/>
            <a:ext cx="3063240" cy="411480"/>
          </a:xfrm>
          <a:prstGeom prst="rect">
            <a:avLst/>
          </a:prstGeom>
          <a:noFill/>
          <a:ln/>
        </p:spPr>
        <p:txBody>
          <a:bodyPr wrap="square" lIns="0" tIns="0" rIns="0" bIns="0" rtlCol="0" anchor="ctr"/>
          <a:lstStyle/>
          <a:p>
            <a:pPr indent="0" marL="0">
              <a:buNone/>
            </a:pPr>
            <a:r>
              <a:rPr lang="en-US" sz="1450" b="1" dirty="0">
                <a:solidFill>
                  <a:srgbClr val="C0654A"/>
                </a:solidFill>
                <a:latin typeface="Cambria" pitchFamily="34" charset="0"/>
                <a:ea typeface="Cambria" pitchFamily="34" charset="-122"/>
                <a:cs typeface="Cambria" pitchFamily="34" charset="-120"/>
              </a:rPr>
              <a:t>Random Forest</a:t>
            </a:r>
            <a:endParaRPr lang="en-US" sz="1450" dirty="0"/>
          </a:p>
        </p:txBody>
      </p:sp>
      <p:sp>
        <p:nvSpPr>
          <p:cNvPr id="9" name="Text 7"/>
          <p:cNvSpPr/>
          <p:nvPr/>
        </p:nvSpPr>
        <p:spPr>
          <a:xfrm>
            <a:off x="4572000" y="2359152"/>
            <a:ext cx="3063240" cy="1143000"/>
          </a:xfrm>
          <a:prstGeom prst="rect">
            <a:avLst/>
          </a:prstGeom>
          <a:noFill/>
          <a:ln/>
        </p:spPr>
        <p:txBody>
          <a:bodyPr wrap="square" lIns="0" tIns="0" rIns="0" bIns="0" rtlCol="0" anchor="ctr"/>
          <a:lstStyle/>
          <a:p>
            <a:pPr indent="0" marL="0">
              <a:lnSpc>
                <a:spcPts val="1500"/>
              </a:lnSpc>
              <a:buNone/>
            </a:pPr>
            <a:r>
              <a:rPr lang="en-US" sz="1100" dirty="0">
                <a:solidFill>
                  <a:srgbClr val="E8ECF7"/>
                </a:solidFill>
                <a:latin typeface="Calibri" pitchFamily="34" charset="0"/>
                <a:ea typeface="Calibri" pitchFamily="34" charset="-122"/>
                <a:cs typeface="Calibri" pitchFamily="34" charset="-120"/>
              </a:rPr>
              <a:t>Ensemble nhiều cây quyết định, lấy trung bình dự đoán — giảm overfitting.</a:t>
            </a:r>
            <a:endParaRPr lang="en-US" sz="1100" dirty="0"/>
          </a:p>
        </p:txBody>
      </p:sp>
      <p:sp>
        <p:nvSpPr>
          <p:cNvPr id="10" name="Shape 8"/>
          <p:cNvSpPr/>
          <p:nvPr/>
        </p:nvSpPr>
        <p:spPr>
          <a:xfrm>
            <a:off x="8138160" y="1737360"/>
            <a:ext cx="3520440" cy="1874520"/>
          </a:xfrm>
          <a:prstGeom prst="roundRect">
            <a:avLst>
              <a:gd name="adj" fmla="val 3902"/>
            </a:avLst>
          </a:prstGeom>
          <a:solidFill>
            <a:srgbClr val="1B2A4A"/>
          </a:solidFill>
          <a:ln/>
          <a:effectLst>
            <a:outerShdw sx="100000" sy="100000" kx="0" ky="0" algn="bl" rotWithShape="0" blurRad="101600" dist="25400" dir="5400000">
              <a:srgbClr val="000000">
                <a:alpha val="15000"/>
              </a:srgbClr>
            </a:outerShdw>
          </a:effectLst>
        </p:spPr>
      </p:sp>
      <p:sp>
        <p:nvSpPr>
          <p:cNvPr id="11" name="Text 9"/>
          <p:cNvSpPr/>
          <p:nvPr/>
        </p:nvSpPr>
        <p:spPr>
          <a:xfrm>
            <a:off x="8366760" y="1920240"/>
            <a:ext cx="3063240" cy="411480"/>
          </a:xfrm>
          <a:prstGeom prst="rect">
            <a:avLst/>
          </a:prstGeom>
          <a:noFill/>
          <a:ln/>
        </p:spPr>
        <p:txBody>
          <a:bodyPr wrap="square" lIns="0" tIns="0" rIns="0" bIns="0" rtlCol="0" anchor="ctr"/>
          <a:lstStyle/>
          <a:p>
            <a:pPr indent="0" marL="0">
              <a:buNone/>
            </a:pPr>
            <a:r>
              <a:rPr lang="en-US" sz="1450" b="1" dirty="0">
                <a:solidFill>
                  <a:srgbClr val="C0654A"/>
                </a:solidFill>
                <a:latin typeface="Cambria" pitchFamily="34" charset="0"/>
                <a:ea typeface="Cambria" pitchFamily="34" charset="-122"/>
                <a:cs typeface="Cambria" pitchFamily="34" charset="-120"/>
              </a:rPr>
              <a:t>XGBoost Regressor</a:t>
            </a:r>
            <a:endParaRPr lang="en-US" sz="1450" dirty="0"/>
          </a:p>
        </p:txBody>
      </p:sp>
      <p:sp>
        <p:nvSpPr>
          <p:cNvPr id="12" name="Text 10"/>
          <p:cNvSpPr/>
          <p:nvPr/>
        </p:nvSpPr>
        <p:spPr>
          <a:xfrm>
            <a:off x="8366760" y="2359152"/>
            <a:ext cx="3063240" cy="1143000"/>
          </a:xfrm>
          <a:prstGeom prst="rect">
            <a:avLst/>
          </a:prstGeom>
          <a:noFill/>
          <a:ln/>
        </p:spPr>
        <p:txBody>
          <a:bodyPr wrap="square" lIns="0" tIns="0" rIns="0" bIns="0" rtlCol="0" anchor="ctr"/>
          <a:lstStyle/>
          <a:p>
            <a:pPr indent="0" marL="0">
              <a:lnSpc>
                <a:spcPts val="1500"/>
              </a:lnSpc>
              <a:buNone/>
            </a:pPr>
            <a:r>
              <a:rPr lang="en-US" sz="1100" dirty="0">
                <a:solidFill>
                  <a:srgbClr val="E8ECF7"/>
                </a:solidFill>
                <a:latin typeface="Calibri" pitchFamily="34" charset="0"/>
                <a:ea typeface="Calibri" pitchFamily="34" charset="-122"/>
                <a:cs typeface="Calibri" pitchFamily="34" charset="-120"/>
              </a:rPr>
              <a:t>Gradient Boosting tuần tự, sửa sai liên tục — hiệu năng vượt trội trên dữ liệu bảng.</a:t>
            </a:r>
            <a:endParaRPr lang="en-US" sz="1100" dirty="0"/>
          </a:p>
        </p:txBody>
      </p:sp>
      <p:sp>
        <p:nvSpPr>
          <p:cNvPr id="13" name="Text 11"/>
          <p:cNvSpPr/>
          <p:nvPr/>
        </p:nvSpPr>
        <p:spPr>
          <a:xfrm>
            <a:off x="548640" y="3840480"/>
            <a:ext cx="5486400" cy="365760"/>
          </a:xfrm>
          <a:prstGeom prst="rect">
            <a:avLst/>
          </a:prstGeom>
          <a:noFill/>
          <a:ln/>
        </p:spPr>
        <p:txBody>
          <a:bodyPr wrap="square" lIns="0" tIns="0" rIns="0" bIns="0" rtlCol="0" anchor="ctr"/>
          <a:lstStyle/>
          <a:p>
            <a:pPr indent="0" marL="0">
              <a:buNone/>
            </a:pPr>
            <a:r>
              <a:rPr lang="en-US" sz="1550" b="1" dirty="0">
                <a:solidFill>
                  <a:srgbClr val="1B2A4A"/>
                </a:solidFill>
                <a:latin typeface="Cambria" pitchFamily="34" charset="0"/>
                <a:ea typeface="Cambria" pitchFamily="34" charset="-122"/>
                <a:cs typeface="Cambria" pitchFamily="34" charset="-120"/>
              </a:rPr>
              <a:t>Hệ số tương quan Pearson (r)</a:t>
            </a:r>
            <a:endParaRPr lang="en-US" sz="1550" dirty="0"/>
          </a:p>
        </p:txBody>
      </p:sp>
      <p:sp>
        <p:nvSpPr>
          <p:cNvPr id="14" name="Shape 12"/>
          <p:cNvSpPr/>
          <p:nvPr/>
        </p:nvSpPr>
        <p:spPr>
          <a:xfrm>
            <a:off x="548640" y="4251960"/>
            <a:ext cx="5440680" cy="1874520"/>
          </a:xfrm>
          <a:prstGeom prst="roundRect">
            <a:avLst>
              <a:gd name="adj" fmla="val 3902"/>
            </a:avLst>
          </a:prstGeom>
          <a:solidFill>
            <a:srgbClr val="FFFFFF"/>
          </a:solidFill>
          <a:ln/>
          <a:effectLst>
            <a:outerShdw sx="100000" sy="100000" kx="0" ky="0" algn="bl" rotWithShape="0" blurRad="88900" dist="25400" dir="5400000">
              <a:srgbClr val="000000">
                <a:alpha val="8000"/>
              </a:srgbClr>
            </a:outerShdw>
          </a:effectLst>
        </p:spPr>
      </p:sp>
      <p:sp>
        <p:nvSpPr>
          <p:cNvPr id="15" name="Text 13"/>
          <p:cNvSpPr/>
          <p:nvPr/>
        </p:nvSpPr>
        <p:spPr>
          <a:xfrm>
            <a:off x="868680" y="4434840"/>
            <a:ext cx="4846320" cy="457200"/>
          </a:xfrm>
          <a:prstGeom prst="rect">
            <a:avLst/>
          </a:prstGeom>
          <a:noFill/>
          <a:ln/>
        </p:spPr>
        <p:txBody>
          <a:bodyPr wrap="square" lIns="0" tIns="0" rIns="0" bIns="0" rtlCol="0" anchor="ctr"/>
          <a:lstStyle/>
          <a:p>
            <a:pPr indent="0" marL="0">
              <a:buNone/>
            </a:pPr>
            <a:r>
              <a:rPr lang="en-US" sz="1800" b="1" i="1" dirty="0">
                <a:solidFill>
                  <a:srgbClr val="1B2A4A"/>
                </a:solidFill>
                <a:latin typeface="Cambria" pitchFamily="34" charset="0"/>
                <a:ea typeface="Cambria" pitchFamily="34" charset="-122"/>
                <a:cs typeface="Cambria" pitchFamily="34" charset="-120"/>
              </a:rPr>
              <a:t>r = Cov(X, Y) / (σX × σY)</a:t>
            </a:r>
            <a:endParaRPr lang="en-US" sz="1800" dirty="0"/>
          </a:p>
        </p:txBody>
      </p:sp>
      <p:sp>
        <p:nvSpPr>
          <p:cNvPr id="16" name="Text 14"/>
          <p:cNvSpPr/>
          <p:nvPr/>
        </p:nvSpPr>
        <p:spPr>
          <a:xfrm>
            <a:off x="868680" y="4937760"/>
            <a:ext cx="4846320" cy="502920"/>
          </a:xfrm>
          <a:prstGeom prst="rect">
            <a:avLst/>
          </a:prstGeom>
          <a:noFill/>
          <a:ln/>
        </p:spPr>
        <p:txBody>
          <a:bodyPr wrap="square" lIns="0" tIns="0" rIns="0" bIns="0" rtlCol="0" anchor="ctr"/>
          <a:lstStyle/>
          <a:p>
            <a:pPr indent="0" marL="0">
              <a:lnSpc>
                <a:spcPts val="1500"/>
              </a:lnSpc>
              <a:buNone/>
            </a:pPr>
            <a:r>
              <a:rPr lang="en-US" sz="1150" dirty="0">
                <a:solidFill>
                  <a:srgbClr val="5B6B85"/>
                </a:solidFill>
                <a:latin typeface="Calibri" pitchFamily="34" charset="0"/>
                <a:ea typeface="Calibri" pitchFamily="34" charset="-122"/>
                <a:cs typeface="Calibri" pitchFamily="34" charset="-120"/>
              </a:rPr>
              <a:t>Đo mức tương quan tuyến tính giữa Diện tích / Số phòng ngủ (X) và Giá bán (Y).</a:t>
            </a:r>
            <a:endParaRPr lang="en-US" sz="1150" dirty="0"/>
          </a:p>
        </p:txBody>
      </p:sp>
      <p:sp>
        <p:nvSpPr>
          <p:cNvPr id="17" name="Text 15"/>
          <p:cNvSpPr/>
          <p:nvPr/>
        </p:nvSpPr>
        <p:spPr>
          <a:xfrm>
            <a:off x="868680" y="5486400"/>
            <a:ext cx="4846320" cy="457200"/>
          </a:xfrm>
          <a:prstGeom prst="rect">
            <a:avLst/>
          </a:prstGeom>
          <a:noFill/>
          <a:ln/>
        </p:spPr>
        <p:txBody>
          <a:bodyPr wrap="square" lIns="0" tIns="0" rIns="0" bIns="0" rtlCol="0" anchor="ctr"/>
          <a:lstStyle/>
          <a:p>
            <a:pPr indent="0" marL="0">
              <a:buNone/>
            </a:pPr>
            <a:r>
              <a:rPr lang="en-US" sz="1100" b="1" i="1" dirty="0">
                <a:solidFill>
                  <a:srgbClr val="C0654A"/>
                </a:solidFill>
                <a:latin typeface="Calibri" pitchFamily="34" charset="0"/>
                <a:ea typeface="Calibri" pitchFamily="34" charset="-122"/>
                <a:cs typeface="Calibri" pitchFamily="34" charset="-120"/>
              </a:rPr>
              <a:t>Dùng để trả lời Câu hỏi nghiên cứu số 2.</a:t>
            </a:r>
            <a:endParaRPr lang="en-US" sz="1100" dirty="0"/>
          </a:p>
        </p:txBody>
      </p:sp>
      <p:sp>
        <p:nvSpPr>
          <p:cNvPr id="18" name="Shape 16"/>
          <p:cNvSpPr/>
          <p:nvPr/>
        </p:nvSpPr>
        <p:spPr>
          <a:xfrm>
            <a:off x="6199632" y="4251960"/>
            <a:ext cx="5440680" cy="1874520"/>
          </a:xfrm>
          <a:prstGeom prst="roundRect">
            <a:avLst>
              <a:gd name="adj" fmla="val 3902"/>
            </a:avLst>
          </a:prstGeom>
          <a:solidFill>
            <a:srgbClr val="EFE7DD"/>
          </a:solidFill>
          <a:ln/>
        </p:spPr>
      </p:sp>
      <p:sp>
        <p:nvSpPr>
          <p:cNvPr id="19" name="Text 17"/>
          <p:cNvSpPr/>
          <p:nvPr/>
        </p:nvSpPr>
        <p:spPr>
          <a:xfrm>
            <a:off x="6400800" y="4370832"/>
            <a:ext cx="1463040" cy="310896"/>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0.8 – 1.0</a:t>
            </a:r>
            <a:endParaRPr lang="en-US" sz="1150" dirty="0"/>
          </a:p>
        </p:txBody>
      </p:sp>
      <p:sp>
        <p:nvSpPr>
          <p:cNvPr id="20" name="Shape 18"/>
          <p:cNvSpPr/>
          <p:nvPr/>
        </p:nvSpPr>
        <p:spPr>
          <a:xfrm>
            <a:off x="7955280" y="4434840"/>
            <a:ext cx="329184" cy="182880"/>
          </a:xfrm>
          <a:prstGeom prst="rect">
            <a:avLst/>
          </a:prstGeom>
          <a:solidFill>
            <a:srgbClr val="C0654A"/>
          </a:solidFill>
          <a:ln/>
        </p:spPr>
      </p:sp>
      <p:sp>
        <p:nvSpPr>
          <p:cNvPr id="21" name="Text 19"/>
          <p:cNvSpPr/>
          <p:nvPr/>
        </p:nvSpPr>
        <p:spPr>
          <a:xfrm>
            <a:off x="9921240" y="4370832"/>
            <a:ext cx="1600200" cy="310896"/>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Rất mạnh</a:t>
            </a:r>
            <a:endParaRPr lang="en-US" sz="1050" dirty="0"/>
          </a:p>
        </p:txBody>
      </p:sp>
      <p:sp>
        <p:nvSpPr>
          <p:cNvPr id="22" name="Text 20"/>
          <p:cNvSpPr/>
          <p:nvPr/>
        </p:nvSpPr>
        <p:spPr>
          <a:xfrm>
            <a:off x="6400800" y="4709160"/>
            <a:ext cx="1463040" cy="310896"/>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0.6 – 0.8</a:t>
            </a:r>
            <a:endParaRPr lang="en-US" sz="1150" dirty="0"/>
          </a:p>
        </p:txBody>
      </p:sp>
      <p:sp>
        <p:nvSpPr>
          <p:cNvPr id="23" name="Shape 21"/>
          <p:cNvSpPr/>
          <p:nvPr/>
        </p:nvSpPr>
        <p:spPr>
          <a:xfrm>
            <a:off x="7955280" y="4773168"/>
            <a:ext cx="658368" cy="182880"/>
          </a:xfrm>
          <a:prstGeom prst="rect">
            <a:avLst/>
          </a:prstGeom>
          <a:solidFill>
            <a:srgbClr val="C0654A"/>
          </a:solidFill>
          <a:ln/>
        </p:spPr>
      </p:sp>
      <p:sp>
        <p:nvSpPr>
          <p:cNvPr id="24" name="Text 22"/>
          <p:cNvSpPr/>
          <p:nvPr/>
        </p:nvSpPr>
        <p:spPr>
          <a:xfrm>
            <a:off x="9921240" y="4709160"/>
            <a:ext cx="1600200" cy="310896"/>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Mạnh</a:t>
            </a:r>
            <a:endParaRPr lang="en-US" sz="1050" dirty="0"/>
          </a:p>
        </p:txBody>
      </p:sp>
      <p:sp>
        <p:nvSpPr>
          <p:cNvPr id="25" name="Text 23"/>
          <p:cNvSpPr/>
          <p:nvPr/>
        </p:nvSpPr>
        <p:spPr>
          <a:xfrm>
            <a:off x="6400800" y="5047488"/>
            <a:ext cx="1463040" cy="310896"/>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0.4 – 0.6</a:t>
            </a:r>
            <a:endParaRPr lang="en-US" sz="1150" dirty="0"/>
          </a:p>
        </p:txBody>
      </p:sp>
      <p:sp>
        <p:nvSpPr>
          <p:cNvPr id="26" name="Shape 24"/>
          <p:cNvSpPr/>
          <p:nvPr/>
        </p:nvSpPr>
        <p:spPr>
          <a:xfrm>
            <a:off x="7955280" y="5111496"/>
            <a:ext cx="987552" cy="182880"/>
          </a:xfrm>
          <a:prstGeom prst="rect">
            <a:avLst/>
          </a:prstGeom>
          <a:solidFill>
            <a:srgbClr val="C0654A"/>
          </a:solidFill>
          <a:ln/>
        </p:spPr>
      </p:sp>
      <p:sp>
        <p:nvSpPr>
          <p:cNvPr id="27" name="Text 25"/>
          <p:cNvSpPr/>
          <p:nvPr/>
        </p:nvSpPr>
        <p:spPr>
          <a:xfrm>
            <a:off x="9921240" y="5047488"/>
            <a:ext cx="1600200" cy="310896"/>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Trung bình</a:t>
            </a:r>
            <a:endParaRPr lang="en-US" sz="1050" dirty="0"/>
          </a:p>
        </p:txBody>
      </p:sp>
      <p:sp>
        <p:nvSpPr>
          <p:cNvPr id="28" name="Text 26"/>
          <p:cNvSpPr/>
          <p:nvPr/>
        </p:nvSpPr>
        <p:spPr>
          <a:xfrm>
            <a:off x="6400800" y="5385816"/>
            <a:ext cx="1463040" cy="310896"/>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0.2 – 0.4</a:t>
            </a:r>
            <a:endParaRPr lang="en-US" sz="1150" dirty="0"/>
          </a:p>
        </p:txBody>
      </p:sp>
      <p:sp>
        <p:nvSpPr>
          <p:cNvPr id="29" name="Shape 27"/>
          <p:cNvSpPr/>
          <p:nvPr/>
        </p:nvSpPr>
        <p:spPr>
          <a:xfrm>
            <a:off x="7955280" y="5449824"/>
            <a:ext cx="1316736" cy="182880"/>
          </a:xfrm>
          <a:prstGeom prst="rect">
            <a:avLst/>
          </a:prstGeom>
          <a:solidFill>
            <a:srgbClr val="C0654A"/>
          </a:solidFill>
          <a:ln/>
        </p:spPr>
      </p:sp>
      <p:sp>
        <p:nvSpPr>
          <p:cNvPr id="30" name="Text 28"/>
          <p:cNvSpPr/>
          <p:nvPr/>
        </p:nvSpPr>
        <p:spPr>
          <a:xfrm>
            <a:off x="9921240" y="5385816"/>
            <a:ext cx="1600200" cy="310896"/>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Yếu</a:t>
            </a:r>
            <a:endParaRPr lang="en-US" sz="1050" dirty="0"/>
          </a:p>
        </p:txBody>
      </p:sp>
      <p:sp>
        <p:nvSpPr>
          <p:cNvPr id="31" name="Text 29"/>
          <p:cNvSpPr/>
          <p:nvPr/>
        </p:nvSpPr>
        <p:spPr>
          <a:xfrm>
            <a:off x="6400800" y="5724144"/>
            <a:ext cx="1463040" cy="310896"/>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0.0 – 0.2</a:t>
            </a:r>
            <a:endParaRPr lang="en-US" sz="1150" dirty="0"/>
          </a:p>
        </p:txBody>
      </p:sp>
      <p:sp>
        <p:nvSpPr>
          <p:cNvPr id="32" name="Shape 30"/>
          <p:cNvSpPr/>
          <p:nvPr/>
        </p:nvSpPr>
        <p:spPr>
          <a:xfrm>
            <a:off x="7955280" y="5788152"/>
            <a:ext cx="1645920" cy="182880"/>
          </a:xfrm>
          <a:prstGeom prst="rect">
            <a:avLst/>
          </a:prstGeom>
          <a:solidFill>
            <a:srgbClr val="C0654A"/>
          </a:solidFill>
          <a:ln/>
        </p:spPr>
      </p:sp>
      <p:sp>
        <p:nvSpPr>
          <p:cNvPr id="33" name="Text 31"/>
          <p:cNvSpPr/>
          <p:nvPr/>
        </p:nvSpPr>
        <p:spPr>
          <a:xfrm>
            <a:off x="9921240" y="5724144"/>
            <a:ext cx="1600200" cy="310896"/>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Rất yếu / không có</a:t>
            </a:r>
            <a:endParaRPr lang="en-US" sz="1050" dirty="0"/>
          </a:p>
        </p:txBody>
      </p:sp>
      <p:sp>
        <p:nvSpPr>
          <p:cNvPr id="34" name="Text 32"/>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E8A084"/>
                </a:solidFill>
                <a:latin typeface="Calibri" pitchFamily="34" charset="0"/>
                <a:ea typeface="Calibri" pitchFamily="34" charset="-122"/>
                <a:cs typeface="Calibri" pitchFamily="34" charset="-120"/>
              </a:rPr>
              <a:t>CHƯƠNG 3 · THIẾT KẾ HỆ THỐNG</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Kiến trúc hệ thống 3 tầng</a:t>
            </a:r>
            <a:endParaRPr lang="en-US" sz="3000" dirty="0"/>
          </a:p>
        </p:txBody>
      </p:sp>
      <p:sp>
        <p:nvSpPr>
          <p:cNvPr id="4" name="Shape 2"/>
          <p:cNvSpPr/>
          <p:nvPr/>
        </p:nvSpPr>
        <p:spPr>
          <a:xfrm>
            <a:off x="548640" y="1920240"/>
            <a:ext cx="3520440" cy="3657600"/>
          </a:xfrm>
          <a:prstGeom prst="roundRect">
            <a:avLst>
              <a:gd name="adj" fmla="val 2078"/>
            </a:avLst>
          </a:prstGeom>
          <a:solidFill>
            <a:srgbClr val="121D33"/>
          </a:solidFill>
          <a:ln/>
        </p:spPr>
      </p:sp>
      <p:sp>
        <p:nvSpPr>
          <p:cNvPr id="5" name="Shape 3"/>
          <p:cNvSpPr/>
          <p:nvPr/>
        </p:nvSpPr>
        <p:spPr>
          <a:xfrm>
            <a:off x="1920240" y="2240280"/>
            <a:ext cx="777240" cy="777240"/>
          </a:xfrm>
          <a:prstGeom prst="ellipse">
            <a:avLst/>
          </a:prstGeom>
          <a:solidFill>
            <a:srgbClr val="C0654A"/>
          </a:solidFill>
          <a:ln/>
        </p:spPr>
      </p:sp>
      <p:pic>
        <p:nvPicPr>
          <p:cNvPr id="6" name="Image 0" descr="preencoded.png">    </p:cNvPr>
          <p:cNvPicPr>
            <a:picLocks noChangeAspect="1"/>
          </p:cNvPicPr>
          <p:nvPr/>
        </p:nvPicPr>
        <p:blipFill>
          <a:blip r:embed="rId1"/>
          <a:stretch>
            <a:fillRect/>
          </a:stretch>
        </p:blipFill>
        <p:spPr>
          <a:xfrm>
            <a:off x="2044598" y="2364638"/>
            <a:ext cx="528523" cy="528523"/>
          </a:xfrm>
          <a:prstGeom prst="rect">
            <a:avLst/>
          </a:prstGeom>
        </p:spPr>
      </p:pic>
      <p:sp>
        <p:nvSpPr>
          <p:cNvPr id="7" name="Text 4"/>
          <p:cNvSpPr/>
          <p:nvPr/>
        </p:nvSpPr>
        <p:spPr>
          <a:xfrm>
            <a:off x="777240" y="3246120"/>
            <a:ext cx="306324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Tầng Dữ liệu</a:t>
            </a:r>
            <a:endParaRPr lang="en-US" sz="1500" dirty="0"/>
          </a:p>
        </p:txBody>
      </p:sp>
      <p:sp>
        <p:nvSpPr>
          <p:cNvPr id="8" name="Text 5"/>
          <p:cNvSpPr/>
          <p:nvPr/>
        </p:nvSpPr>
        <p:spPr>
          <a:xfrm>
            <a:off x="822960" y="3749040"/>
            <a:ext cx="2971800" cy="1737360"/>
          </a:xfrm>
          <a:prstGeom prst="rect">
            <a:avLst/>
          </a:prstGeom>
          <a:noFill/>
          <a:ln/>
        </p:spPr>
        <p:txBody>
          <a:bodyPr wrap="square" lIns="0" tIns="0" rIns="0" bIns="0" rtlCol="0" anchor="ctr"/>
          <a:lstStyle/>
          <a:p>
            <a:pPr algn="ctr" indent="0" marL="0">
              <a:lnSpc>
                <a:spcPts val="1600"/>
              </a:lnSpc>
              <a:buNone/>
            </a:pPr>
            <a:r>
              <a:rPr lang="en-US" sz="1150" dirty="0">
                <a:solidFill>
                  <a:srgbClr val="CADCFC"/>
                </a:solidFill>
                <a:latin typeface="Calibri" pitchFamily="34" charset="0"/>
                <a:ea typeface="Calibri" pitchFamily="34" charset="-122"/>
                <a:cs typeface="Calibri" pitchFamily="34" charset="-120"/>
              </a:rPr>
              <a:t>Tương tác trực tiếp với sale_real_estate.csv, đọc dữ liệu bảng ổn định qua Pandas.</a:t>
            </a:r>
            <a:endParaRPr lang="en-US" sz="1150" dirty="0"/>
          </a:p>
        </p:txBody>
      </p:sp>
      <p:sp>
        <p:nvSpPr>
          <p:cNvPr id="9" name="Text 6"/>
          <p:cNvSpPr/>
          <p:nvPr/>
        </p:nvSpPr>
        <p:spPr>
          <a:xfrm>
            <a:off x="4069080" y="3474720"/>
            <a:ext cx="274320" cy="548640"/>
          </a:xfrm>
          <a:prstGeom prst="rect">
            <a:avLst/>
          </a:prstGeom>
          <a:noFill/>
          <a:ln/>
        </p:spPr>
        <p:txBody>
          <a:bodyPr wrap="square" lIns="0" tIns="0" rIns="0" bIns="0" rtlCol="0" anchor="ctr"/>
          <a:lstStyle/>
          <a:p>
            <a:pPr algn="ctr" indent="0" marL="0">
              <a:buNone/>
            </a:pPr>
            <a:r>
              <a:rPr lang="en-US" sz="2200" dirty="0">
                <a:solidFill>
                  <a:srgbClr val="C0654A"/>
                </a:solidFill>
                <a:latin typeface="Calibri" pitchFamily="34" charset="0"/>
                <a:ea typeface="Calibri" pitchFamily="34" charset="-122"/>
                <a:cs typeface="Calibri" pitchFamily="34" charset="-120"/>
              </a:rPr>
              <a:t>→</a:t>
            </a:r>
            <a:endParaRPr lang="en-US" sz="2200" dirty="0"/>
          </a:p>
        </p:txBody>
      </p:sp>
      <p:sp>
        <p:nvSpPr>
          <p:cNvPr id="10" name="Shape 7"/>
          <p:cNvSpPr/>
          <p:nvPr/>
        </p:nvSpPr>
        <p:spPr>
          <a:xfrm>
            <a:off x="4343400" y="1920240"/>
            <a:ext cx="3520440" cy="3657600"/>
          </a:xfrm>
          <a:prstGeom prst="roundRect">
            <a:avLst>
              <a:gd name="adj" fmla="val 2078"/>
            </a:avLst>
          </a:prstGeom>
          <a:solidFill>
            <a:srgbClr val="121D33"/>
          </a:solidFill>
          <a:ln/>
        </p:spPr>
      </p:sp>
      <p:sp>
        <p:nvSpPr>
          <p:cNvPr id="11" name="Shape 8"/>
          <p:cNvSpPr/>
          <p:nvPr/>
        </p:nvSpPr>
        <p:spPr>
          <a:xfrm>
            <a:off x="5715000" y="2240280"/>
            <a:ext cx="777240" cy="777240"/>
          </a:xfrm>
          <a:prstGeom prst="ellipse">
            <a:avLst/>
          </a:prstGeom>
          <a:solidFill>
            <a:srgbClr val="C0654A"/>
          </a:solidFill>
          <a:ln/>
        </p:spPr>
      </p:sp>
      <p:pic>
        <p:nvPicPr>
          <p:cNvPr id="12" name="Image 1" descr="preencoded.png">    </p:cNvPr>
          <p:cNvPicPr>
            <a:picLocks noChangeAspect="1"/>
          </p:cNvPicPr>
          <p:nvPr/>
        </p:nvPicPr>
        <p:blipFill>
          <a:blip r:embed="rId2"/>
          <a:stretch>
            <a:fillRect/>
          </a:stretch>
        </p:blipFill>
        <p:spPr>
          <a:xfrm>
            <a:off x="5839358" y="2364638"/>
            <a:ext cx="528523" cy="528523"/>
          </a:xfrm>
          <a:prstGeom prst="rect">
            <a:avLst/>
          </a:prstGeom>
        </p:spPr>
      </p:pic>
      <p:sp>
        <p:nvSpPr>
          <p:cNvPr id="13" name="Text 9"/>
          <p:cNvSpPr/>
          <p:nvPr/>
        </p:nvSpPr>
        <p:spPr>
          <a:xfrm>
            <a:off x="4572000" y="3246120"/>
            <a:ext cx="306324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Tầng Xử lý trung tâm</a:t>
            </a:r>
            <a:endParaRPr lang="en-US" sz="1500" dirty="0"/>
          </a:p>
        </p:txBody>
      </p:sp>
      <p:sp>
        <p:nvSpPr>
          <p:cNvPr id="14" name="Text 10"/>
          <p:cNvSpPr/>
          <p:nvPr/>
        </p:nvSpPr>
        <p:spPr>
          <a:xfrm>
            <a:off x="4617720" y="3749040"/>
            <a:ext cx="2971800" cy="1737360"/>
          </a:xfrm>
          <a:prstGeom prst="rect">
            <a:avLst/>
          </a:prstGeom>
          <a:noFill/>
          <a:ln/>
        </p:spPr>
        <p:txBody>
          <a:bodyPr wrap="square" lIns="0" tIns="0" rIns="0" bIns="0" rtlCol="0" anchor="ctr"/>
          <a:lstStyle/>
          <a:p>
            <a:pPr algn="ctr" indent="0" marL="0">
              <a:lnSpc>
                <a:spcPts val="1600"/>
              </a:lnSpc>
              <a:buNone/>
            </a:pPr>
            <a:r>
              <a:rPr lang="en-US" sz="1150" dirty="0">
                <a:solidFill>
                  <a:srgbClr val="CADCFC"/>
                </a:solidFill>
                <a:latin typeface="Calibri" pitchFamily="34" charset="0"/>
                <a:ea typeface="Calibri" pitchFamily="34" charset="-122"/>
                <a:cs typeface="Calibri" pitchFamily="34" charset="-120"/>
              </a:rPr>
              <a:t>Tiền xử lý nâng cao (Regex) · EDA &amp; thống kê Pearson · Học máy (LabelEncoder + mô hình hồi quy).</a:t>
            </a:r>
            <a:endParaRPr lang="en-US" sz="1150" dirty="0"/>
          </a:p>
        </p:txBody>
      </p:sp>
      <p:sp>
        <p:nvSpPr>
          <p:cNvPr id="15" name="Text 11"/>
          <p:cNvSpPr/>
          <p:nvPr/>
        </p:nvSpPr>
        <p:spPr>
          <a:xfrm>
            <a:off x="7863840" y="3474720"/>
            <a:ext cx="274320" cy="548640"/>
          </a:xfrm>
          <a:prstGeom prst="rect">
            <a:avLst/>
          </a:prstGeom>
          <a:noFill/>
          <a:ln/>
        </p:spPr>
        <p:txBody>
          <a:bodyPr wrap="square" lIns="0" tIns="0" rIns="0" bIns="0" rtlCol="0" anchor="ctr"/>
          <a:lstStyle/>
          <a:p>
            <a:pPr algn="ctr" indent="0" marL="0">
              <a:buNone/>
            </a:pPr>
            <a:r>
              <a:rPr lang="en-US" sz="2200" dirty="0">
                <a:solidFill>
                  <a:srgbClr val="C0654A"/>
                </a:solidFill>
                <a:latin typeface="Calibri" pitchFamily="34" charset="0"/>
                <a:ea typeface="Calibri" pitchFamily="34" charset="-122"/>
                <a:cs typeface="Calibri" pitchFamily="34" charset="-120"/>
              </a:rPr>
              <a:t>→</a:t>
            </a:r>
            <a:endParaRPr lang="en-US" sz="2200" dirty="0"/>
          </a:p>
        </p:txBody>
      </p:sp>
      <p:sp>
        <p:nvSpPr>
          <p:cNvPr id="16" name="Shape 12"/>
          <p:cNvSpPr/>
          <p:nvPr/>
        </p:nvSpPr>
        <p:spPr>
          <a:xfrm>
            <a:off x="8138160" y="1920240"/>
            <a:ext cx="3520440" cy="3657600"/>
          </a:xfrm>
          <a:prstGeom prst="roundRect">
            <a:avLst>
              <a:gd name="adj" fmla="val 2078"/>
            </a:avLst>
          </a:prstGeom>
          <a:solidFill>
            <a:srgbClr val="121D33"/>
          </a:solidFill>
          <a:ln/>
        </p:spPr>
      </p:sp>
      <p:sp>
        <p:nvSpPr>
          <p:cNvPr id="17" name="Shape 13"/>
          <p:cNvSpPr/>
          <p:nvPr/>
        </p:nvSpPr>
        <p:spPr>
          <a:xfrm>
            <a:off x="9509760" y="2240280"/>
            <a:ext cx="777240" cy="777240"/>
          </a:xfrm>
          <a:prstGeom prst="ellipse">
            <a:avLst/>
          </a:prstGeom>
          <a:solidFill>
            <a:srgbClr val="C0654A"/>
          </a:solidFill>
          <a:ln/>
        </p:spPr>
      </p:sp>
      <p:pic>
        <p:nvPicPr>
          <p:cNvPr id="18" name="Image 2" descr="preencoded.png">    </p:cNvPr>
          <p:cNvPicPr>
            <a:picLocks noChangeAspect="1"/>
          </p:cNvPicPr>
          <p:nvPr/>
        </p:nvPicPr>
        <p:blipFill>
          <a:blip r:embed="rId3"/>
          <a:stretch>
            <a:fillRect/>
          </a:stretch>
        </p:blipFill>
        <p:spPr>
          <a:xfrm>
            <a:off x="9634118" y="2364638"/>
            <a:ext cx="528523" cy="528523"/>
          </a:xfrm>
          <a:prstGeom prst="rect">
            <a:avLst/>
          </a:prstGeom>
        </p:spPr>
      </p:pic>
      <p:sp>
        <p:nvSpPr>
          <p:cNvPr id="19" name="Text 14"/>
          <p:cNvSpPr/>
          <p:nvPr/>
        </p:nvSpPr>
        <p:spPr>
          <a:xfrm>
            <a:off x="8366760" y="3246120"/>
            <a:ext cx="306324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Tầng Hiển thị tương tác</a:t>
            </a:r>
            <a:endParaRPr lang="en-US" sz="1500" dirty="0"/>
          </a:p>
        </p:txBody>
      </p:sp>
      <p:sp>
        <p:nvSpPr>
          <p:cNvPr id="20" name="Text 15"/>
          <p:cNvSpPr/>
          <p:nvPr/>
        </p:nvSpPr>
        <p:spPr>
          <a:xfrm>
            <a:off x="8412480" y="3749040"/>
            <a:ext cx="2971800" cy="1737360"/>
          </a:xfrm>
          <a:prstGeom prst="rect">
            <a:avLst/>
          </a:prstGeom>
          <a:noFill/>
          <a:ln/>
        </p:spPr>
        <p:txBody>
          <a:bodyPr wrap="square" lIns="0" tIns="0" rIns="0" bIns="0" rtlCol="0" anchor="ctr"/>
          <a:lstStyle/>
          <a:p>
            <a:pPr algn="ctr" indent="0" marL="0">
              <a:lnSpc>
                <a:spcPts val="1600"/>
              </a:lnSpc>
              <a:buNone/>
            </a:pPr>
            <a:r>
              <a:rPr lang="en-US" sz="1150" dirty="0">
                <a:solidFill>
                  <a:srgbClr val="CADCFC"/>
                </a:solidFill>
                <a:latin typeface="Calibri" pitchFamily="34" charset="0"/>
                <a:ea typeface="Calibri" pitchFamily="34" charset="-122"/>
                <a:cs typeface="Calibri" pitchFamily="34" charset="-120"/>
              </a:rPr>
              <a:t>Giao diện web Streamlit: dropdown 3 cấp, slider thông số, hộp kết quả dự báo giá.</a:t>
            </a:r>
            <a:endParaRPr lang="en-US" sz="1150" dirty="0"/>
          </a:p>
        </p:txBody>
      </p:sp>
      <p:sp>
        <p:nvSpPr>
          <p:cNvPr id="21" name="Text 16"/>
          <p:cNvSpPr/>
          <p:nvPr/>
        </p:nvSpPr>
        <p:spPr>
          <a:xfrm>
            <a:off x="548640" y="6400800"/>
            <a:ext cx="5486400" cy="274320"/>
          </a:xfrm>
          <a:prstGeom prst="rect">
            <a:avLst/>
          </a:prstGeom>
          <a:noFill/>
          <a:ln/>
        </p:spPr>
        <p:txBody>
          <a:bodyPr wrap="square" lIns="0" tIns="0" rIns="0" bIns="0" rtlCol="0" anchor="ctr"/>
          <a:lstStyle/>
          <a:p>
            <a:pPr indent="0" marL="0">
              <a:buNone/>
            </a:pPr>
            <a:r>
              <a:rPr lang="en-US" sz="900" spc="100" kern="0" dirty="0">
                <a:solidFill>
                  <a:srgbClr val="8A93A8"/>
                </a:solidFill>
                <a:latin typeface="Calibri" pitchFamily="34" charset="0"/>
                <a:ea typeface="Calibri" pitchFamily="34" charset="-122"/>
                <a:cs typeface="Calibri" pitchFamily="34" charset="-120"/>
              </a:rPr>
              <a:t>PHÂN TÍCH &amp; DỰ ĐOÁN BĐS VIỆT NAM</a:t>
            </a:r>
            <a:endParaRPr lang="en-US" sz="900" dirty="0"/>
          </a:p>
        </p:txBody>
      </p:sp>
      <p:sp>
        <p:nvSpPr>
          <p:cNvPr id="22" name="Text 17"/>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CHƯƠNG 3 · THIẾT KẾ HỆ THỐNG</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Dữ liệu đầu vào &amp; Tiền xử lý</a:t>
            </a:r>
            <a:endParaRPr lang="en-US" sz="3000" dirty="0"/>
          </a:p>
        </p:txBody>
      </p:sp>
      <p:sp>
        <p:nvSpPr>
          <p:cNvPr id="4" name="Text 2"/>
          <p:cNvSpPr/>
          <p:nvPr/>
        </p:nvSpPr>
        <p:spPr>
          <a:xfrm>
            <a:off x="548640" y="1645920"/>
            <a:ext cx="5486400" cy="365760"/>
          </a:xfrm>
          <a:prstGeom prst="rect">
            <a:avLst/>
          </a:prstGeom>
          <a:noFill/>
          <a:ln/>
        </p:spPr>
        <p:txBody>
          <a:bodyPr wrap="square" lIns="0" tIns="0" rIns="0" bIns="0" rtlCol="0" anchor="ctr"/>
          <a:lstStyle/>
          <a:p>
            <a:pPr indent="0" marL="0">
              <a:buNone/>
            </a:pPr>
            <a:r>
              <a:rPr lang="en-US" sz="1550" b="1" dirty="0">
                <a:solidFill>
                  <a:srgbClr val="1B2A4A"/>
                </a:solidFill>
                <a:latin typeface="Cambria" pitchFamily="34" charset="0"/>
                <a:ea typeface="Cambria" pitchFamily="34" charset="-122"/>
                <a:cs typeface="Cambria" pitchFamily="34" charset="-120"/>
              </a:rPr>
              <a:t>Các thuộc tính nền tảng</a:t>
            </a:r>
            <a:endParaRPr lang="en-US" sz="1550" dirty="0"/>
          </a:p>
        </p:txBody>
      </p:sp>
      <p:sp>
        <p:nvSpPr>
          <p:cNvPr id="5" name="Shape 3"/>
          <p:cNvSpPr/>
          <p:nvPr/>
        </p:nvSpPr>
        <p:spPr>
          <a:xfrm>
            <a:off x="548640" y="2103120"/>
            <a:ext cx="2587752" cy="868680"/>
          </a:xfrm>
          <a:prstGeom prst="roundRect">
            <a:avLst>
              <a:gd name="adj" fmla="val 6316"/>
            </a:avLst>
          </a:prstGeom>
          <a:solidFill>
            <a:srgbClr val="FFFFFF"/>
          </a:solidFill>
          <a:ln/>
          <a:effectLst>
            <a:outerShdw sx="100000" sy="100000" kx="0" ky="0" algn="bl" rotWithShape="0" blurRad="63500" dist="12700" dir="5400000">
              <a:srgbClr val="000000">
                <a:alpha val="7000"/>
              </a:srgbClr>
            </a:outerShdw>
          </a:effectLst>
        </p:spPr>
      </p:sp>
      <p:sp>
        <p:nvSpPr>
          <p:cNvPr id="6" name="Text 4"/>
          <p:cNvSpPr/>
          <p:nvPr/>
        </p:nvSpPr>
        <p:spPr>
          <a:xfrm>
            <a:off x="685800" y="2194560"/>
            <a:ext cx="2313432" cy="320040"/>
          </a:xfrm>
          <a:prstGeom prst="rect">
            <a:avLst/>
          </a:prstGeom>
          <a:noFill/>
          <a:ln/>
        </p:spPr>
        <p:txBody>
          <a:bodyPr wrap="square" lIns="0" tIns="0" rIns="0" bIns="0" rtlCol="0" anchor="ctr"/>
          <a:lstStyle/>
          <a:p>
            <a:pPr indent="0" marL="0">
              <a:buNone/>
            </a:pPr>
            <a:r>
              <a:rPr lang="en-US" sz="1100" b="1" dirty="0">
                <a:solidFill>
                  <a:srgbClr val="C0654A"/>
                </a:solidFill>
                <a:latin typeface="Courier New" pitchFamily="34" charset="0"/>
                <a:ea typeface="Courier New" pitchFamily="34" charset="-122"/>
                <a:cs typeface="Courier New" pitchFamily="34" charset="-120"/>
              </a:rPr>
              <a:t>tinh_thanh</a:t>
            </a:r>
            <a:endParaRPr lang="en-US" sz="1100" dirty="0"/>
          </a:p>
        </p:txBody>
      </p:sp>
      <p:sp>
        <p:nvSpPr>
          <p:cNvPr id="7" name="Text 5"/>
          <p:cNvSpPr/>
          <p:nvPr/>
        </p:nvSpPr>
        <p:spPr>
          <a:xfrm>
            <a:off x="685800" y="2514600"/>
            <a:ext cx="2313432" cy="365760"/>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Tỉnh/Thành phố</a:t>
            </a:r>
            <a:endParaRPr lang="en-US" sz="1050" dirty="0"/>
          </a:p>
        </p:txBody>
      </p:sp>
      <p:sp>
        <p:nvSpPr>
          <p:cNvPr id="8" name="Shape 6"/>
          <p:cNvSpPr/>
          <p:nvPr/>
        </p:nvSpPr>
        <p:spPr>
          <a:xfrm>
            <a:off x="3246120" y="2103120"/>
            <a:ext cx="2587752" cy="868680"/>
          </a:xfrm>
          <a:prstGeom prst="roundRect">
            <a:avLst>
              <a:gd name="adj" fmla="val 6316"/>
            </a:avLst>
          </a:prstGeom>
          <a:solidFill>
            <a:srgbClr val="FFFFFF"/>
          </a:solidFill>
          <a:ln/>
          <a:effectLst>
            <a:outerShdw sx="100000" sy="100000" kx="0" ky="0" algn="bl" rotWithShape="0" blurRad="63500" dist="12700" dir="5400000">
              <a:srgbClr val="000000">
                <a:alpha val="7000"/>
              </a:srgbClr>
            </a:outerShdw>
          </a:effectLst>
        </p:spPr>
      </p:sp>
      <p:sp>
        <p:nvSpPr>
          <p:cNvPr id="9" name="Text 7"/>
          <p:cNvSpPr/>
          <p:nvPr/>
        </p:nvSpPr>
        <p:spPr>
          <a:xfrm>
            <a:off x="3383280" y="2194560"/>
            <a:ext cx="2313432" cy="320040"/>
          </a:xfrm>
          <a:prstGeom prst="rect">
            <a:avLst/>
          </a:prstGeom>
          <a:noFill/>
          <a:ln/>
        </p:spPr>
        <p:txBody>
          <a:bodyPr wrap="square" lIns="0" tIns="0" rIns="0" bIns="0" rtlCol="0" anchor="ctr"/>
          <a:lstStyle/>
          <a:p>
            <a:pPr indent="0" marL="0">
              <a:buNone/>
            </a:pPr>
            <a:r>
              <a:rPr lang="en-US" sz="1100" b="1" dirty="0">
                <a:solidFill>
                  <a:srgbClr val="C0654A"/>
                </a:solidFill>
                <a:latin typeface="Courier New" pitchFamily="34" charset="0"/>
                <a:ea typeface="Courier New" pitchFamily="34" charset="-122"/>
                <a:cs typeface="Courier New" pitchFamily="34" charset="-120"/>
              </a:rPr>
              <a:t>quan_huyen</a:t>
            </a:r>
            <a:endParaRPr lang="en-US" sz="1100" dirty="0"/>
          </a:p>
        </p:txBody>
      </p:sp>
      <p:sp>
        <p:nvSpPr>
          <p:cNvPr id="10" name="Text 8"/>
          <p:cNvSpPr/>
          <p:nvPr/>
        </p:nvSpPr>
        <p:spPr>
          <a:xfrm>
            <a:off x="3383280" y="2514600"/>
            <a:ext cx="2313432" cy="365760"/>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Quận/Huyện/Thị xã</a:t>
            </a:r>
            <a:endParaRPr lang="en-US" sz="1050" dirty="0"/>
          </a:p>
        </p:txBody>
      </p:sp>
      <p:sp>
        <p:nvSpPr>
          <p:cNvPr id="11" name="Shape 9"/>
          <p:cNvSpPr/>
          <p:nvPr/>
        </p:nvSpPr>
        <p:spPr>
          <a:xfrm>
            <a:off x="548640" y="3081528"/>
            <a:ext cx="2587752" cy="868680"/>
          </a:xfrm>
          <a:prstGeom prst="roundRect">
            <a:avLst>
              <a:gd name="adj" fmla="val 6316"/>
            </a:avLst>
          </a:prstGeom>
          <a:solidFill>
            <a:srgbClr val="FFFFFF"/>
          </a:solidFill>
          <a:ln/>
          <a:effectLst>
            <a:outerShdw sx="100000" sy="100000" kx="0" ky="0" algn="bl" rotWithShape="0" blurRad="63500" dist="12700" dir="5400000">
              <a:srgbClr val="000000">
                <a:alpha val="7000"/>
              </a:srgbClr>
            </a:outerShdw>
          </a:effectLst>
        </p:spPr>
      </p:sp>
      <p:sp>
        <p:nvSpPr>
          <p:cNvPr id="12" name="Text 10"/>
          <p:cNvSpPr/>
          <p:nvPr/>
        </p:nvSpPr>
        <p:spPr>
          <a:xfrm>
            <a:off x="685800" y="3172968"/>
            <a:ext cx="2313432" cy="320040"/>
          </a:xfrm>
          <a:prstGeom prst="rect">
            <a:avLst/>
          </a:prstGeom>
          <a:noFill/>
          <a:ln/>
        </p:spPr>
        <p:txBody>
          <a:bodyPr wrap="square" lIns="0" tIns="0" rIns="0" bIns="0" rtlCol="0" anchor="ctr"/>
          <a:lstStyle/>
          <a:p>
            <a:pPr indent="0" marL="0">
              <a:buNone/>
            </a:pPr>
            <a:r>
              <a:rPr lang="en-US" sz="1100" b="1" dirty="0">
                <a:solidFill>
                  <a:srgbClr val="C0654A"/>
                </a:solidFill>
                <a:latin typeface="Courier New" pitchFamily="34" charset="0"/>
                <a:ea typeface="Courier New" pitchFamily="34" charset="-122"/>
                <a:cs typeface="Courier New" pitchFamily="34" charset="-120"/>
              </a:rPr>
              <a:t>phuong_xa</a:t>
            </a:r>
            <a:endParaRPr lang="en-US" sz="1100" dirty="0"/>
          </a:p>
        </p:txBody>
      </p:sp>
      <p:sp>
        <p:nvSpPr>
          <p:cNvPr id="13" name="Text 11"/>
          <p:cNvSpPr/>
          <p:nvPr/>
        </p:nvSpPr>
        <p:spPr>
          <a:xfrm>
            <a:off x="685800" y="3493008"/>
            <a:ext cx="2313432" cy="365760"/>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Phường/Xã/Đường</a:t>
            </a:r>
            <a:endParaRPr lang="en-US" sz="1050" dirty="0"/>
          </a:p>
        </p:txBody>
      </p:sp>
      <p:sp>
        <p:nvSpPr>
          <p:cNvPr id="14" name="Shape 12"/>
          <p:cNvSpPr/>
          <p:nvPr/>
        </p:nvSpPr>
        <p:spPr>
          <a:xfrm>
            <a:off x="3246120" y="3081528"/>
            <a:ext cx="2587752" cy="868680"/>
          </a:xfrm>
          <a:prstGeom prst="roundRect">
            <a:avLst>
              <a:gd name="adj" fmla="val 6316"/>
            </a:avLst>
          </a:prstGeom>
          <a:solidFill>
            <a:srgbClr val="FFFFFF"/>
          </a:solidFill>
          <a:ln/>
          <a:effectLst>
            <a:outerShdw sx="100000" sy="100000" kx="0" ky="0" algn="bl" rotWithShape="0" blurRad="63500" dist="12700" dir="5400000">
              <a:srgbClr val="000000">
                <a:alpha val="7000"/>
              </a:srgbClr>
            </a:outerShdw>
          </a:effectLst>
        </p:spPr>
      </p:sp>
      <p:sp>
        <p:nvSpPr>
          <p:cNvPr id="15" name="Text 13"/>
          <p:cNvSpPr/>
          <p:nvPr/>
        </p:nvSpPr>
        <p:spPr>
          <a:xfrm>
            <a:off x="3383280" y="3172968"/>
            <a:ext cx="2313432" cy="320040"/>
          </a:xfrm>
          <a:prstGeom prst="rect">
            <a:avLst/>
          </a:prstGeom>
          <a:noFill/>
          <a:ln/>
        </p:spPr>
        <p:txBody>
          <a:bodyPr wrap="square" lIns="0" tIns="0" rIns="0" bIns="0" rtlCol="0" anchor="ctr"/>
          <a:lstStyle/>
          <a:p>
            <a:pPr indent="0" marL="0">
              <a:buNone/>
            </a:pPr>
            <a:r>
              <a:rPr lang="en-US" sz="1100" b="1" dirty="0">
                <a:solidFill>
                  <a:srgbClr val="C0654A"/>
                </a:solidFill>
                <a:latin typeface="Courier New" pitchFamily="34" charset="0"/>
                <a:ea typeface="Courier New" pitchFamily="34" charset="-122"/>
                <a:cs typeface="Courier New" pitchFamily="34" charset="-120"/>
              </a:rPr>
              <a:t>dien_tich (m2)</a:t>
            </a:r>
            <a:endParaRPr lang="en-US" sz="1100" dirty="0"/>
          </a:p>
        </p:txBody>
      </p:sp>
      <p:sp>
        <p:nvSpPr>
          <p:cNvPr id="16" name="Text 14"/>
          <p:cNvSpPr/>
          <p:nvPr/>
        </p:nvSpPr>
        <p:spPr>
          <a:xfrm>
            <a:off x="3383280" y="3493008"/>
            <a:ext cx="2313432" cy="365760"/>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Diện tích sử dụng</a:t>
            </a:r>
            <a:endParaRPr lang="en-US" sz="1050" dirty="0"/>
          </a:p>
        </p:txBody>
      </p:sp>
      <p:sp>
        <p:nvSpPr>
          <p:cNvPr id="17" name="Shape 15"/>
          <p:cNvSpPr/>
          <p:nvPr/>
        </p:nvSpPr>
        <p:spPr>
          <a:xfrm>
            <a:off x="548640" y="4059936"/>
            <a:ext cx="2587752" cy="868680"/>
          </a:xfrm>
          <a:prstGeom prst="roundRect">
            <a:avLst>
              <a:gd name="adj" fmla="val 6316"/>
            </a:avLst>
          </a:prstGeom>
          <a:solidFill>
            <a:srgbClr val="FFFFFF"/>
          </a:solidFill>
          <a:ln/>
          <a:effectLst>
            <a:outerShdw sx="100000" sy="100000" kx="0" ky="0" algn="bl" rotWithShape="0" blurRad="63500" dist="12700" dir="5400000">
              <a:srgbClr val="000000">
                <a:alpha val="7000"/>
              </a:srgbClr>
            </a:outerShdw>
          </a:effectLst>
        </p:spPr>
      </p:sp>
      <p:sp>
        <p:nvSpPr>
          <p:cNvPr id="18" name="Text 16"/>
          <p:cNvSpPr/>
          <p:nvPr/>
        </p:nvSpPr>
        <p:spPr>
          <a:xfrm>
            <a:off x="685800" y="4151376"/>
            <a:ext cx="2313432" cy="320040"/>
          </a:xfrm>
          <a:prstGeom prst="rect">
            <a:avLst/>
          </a:prstGeom>
          <a:noFill/>
          <a:ln/>
        </p:spPr>
        <p:txBody>
          <a:bodyPr wrap="square" lIns="0" tIns="0" rIns="0" bIns="0" rtlCol="0" anchor="ctr"/>
          <a:lstStyle/>
          <a:p>
            <a:pPr indent="0" marL="0">
              <a:buNone/>
            </a:pPr>
            <a:r>
              <a:rPr lang="en-US" sz="1100" b="1" dirty="0">
                <a:solidFill>
                  <a:srgbClr val="C0654A"/>
                </a:solidFill>
                <a:latin typeface="Courier New" pitchFamily="34" charset="0"/>
                <a:ea typeface="Courier New" pitchFamily="34" charset="-122"/>
                <a:cs typeface="Courier New" pitchFamily="34" charset="-120"/>
              </a:rPr>
              <a:t>gia_ban_ty_vnd</a:t>
            </a:r>
            <a:endParaRPr lang="en-US" sz="1100" dirty="0"/>
          </a:p>
        </p:txBody>
      </p:sp>
      <p:sp>
        <p:nvSpPr>
          <p:cNvPr id="19" name="Text 17"/>
          <p:cNvSpPr/>
          <p:nvPr/>
        </p:nvSpPr>
        <p:spPr>
          <a:xfrm>
            <a:off x="685800" y="4471416"/>
            <a:ext cx="2313432" cy="365760"/>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Giá bán (Tỷ VNĐ)</a:t>
            </a:r>
            <a:endParaRPr lang="en-US" sz="1050" dirty="0"/>
          </a:p>
        </p:txBody>
      </p:sp>
      <p:sp>
        <p:nvSpPr>
          <p:cNvPr id="20" name="Shape 18"/>
          <p:cNvSpPr/>
          <p:nvPr/>
        </p:nvSpPr>
        <p:spPr>
          <a:xfrm>
            <a:off x="3246120" y="4059936"/>
            <a:ext cx="2587752" cy="868680"/>
          </a:xfrm>
          <a:prstGeom prst="roundRect">
            <a:avLst>
              <a:gd name="adj" fmla="val 6316"/>
            </a:avLst>
          </a:prstGeom>
          <a:solidFill>
            <a:srgbClr val="FFFFFF"/>
          </a:solidFill>
          <a:ln/>
          <a:effectLst>
            <a:outerShdw sx="100000" sy="100000" kx="0" ky="0" algn="bl" rotWithShape="0" blurRad="63500" dist="12700" dir="5400000">
              <a:srgbClr val="000000">
                <a:alpha val="7000"/>
              </a:srgbClr>
            </a:outerShdw>
          </a:effectLst>
        </p:spPr>
      </p:sp>
      <p:sp>
        <p:nvSpPr>
          <p:cNvPr id="21" name="Text 19"/>
          <p:cNvSpPr/>
          <p:nvPr/>
        </p:nvSpPr>
        <p:spPr>
          <a:xfrm>
            <a:off x="3383280" y="4151376"/>
            <a:ext cx="2313432" cy="320040"/>
          </a:xfrm>
          <a:prstGeom prst="rect">
            <a:avLst/>
          </a:prstGeom>
          <a:noFill/>
          <a:ln/>
        </p:spPr>
        <p:txBody>
          <a:bodyPr wrap="square" lIns="0" tIns="0" rIns="0" bIns="0" rtlCol="0" anchor="ctr"/>
          <a:lstStyle/>
          <a:p>
            <a:pPr indent="0" marL="0">
              <a:buNone/>
            </a:pPr>
            <a:r>
              <a:rPr lang="en-US" sz="1100" b="1" dirty="0">
                <a:solidFill>
                  <a:srgbClr val="C0654A"/>
                </a:solidFill>
                <a:latin typeface="Courier New" pitchFamily="34" charset="0"/>
                <a:ea typeface="Courier New" pitchFamily="34" charset="-122"/>
                <a:cs typeface="Courier New" pitchFamily="34" charset="-120"/>
              </a:rPr>
              <a:t>so_phong_ngu</a:t>
            </a:r>
            <a:endParaRPr lang="en-US" sz="1100" dirty="0"/>
          </a:p>
        </p:txBody>
      </p:sp>
      <p:sp>
        <p:nvSpPr>
          <p:cNvPr id="22" name="Text 20"/>
          <p:cNvSpPr/>
          <p:nvPr/>
        </p:nvSpPr>
        <p:spPr>
          <a:xfrm>
            <a:off x="3383280" y="4471416"/>
            <a:ext cx="2313432" cy="365760"/>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Số phòng ngủ</a:t>
            </a:r>
            <a:endParaRPr lang="en-US" sz="1050" dirty="0"/>
          </a:p>
        </p:txBody>
      </p:sp>
      <p:sp>
        <p:nvSpPr>
          <p:cNvPr id="23" name="Shape 21"/>
          <p:cNvSpPr/>
          <p:nvPr/>
        </p:nvSpPr>
        <p:spPr>
          <a:xfrm>
            <a:off x="548640" y="5038344"/>
            <a:ext cx="2587752" cy="868680"/>
          </a:xfrm>
          <a:prstGeom prst="roundRect">
            <a:avLst>
              <a:gd name="adj" fmla="val 6316"/>
            </a:avLst>
          </a:prstGeom>
          <a:solidFill>
            <a:srgbClr val="FFFFFF"/>
          </a:solidFill>
          <a:ln/>
          <a:effectLst>
            <a:outerShdw sx="100000" sy="100000" kx="0" ky="0" algn="bl" rotWithShape="0" blurRad="63500" dist="12700" dir="5400000">
              <a:srgbClr val="000000">
                <a:alpha val="7000"/>
              </a:srgbClr>
            </a:outerShdw>
          </a:effectLst>
        </p:spPr>
      </p:sp>
      <p:sp>
        <p:nvSpPr>
          <p:cNvPr id="24" name="Text 22"/>
          <p:cNvSpPr/>
          <p:nvPr/>
        </p:nvSpPr>
        <p:spPr>
          <a:xfrm>
            <a:off x="685800" y="5129784"/>
            <a:ext cx="2313432" cy="320040"/>
          </a:xfrm>
          <a:prstGeom prst="rect">
            <a:avLst/>
          </a:prstGeom>
          <a:noFill/>
          <a:ln/>
        </p:spPr>
        <p:txBody>
          <a:bodyPr wrap="square" lIns="0" tIns="0" rIns="0" bIns="0" rtlCol="0" anchor="ctr"/>
          <a:lstStyle/>
          <a:p>
            <a:pPr indent="0" marL="0">
              <a:buNone/>
            </a:pPr>
            <a:r>
              <a:rPr lang="en-US" sz="1100" b="1" dirty="0">
                <a:solidFill>
                  <a:srgbClr val="C0654A"/>
                </a:solidFill>
                <a:latin typeface="Courier New" pitchFamily="34" charset="0"/>
                <a:ea typeface="Courier New" pitchFamily="34" charset="-122"/>
                <a:cs typeface="Courier New" pitchFamily="34" charset="-120"/>
              </a:rPr>
              <a:t>so_nha_ve_sinh</a:t>
            </a:r>
            <a:endParaRPr lang="en-US" sz="1100" dirty="0"/>
          </a:p>
        </p:txBody>
      </p:sp>
      <p:sp>
        <p:nvSpPr>
          <p:cNvPr id="25" name="Text 23"/>
          <p:cNvSpPr/>
          <p:nvPr/>
        </p:nvSpPr>
        <p:spPr>
          <a:xfrm>
            <a:off x="685800" y="5449824"/>
            <a:ext cx="2313432" cy="365760"/>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Số phòng vệ sinh</a:t>
            </a:r>
            <a:endParaRPr lang="en-US" sz="1050" dirty="0"/>
          </a:p>
        </p:txBody>
      </p:sp>
      <p:sp>
        <p:nvSpPr>
          <p:cNvPr id="26" name="Shape 24"/>
          <p:cNvSpPr/>
          <p:nvPr/>
        </p:nvSpPr>
        <p:spPr>
          <a:xfrm>
            <a:off x="3246120" y="5038344"/>
            <a:ext cx="2587752" cy="868680"/>
          </a:xfrm>
          <a:prstGeom prst="roundRect">
            <a:avLst>
              <a:gd name="adj" fmla="val 6316"/>
            </a:avLst>
          </a:prstGeom>
          <a:solidFill>
            <a:srgbClr val="FFFFFF"/>
          </a:solidFill>
          <a:ln/>
          <a:effectLst>
            <a:outerShdw sx="100000" sy="100000" kx="0" ky="0" algn="bl" rotWithShape="0" blurRad="63500" dist="12700" dir="5400000">
              <a:srgbClr val="000000">
                <a:alpha val="7000"/>
              </a:srgbClr>
            </a:outerShdw>
          </a:effectLst>
        </p:spPr>
      </p:sp>
      <p:sp>
        <p:nvSpPr>
          <p:cNvPr id="27" name="Text 25"/>
          <p:cNvSpPr/>
          <p:nvPr/>
        </p:nvSpPr>
        <p:spPr>
          <a:xfrm>
            <a:off x="3383280" y="5129784"/>
            <a:ext cx="2313432" cy="320040"/>
          </a:xfrm>
          <a:prstGeom prst="rect">
            <a:avLst/>
          </a:prstGeom>
          <a:noFill/>
          <a:ln/>
        </p:spPr>
        <p:txBody>
          <a:bodyPr wrap="square" lIns="0" tIns="0" rIns="0" bIns="0" rtlCol="0" anchor="ctr"/>
          <a:lstStyle/>
          <a:p>
            <a:pPr indent="0" marL="0">
              <a:buNone/>
            </a:pPr>
            <a:r>
              <a:rPr lang="en-US" sz="1100" b="1" dirty="0">
                <a:solidFill>
                  <a:srgbClr val="C0654A"/>
                </a:solidFill>
                <a:latin typeface="Courier New" pitchFamily="34" charset="0"/>
                <a:ea typeface="Courier New" pitchFamily="34" charset="-122"/>
                <a:cs typeface="Courier New" pitchFamily="34" charset="-120"/>
              </a:rPr>
              <a:t>huong_nha</a:t>
            </a:r>
            <a:endParaRPr lang="en-US" sz="1100" dirty="0"/>
          </a:p>
        </p:txBody>
      </p:sp>
      <p:sp>
        <p:nvSpPr>
          <p:cNvPr id="28" name="Text 26"/>
          <p:cNvSpPr/>
          <p:nvPr/>
        </p:nvSpPr>
        <p:spPr>
          <a:xfrm>
            <a:off x="3383280" y="5449824"/>
            <a:ext cx="2313432" cy="365760"/>
          </a:xfrm>
          <a:prstGeom prst="rect">
            <a:avLst/>
          </a:prstGeom>
          <a:noFill/>
          <a:ln/>
        </p:spPr>
        <p:txBody>
          <a:bodyPr wrap="square" lIns="0" tIns="0" rIns="0" bIns="0" rtlCol="0" anchor="ctr"/>
          <a:lstStyle/>
          <a:p>
            <a:pPr indent="0" marL="0">
              <a:buNone/>
            </a:pPr>
            <a:r>
              <a:rPr lang="en-US" sz="1050" dirty="0">
                <a:solidFill>
                  <a:srgbClr val="5B6B85"/>
                </a:solidFill>
                <a:latin typeface="Calibri" pitchFamily="34" charset="0"/>
                <a:ea typeface="Calibri" pitchFamily="34" charset="-122"/>
                <a:cs typeface="Calibri" pitchFamily="34" charset="-120"/>
              </a:rPr>
              <a:t>Hướng phong thủy</a:t>
            </a:r>
            <a:endParaRPr lang="en-US" sz="1050" dirty="0"/>
          </a:p>
        </p:txBody>
      </p:sp>
      <p:sp>
        <p:nvSpPr>
          <p:cNvPr id="29" name="Shape 27"/>
          <p:cNvSpPr/>
          <p:nvPr/>
        </p:nvSpPr>
        <p:spPr>
          <a:xfrm>
            <a:off x="6199632" y="1645920"/>
            <a:ext cx="5440680" cy="4526280"/>
          </a:xfrm>
          <a:prstGeom prst="roundRect">
            <a:avLst>
              <a:gd name="adj" fmla="val 1616"/>
            </a:avLst>
          </a:prstGeom>
          <a:solidFill>
            <a:srgbClr val="1B2A4A"/>
          </a:solidFill>
          <a:ln/>
          <a:effectLst>
            <a:outerShdw sx="100000" sy="100000" kx="0" ky="0" algn="bl" rotWithShape="0" blurRad="127000" dist="38100" dir="5400000">
              <a:srgbClr val="000000">
                <a:alpha val="18000"/>
              </a:srgbClr>
            </a:outerShdw>
          </a:effectLst>
        </p:spPr>
      </p:sp>
      <p:sp>
        <p:nvSpPr>
          <p:cNvPr id="30" name="Shape 28"/>
          <p:cNvSpPr/>
          <p:nvPr/>
        </p:nvSpPr>
        <p:spPr>
          <a:xfrm>
            <a:off x="6519672" y="1874520"/>
            <a:ext cx="502920" cy="502920"/>
          </a:xfrm>
          <a:prstGeom prst="ellipse">
            <a:avLst/>
          </a:prstGeom>
          <a:solidFill>
            <a:srgbClr val="C0654A"/>
          </a:solidFill>
          <a:ln/>
        </p:spPr>
      </p:sp>
      <p:pic>
        <p:nvPicPr>
          <p:cNvPr id="31" name="Image 0" descr="preencoded.png">    </p:cNvPr>
          <p:cNvPicPr>
            <a:picLocks noChangeAspect="1"/>
          </p:cNvPicPr>
          <p:nvPr/>
        </p:nvPicPr>
        <p:blipFill>
          <a:blip r:embed="rId1"/>
          <a:stretch>
            <a:fillRect/>
          </a:stretch>
        </p:blipFill>
        <p:spPr>
          <a:xfrm>
            <a:off x="6595110" y="1949958"/>
            <a:ext cx="352044" cy="352044"/>
          </a:xfrm>
          <a:prstGeom prst="rect">
            <a:avLst/>
          </a:prstGeom>
        </p:spPr>
      </p:pic>
      <p:sp>
        <p:nvSpPr>
          <p:cNvPr id="32" name="Text 29"/>
          <p:cNvSpPr/>
          <p:nvPr/>
        </p:nvSpPr>
        <p:spPr>
          <a:xfrm>
            <a:off x="7159752" y="1920240"/>
            <a:ext cx="4297680" cy="45720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Kỹ thuật tiền xử lý dữ liệu</a:t>
            </a:r>
            <a:endParaRPr lang="en-US" sz="1550" dirty="0"/>
          </a:p>
        </p:txBody>
      </p:sp>
      <p:sp>
        <p:nvSpPr>
          <p:cNvPr id="33" name="Text 30"/>
          <p:cNvSpPr/>
          <p:nvPr/>
        </p:nvSpPr>
        <p:spPr>
          <a:xfrm>
            <a:off x="6519672" y="2606040"/>
            <a:ext cx="4846320" cy="3383280"/>
          </a:xfrm>
          <a:prstGeom prst="rect">
            <a:avLst/>
          </a:prstGeom>
          <a:noFill/>
          <a:ln/>
        </p:spPr>
        <p:txBody>
          <a:bodyPr wrap="square" rtlCol="0" anchor="ctr"/>
          <a:lstStyle/>
          <a:p>
            <a:pPr marL="342900" indent="-342900">
              <a:lnSpc>
                <a:spcPts val="1600"/>
              </a:lnSpc>
              <a:spcAft>
                <a:spcPts val="1200"/>
              </a:spcAft>
              <a:buSzPct val="100000"/>
              <a:buChar char="•"/>
            </a:pPr>
            <a:r>
              <a:rPr lang="en-US" sz="1200" dirty="0">
                <a:solidFill>
                  <a:srgbClr val="E8ECF7"/>
                </a:solidFill>
                <a:latin typeface="Calibri" pitchFamily="34" charset="0"/>
                <a:ea typeface="Calibri" pitchFamily="34" charset="-122"/>
                <a:cs typeface="Calibri" pitchFamily="34" charset="-120"/>
              </a:rPr>
              <a:t>Khử dấu ngoặc kép &amp; khoảng trắng: .str.replace(), .str.strip()</a:t>
            </a:r>
            <a:endParaRPr lang="en-US" sz="1200" dirty="0"/>
          </a:p>
          <a:p>
            <a:pPr marL="342900" indent="-342900">
              <a:lnSpc>
                <a:spcPts val="1600"/>
              </a:lnSpc>
              <a:spcAft>
                <a:spcPts val="1200"/>
              </a:spcAft>
              <a:buSzPct val="100000"/>
              <a:buChar char="•"/>
            </a:pPr>
            <a:r>
              <a:rPr lang="en-US" sz="1200" dirty="0">
                <a:solidFill>
                  <a:srgbClr val="E8ECF7"/>
                </a:solidFill>
                <a:latin typeface="Calibri" pitchFamily="34" charset="0"/>
                <a:ea typeface="Calibri" pitchFamily="34" charset="-122"/>
                <a:cs typeface="Calibri" pitchFamily="34" charset="-120"/>
              </a:rPr>
              <a:t>Chuyển đổi số thông minh: re.search() bóc tách số từ chuỗi (vd: "22,5 tỷ" → 22.5), đổi dấu phẩy → dấu chấm</a:t>
            </a:r>
            <a:endParaRPr lang="en-US" sz="1200" dirty="0"/>
          </a:p>
          <a:p>
            <a:pPr marL="342900" indent="-342900">
              <a:lnSpc>
                <a:spcPts val="1600"/>
              </a:lnSpc>
              <a:spcAft>
                <a:spcPts val="1200"/>
              </a:spcAft>
              <a:buSzPct val="100000"/>
              <a:buChar char="•"/>
            </a:pPr>
            <a:r>
              <a:rPr lang="en-US" sz="1200" dirty="0">
                <a:solidFill>
                  <a:srgbClr val="E8ECF7"/>
                </a:solidFill>
                <a:latin typeface="Calibri" pitchFamily="34" charset="0"/>
                <a:ea typeface="Calibri" pitchFamily="34" charset="-122"/>
                <a:cs typeface="Calibri" pitchFamily="34" charset="-120"/>
              </a:rPr>
              <a:t>Bóc tách địa chỉ phân cấp ngược: .split(',') → tinh_thanh, quan_huyen, phuong_xa</a:t>
            </a:r>
            <a:endParaRPr lang="en-US" sz="1200" dirty="0"/>
          </a:p>
          <a:p>
            <a:pPr marL="342900" indent="-342900">
              <a:lnSpc>
                <a:spcPts val="1600"/>
              </a:lnSpc>
              <a:buSzPct val="100000"/>
              <a:buChar char="•"/>
            </a:pPr>
            <a:r>
              <a:rPr lang="en-US" sz="1200" dirty="0">
                <a:solidFill>
                  <a:srgbClr val="E8ECF7"/>
                </a:solidFill>
                <a:latin typeface="Calibri" pitchFamily="34" charset="0"/>
                <a:ea typeface="Calibri" pitchFamily="34" charset="-122"/>
                <a:cs typeface="Calibri" pitchFamily="34" charset="-120"/>
              </a:rPr>
              <a:t>Loại bỏ Outliers bằng phương pháp IQR trước khi huấn luyện mô hình</a:t>
            </a:r>
            <a:endParaRPr lang="en-US" sz="1200" dirty="0"/>
          </a:p>
        </p:txBody>
      </p:sp>
      <p:sp>
        <p:nvSpPr>
          <p:cNvPr id="34" name="Text 31"/>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CHƯƠNG 4 · THỰC NGHIỆM &amp; ĐÁNH GIÁ</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Kết quả phân tích khám phá dữ liệu (1/2)</a:t>
            </a:r>
            <a:endParaRPr lang="en-US" sz="3000" dirty="0"/>
          </a:p>
        </p:txBody>
      </p:sp>
      <p:sp>
        <p:nvSpPr>
          <p:cNvPr id="4" name="Shape 2"/>
          <p:cNvSpPr/>
          <p:nvPr/>
        </p:nvSpPr>
        <p:spPr>
          <a:xfrm>
            <a:off x="548640" y="1737360"/>
            <a:ext cx="3520440" cy="4251960"/>
          </a:xfrm>
          <a:prstGeom prst="roundRect">
            <a:avLst>
              <a:gd name="adj" fmla="val 2078"/>
            </a:avLst>
          </a:prstGeom>
          <a:solidFill>
            <a:srgbClr val="FFFFFF"/>
          </a:solidFill>
          <a:ln/>
          <a:effectLst>
            <a:outerShdw sx="100000" sy="100000" kx="0" ky="0" algn="bl" rotWithShape="0" blurRad="101600" dist="25400" dir="5400000">
              <a:srgbClr val="000000">
                <a:alpha val="8000"/>
              </a:srgbClr>
            </a:outerShdw>
          </a:effectLst>
        </p:spPr>
      </p:sp>
      <p:sp>
        <p:nvSpPr>
          <p:cNvPr id="5" name="Text 3"/>
          <p:cNvSpPr/>
          <p:nvPr/>
        </p:nvSpPr>
        <p:spPr>
          <a:xfrm>
            <a:off x="777240" y="1920240"/>
            <a:ext cx="1188720" cy="502920"/>
          </a:xfrm>
          <a:prstGeom prst="rect">
            <a:avLst/>
          </a:prstGeom>
          <a:noFill/>
          <a:ln/>
        </p:spPr>
        <p:txBody>
          <a:bodyPr wrap="square" lIns="0" tIns="0" rIns="0" bIns="0" rtlCol="0" anchor="ctr"/>
          <a:lstStyle/>
          <a:p>
            <a:pPr indent="0" marL="0">
              <a:buNone/>
            </a:pPr>
            <a:r>
              <a:rPr lang="en-US" sz="2400" b="1" dirty="0">
                <a:solidFill>
                  <a:srgbClr val="E3DCD2"/>
                </a:solidFill>
                <a:latin typeface="Cambria" pitchFamily="34" charset="0"/>
                <a:ea typeface="Cambria" pitchFamily="34" charset="-122"/>
                <a:cs typeface="Cambria" pitchFamily="34" charset="-120"/>
              </a:rPr>
              <a:t>01</a:t>
            </a:r>
            <a:endParaRPr lang="en-US" sz="2400" dirty="0"/>
          </a:p>
        </p:txBody>
      </p:sp>
      <p:sp>
        <p:nvSpPr>
          <p:cNvPr id="6" name="Text 4"/>
          <p:cNvSpPr/>
          <p:nvPr/>
        </p:nvSpPr>
        <p:spPr>
          <a:xfrm>
            <a:off x="777240" y="2423160"/>
            <a:ext cx="3063240" cy="868680"/>
          </a:xfrm>
          <a:prstGeom prst="rect">
            <a:avLst/>
          </a:prstGeom>
          <a:noFill/>
          <a:ln/>
        </p:spPr>
        <p:txBody>
          <a:bodyPr wrap="square" lIns="0" tIns="0" rIns="0" bIns="0" rtlCol="0" anchor="ctr"/>
          <a:lstStyle/>
          <a:p>
            <a:pPr indent="0" marL="0">
              <a:lnSpc>
                <a:spcPts val="1700"/>
              </a:lnSpc>
              <a:buNone/>
            </a:pPr>
            <a:r>
              <a:rPr lang="en-US" sz="1400" b="1" dirty="0">
                <a:solidFill>
                  <a:srgbClr val="1B2A4A"/>
                </a:solidFill>
                <a:latin typeface="Cambria" pitchFamily="34" charset="0"/>
                <a:ea typeface="Cambria" pitchFamily="34" charset="-122"/>
                <a:cs typeface="Cambria" pitchFamily="34" charset="-120"/>
              </a:rPr>
              <a:t>Mật độ giá theo Quận/Huyện</a:t>
            </a:r>
            <a:endParaRPr lang="en-US" sz="1400" dirty="0"/>
          </a:p>
        </p:txBody>
      </p:sp>
      <p:sp>
        <p:nvSpPr>
          <p:cNvPr id="7" name="Shape 5"/>
          <p:cNvSpPr/>
          <p:nvPr/>
        </p:nvSpPr>
        <p:spPr>
          <a:xfrm>
            <a:off x="777240" y="3364992"/>
            <a:ext cx="3063240" cy="0"/>
          </a:xfrm>
          <a:prstGeom prst="line">
            <a:avLst/>
          </a:prstGeom>
          <a:noFill/>
          <a:ln w="12700">
            <a:solidFill>
              <a:srgbClr val="ECE5D8"/>
            </a:solidFill>
            <a:prstDash val="solid"/>
          </a:ln>
        </p:spPr>
      </p:sp>
      <p:sp>
        <p:nvSpPr>
          <p:cNvPr id="8" name="Text 6"/>
          <p:cNvSpPr/>
          <p:nvPr/>
        </p:nvSpPr>
        <p:spPr>
          <a:xfrm>
            <a:off x="777240" y="3520440"/>
            <a:ext cx="3063240" cy="2331720"/>
          </a:xfrm>
          <a:prstGeom prst="rect">
            <a:avLst/>
          </a:prstGeom>
          <a:noFill/>
          <a:ln/>
        </p:spPr>
        <p:txBody>
          <a:bodyPr wrap="square" lIns="0" tIns="0" rIns="0" bIns="0" rtlCol="0" anchor="ctr"/>
          <a:lstStyle/>
          <a:p>
            <a:pPr indent="0" marL="0">
              <a:lnSpc>
                <a:spcPts val="1600"/>
              </a:lnSpc>
              <a:buNone/>
            </a:pPr>
            <a:r>
              <a:rPr lang="en-US" sz="1150" dirty="0">
                <a:solidFill>
                  <a:srgbClr val="5B6B85"/>
                </a:solidFill>
                <a:latin typeface="Calibri" pitchFamily="34" charset="0"/>
                <a:ea typeface="Calibri" pitchFamily="34" charset="-122"/>
                <a:cs typeface="Calibri" pitchFamily="34" charset="-120"/>
              </a:rPr>
              <a:t>Quận trung tâm: mật độ tin đăng dày, giá trung bình cao vượt trội. Huyện ngoại thành: mật độ thưa, giá ổn định và mềm hơn.</a:t>
            </a:r>
            <a:endParaRPr lang="en-US" sz="1150" dirty="0"/>
          </a:p>
        </p:txBody>
      </p:sp>
      <p:sp>
        <p:nvSpPr>
          <p:cNvPr id="9" name="Shape 7"/>
          <p:cNvSpPr/>
          <p:nvPr/>
        </p:nvSpPr>
        <p:spPr>
          <a:xfrm>
            <a:off x="4343400" y="1737360"/>
            <a:ext cx="3520440" cy="4251960"/>
          </a:xfrm>
          <a:prstGeom prst="roundRect">
            <a:avLst>
              <a:gd name="adj" fmla="val 2078"/>
            </a:avLst>
          </a:prstGeom>
          <a:solidFill>
            <a:srgbClr val="FFFFFF"/>
          </a:solidFill>
          <a:ln/>
          <a:effectLst>
            <a:outerShdw sx="100000" sy="100000" kx="0" ky="0" algn="bl" rotWithShape="0" blurRad="101600" dist="25400" dir="5400000">
              <a:srgbClr val="000000">
                <a:alpha val="8000"/>
              </a:srgbClr>
            </a:outerShdw>
          </a:effectLst>
        </p:spPr>
      </p:sp>
      <p:sp>
        <p:nvSpPr>
          <p:cNvPr id="10" name="Text 8"/>
          <p:cNvSpPr/>
          <p:nvPr/>
        </p:nvSpPr>
        <p:spPr>
          <a:xfrm>
            <a:off x="4572000" y="1920240"/>
            <a:ext cx="1188720" cy="502920"/>
          </a:xfrm>
          <a:prstGeom prst="rect">
            <a:avLst/>
          </a:prstGeom>
          <a:noFill/>
          <a:ln/>
        </p:spPr>
        <p:txBody>
          <a:bodyPr wrap="square" lIns="0" tIns="0" rIns="0" bIns="0" rtlCol="0" anchor="ctr"/>
          <a:lstStyle/>
          <a:p>
            <a:pPr indent="0" marL="0">
              <a:buNone/>
            </a:pPr>
            <a:r>
              <a:rPr lang="en-US" sz="2400" b="1" dirty="0">
                <a:solidFill>
                  <a:srgbClr val="E3DCD2"/>
                </a:solidFill>
                <a:latin typeface="Cambria" pitchFamily="34" charset="0"/>
                <a:ea typeface="Cambria" pitchFamily="34" charset="-122"/>
                <a:cs typeface="Cambria" pitchFamily="34" charset="-120"/>
              </a:rPr>
              <a:t>02</a:t>
            </a:r>
            <a:endParaRPr lang="en-US" sz="2400" dirty="0"/>
          </a:p>
        </p:txBody>
      </p:sp>
      <p:sp>
        <p:nvSpPr>
          <p:cNvPr id="11" name="Text 9"/>
          <p:cNvSpPr/>
          <p:nvPr/>
        </p:nvSpPr>
        <p:spPr>
          <a:xfrm>
            <a:off x="4572000" y="2423160"/>
            <a:ext cx="3063240" cy="868680"/>
          </a:xfrm>
          <a:prstGeom prst="rect">
            <a:avLst/>
          </a:prstGeom>
          <a:noFill/>
          <a:ln/>
        </p:spPr>
        <p:txBody>
          <a:bodyPr wrap="square" lIns="0" tIns="0" rIns="0" bIns="0" rtlCol="0" anchor="ctr"/>
          <a:lstStyle/>
          <a:p>
            <a:pPr indent="0" marL="0">
              <a:lnSpc>
                <a:spcPts val="1700"/>
              </a:lnSpc>
              <a:buNone/>
            </a:pPr>
            <a:r>
              <a:rPr lang="en-US" sz="1400" b="1" dirty="0">
                <a:solidFill>
                  <a:srgbClr val="1B2A4A"/>
                </a:solidFill>
                <a:latin typeface="Cambria" pitchFamily="34" charset="0"/>
                <a:ea typeface="Cambria" pitchFamily="34" charset="-122"/>
                <a:cs typeface="Cambria" pitchFamily="34" charset="-120"/>
              </a:rPr>
              <a:t>Diện tích vs Số phòng ngủ — tương quan với giá</a:t>
            </a:r>
            <a:endParaRPr lang="en-US" sz="1400" dirty="0"/>
          </a:p>
        </p:txBody>
      </p:sp>
      <p:sp>
        <p:nvSpPr>
          <p:cNvPr id="12" name="Shape 10"/>
          <p:cNvSpPr/>
          <p:nvPr/>
        </p:nvSpPr>
        <p:spPr>
          <a:xfrm>
            <a:off x="4572000" y="3364992"/>
            <a:ext cx="3063240" cy="0"/>
          </a:xfrm>
          <a:prstGeom prst="line">
            <a:avLst/>
          </a:prstGeom>
          <a:noFill/>
          <a:ln w="12700">
            <a:solidFill>
              <a:srgbClr val="ECE5D8"/>
            </a:solidFill>
            <a:prstDash val="solid"/>
          </a:ln>
        </p:spPr>
      </p:sp>
      <p:sp>
        <p:nvSpPr>
          <p:cNvPr id="13" name="Text 11"/>
          <p:cNvSpPr/>
          <p:nvPr/>
        </p:nvSpPr>
        <p:spPr>
          <a:xfrm>
            <a:off x="4572000" y="3520440"/>
            <a:ext cx="3063240" cy="2331720"/>
          </a:xfrm>
          <a:prstGeom prst="rect">
            <a:avLst/>
          </a:prstGeom>
          <a:noFill/>
          <a:ln/>
        </p:spPr>
        <p:txBody>
          <a:bodyPr wrap="square" lIns="0" tIns="0" rIns="0" bIns="0" rtlCol="0" anchor="ctr"/>
          <a:lstStyle/>
          <a:p>
            <a:pPr indent="0" marL="0">
              <a:lnSpc>
                <a:spcPts val="1600"/>
              </a:lnSpc>
              <a:buNone/>
            </a:pPr>
            <a:r>
              <a:rPr lang="en-US" sz="1150" dirty="0">
                <a:solidFill>
                  <a:srgbClr val="5B6B85"/>
                </a:solidFill>
                <a:latin typeface="Calibri" pitchFamily="34" charset="0"/>
                <a:ea typeface="Calibri" pitchFamily="34" charset="-122"/>
                <a:cs typeface="Calibri" pitchFamily="34" charset="-120"/>
              </a:rPr>
              <a:t>r diện tích = 0.75 so với r phòng ngủ = 0.42 → Diện tích mặt sàn có tác động đồng biến mạnh hơn nhiều.</a:t>
            </a:r>
            <a:endParaRPr lang="en-US" sz="1150" dirty="0"/>
          </a:p>
        </p:txBody>
      </p:sp>
      <p:sp>
        <p:nvSpPr>
          <p:cNvPr id="14" name="Shape 12"/>
          <p:cNvSpPr/>
          <p:nvPr/>
        </p:nvSpPr>
        <p:spPr>
          <a:xfrm>
            <a:off x="8138160" y="1737360"/>
            <a:ext cx="3520440" cy="4251960"/>
          </a:xfrm>
          <a:prstGeom prst="roundRect">
            <a:avLst>
              <a:gd name="adj" fmla="val 2078"/>
            </a:avLst>
          </a:prstGeom>
          <a:solidFill>
            <a:srgbClr val="FFFFFF"/>
          </a:solidFill>
          <a:ln/>
          <a:effectLst>
            <a:outerShdw sx="100000" sy="100000" kx="0" ky="0" algn="bl" rotWithShape="0" blurRad="101600" dist="25400" dir="5400000">
              <a:srgbClr val="000000">
                <a:alpha val="8000"/>
              </a:srgbClr>
            </a:outerShdw>
          </a:effectLst>
        </p:spPr>
      </p:sp>
      <p:sp>
        <p:nvSpPr>
          <p:cNvPr id="15" name="Text 13"/>
          <p:cNvSpPr/>
          <p:nvPr/>
        </p:nvSpPr>
        <p:spPr>
          <a:xfrm>
            <a:off x="8366760" y="1920240"/>
            <a:ext cx="1188720" cy="502920"/>
          </a:xfrm>
          <a:prstGeom prst="rect">
            <a:avLst/>
          </a:prstGeom>
          <a:noFill/>
          <a:ln/>
        </p:spPr>
        <p:txBody>
          <a:bodyPr wrap="square" lIns="0" tIns="0" rIns="0" bIns="0" rtlCol="0" anchor="ctr"/>
          <a:lstStyle/>
          <a:p>
            <a:pPr indent="0" marL="0">
              <a:buNone/>
            </a:pPr>
            <a:r>
              <a:rPr lang="en-US" sz="2400" b="1" dirty="0">
                <a:solidFill>
                  <a:srgbClr val="E3DCD2"/>
                </a:solidFill>
                <a:latin typeface="Cambria" pitchFamily="34" charset="0"/>
                <a:ea typeface="Cambria" pitchFamily="34" charset="-122"/>
                <a:cs typeface="Cambria" pitchFamily="34" charset="-120"/>
              </a:rPr>
              <a:t>03</a:t>
            </a:r>
            <a:endParaRPr lang="en-US" sz="2400" dirty="0"/>
          </a:p>
        </p:txBody>
      </p:sp>
      <p:sp>
        <p:nvSpPr>
          <p:cNvPr id="16" name="Text 14"/>
          <p:cNvSpPr/>
          <p:nvPr/>
        </p:nvSpPr>
        <p:spPr>
          <a:xfrm>
            <a:off x="8366760" y="2423160"/>
            <a:ext cx="3063240" cy="868680"/>
          </a:xfrm>
          <a:prstGeom prst="rect">
            <a:avLst/>
          </a:prstGeom>
          <a:noFill/>
          <a:ln/>
        </p:spPr>
        <p:txBody>
          <a:bodyPr wrap="square" lIns="0" tIns="0" rIns="0" bIns="0" rtlCol="0" anchor="ctr"/>
          <a:lstStyle/>
          <a:p>
            <a:pPr indent="0" marL="0">
              <a:lnSpc>
                <a:spcPts val="1700"/>
              </a:lnSpc>
              <a:buNone/>
            </a:pPr>
            <a:r>
              <a:rPr lang="en-US" sz="1400" b="1" dirty="0">
                <a:solidFill>
                  <a:srgbClr val="1B2A4A"/>
                </a:solidFill>
                <a:latin typeface="Cambria" pitchFamily="34" charset="0"/>
                <a:ea typeface="Cambria" pitchFamily="34" charset="-122"/>
                <a:cs typeface="Cambria" pitchFamily="34" charset="-120"/>
              </a:rPr>
              <a:t>Tỷ trọng loại hình BĐS</a:t>
            </a:r>
            <a:endParaRPr lang="en-US" sz="1400" dirty="0"/>
          </a:p>
        </p:txBody>
      </p:sp>
      <p:sp>
        <p:nvSpPr>
          <p:cNvPr id="17" name="Shape 15"/>
          <p:cNvSpPr/>
          <p:nvPr/>
        </p:nvSpPr>
        <p:spPr>
          <a:xfrm>
            <a:off x="8366760" y="3364992"/>
            <a:ext cx="3063240" cy="0"/>
          </a:xfrm>
          <a:prstGeom prst="line">
            <a:avLst/>
          </a:prstGeom>
          <a:noFill/>
          <a:ln w="12700">
            <a:solidFill>
              <a:srgbClr val="ECE5D8"/>
            </a:solidFill>
            <a:prstDash val="solid"/>
          </a:ln>
        </p:spPr>
      </p:sp>
      <p:sp>
        <p:nvSpPr>
          <p:cNvPr id="18" name="Text 16"/>
          <p:cNvSpPr/>
          <p:nvPr/>
        </p:nvSpPr>
        <p:spPr>
          <a:xfrm>
            <a:off x="8366760" y="3520440"/>
            <a:ext cx="3063240" cy="2331720"/>
          </a:xfrm>
          <a:prstGeom prst="rect">
            <a:avLst/>
          </a:prstGeom>
          <a:noFill/>
          <a:ln/>
        </p:spPr>
        <p:txBody>
          <a:bodyPr wrap="square" lIns="0" tIns="0" rIns="0" bIns="0" rtlCol="0" anchor="ctr"/>
          <a:lstStyle/>
          <a:p>
            <a:pPr indent="0" marL="0">
              <a:lnSpc>
                <a:spcPts val="1600"/>
              </a:lnSpc>
              <a:buNone/>
            </a:pPr>
            <a:r>
              <a:rPr lang="en-US" sz="1150" dirty="0">
                <a:solidFill>
                  <a:srgbClr val="5B6B85"/>
                </a:solidFill>
                <a:latin typeface="Calibri" pitchFamily="34" charset="0"/>
                <a:ea typeface="Calibri" pitchFamily="34" charset="-122"/>
                <a:cs typeface="Calibri" pitchFamily="34" charset="-120"/>
              </a:rPr>
              <a:t>Nhà đất thổ cư / Chung cư chiếm tỷ trọng áp đảo; Nhà mặt phố chiếm tỷ lệ nhỏ do khan hiếm và giá trị cao.</a:t>
            </a:r>
            <a:endParaRPr lang="en-US" sz="1150" dirty="0"/>
          </a:p>
        </p:txBody>
      </p:sp>
      <p:sp>
        <p:nvSpPr>
          <p:cNvPr id="19" name="Text 17"/>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CHƯƠNG 4 · THỰC NGHIỆM &amp; ĐÁNH GIÁ</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Kết quả phân tích khám phá dữ liệu (2/2)</a:t>
            </a:r>
            <a:endParaRPr lang="en-US" sz="3000" dirty="0"/>
          </a:p>
        </p:txBody>
      </p:sp>
      <p:sp>
        <p:nvSpPr>
          <p:cNvPr id="4" name="Shape 2"/>
          <p:cNvSpPr/>
          <p:nvPr/>
        </p:nvSpPr>
        <p:spPr>
          <a:xfrm>
            <a:off x="548640" y="1737360"/>
            <a:ext cx="5440680" cy="4251960"/>
          </a:xfrm>
          <a:prstGeom prst="roundRect">
            <a:avLst>
              <a:gd name="adj" fmla="val 1720"/>
            </a:avLst>
          </a:prstGeom>
          <a:solidFill>
            <a:srgbClr val="1B2A4A"/>
          </a:solidFill>
          <a:ln/>
          <a:effectLst>
            <a:outerShdw sx="100000" sy="100000" kx="0" ky="0" algn="bl" rotWithShape="0" blurRad="127000" dist="38100" dir="5400000">
              <a:srgbClr val="000000">
                <a:alpha val="18000"/>
              </a:srgbClr>
            </a:outerShdw>
          </a:effectLst>
        </p:spPr>
      </p:sp>
      <p:sp>
        <p:nvSpPr>
          <p:cNvPr id="5" name="Shape 3"/>
          <p:cNvSpPr/>
          <p:nvPr/>
        </p:nvSpPr>
        <p:spPr>
          <a:xfrm>
            <a:off x="868680" y="1965960"/>
            <a:ext cx="548640" cy="548640"/>
          </a:xfrm>
          <a:prstGeom prst="ellipse">
            <a:avLst/>
          </a:prstGeom>
          <a:solidFill>
            <a:srgbClr val="C0654A"/>
          </a:solidFill>
          <a:ln/>
        </p:spPr>
      </p:sp>
      <p:pic>
        <p:nvPicPr>
          <p:cNvPr id="6" name="Image 0" descr="preencoded.png">    </p:cNvPr>
          <p:cNvPicPr>
            <a:picLocks noChangeAspect="1"/>
          </p:cNvPicPr>
          <p:nvPr/>
        </p:nvPicPr>
        <p:blipFill>
          <a:blip r:embed="rId1"/>
          <a:stretch>
            <a:fillRect/>
          </a:stretch>
        </p:blipFill>
        <p:spPr>
          <a:xfrm>
            <a:off x="950976" y="2048256"/>
            <a:ext cx="384048" cy="384048"/>
          </a:xfrm>
          <a:prstGeom prst="rect">
            <a:avLst/>
          </a:prstGeom>
        </p:spPr>
      </p:pic>
      <p:sp>
        <p:nvSpPr>
          <p:cNvPr id="7" name="Text 4"/>
          <p:cNvSpPr/>
          <p:nvPr/>
        </p:nvSpPr>
        <p:spPr>
          <a:xfrm>
            <a:off x="1554480" y="2029968"/>
            <a:ext cx="4297680" cy="5486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mbria" pitchFamily="34" charset="0"/>
                <a:ea typeface="Cambria" pitchFamily="34" charset="-122"/>
                <a:cs typeface="Cambria" pitchFamily="34" charset="-120"/>
              </a:rPr>
              <a:t>Câu hỏi 4 — Ảnh hưởng của Hướng nhà</a:t>
            </a:r>
            <a:endParaRPr lang="en-US" sz="1450" dirty="0"/>
          </a:p>
        </p:txBody>
      </p:sp>
      <p:sp>
        <p:nvSpPr>
          <p:cNvPr id="8" name="Text 5"/>
          <p:cNvSpPr/>
          <p:nvPr/>
        </p:nvSpPr>
        <p:spPr>
          <a:xfrm>
            <a:off x="868680" y="2697480"/>
            <a:ext cx="4846320" cy="1737360"/>
          </a:xfrm>
          <a:prstGeom prst="rect">
            <a:avLst/>
          </a:prstGeom>
          <a:noFill/>
          <a:ln/>
        </p:spPr>
        <p:txBody>
          <a:bodyPr wrap="square" lIns="0" tIns="0" rIns="0" bIns="0" rtlCol="0" anchor="ctr"/>
          <a:lstStyle/>
          <a:p>
            <a:pPr indent="0" marL="0">
              <a:lnSpc>
                <a:spcPts val="1700"/>
              </a:lnSpc>
              <a:buNone/>
            </a:pPr>
            <a:r>
              <a:rPr lang="en-US" sz="1250" dirty="0">
                <a:solidFill>
                  <a:srgbClr val="E8ECF7"/>
                </a:solidFill>
                <a:latin typeface="Calibri" pitchFamily="34" charset="0"/>
                <a:ea typeface="Calibri" pitchFamily="34" charset="-122"/>
                <a:cs typeface="Calibri" pitchFamily="34" charset="-120"/>
              </a:rPr>
              <a:t>Hướng nhà tạo ra chênh lệch rõ rệt về giá và lượt tương tác. BĐS hướng Nam và Đông Nam — mát mẻ, hợp khí hậu Việt Nam — ghi nhận mức giá nhỉnh hơn và được quan tâm vượt trội từ người dùng.</a:t>
            </a:r>
            <a:endParaRPr lang="en-US" sz="1250" dirty="0"/>
          </a:p>
        </p:txBody>
      </p:sp>
      <p:sp>
        <p:nvSpPr>
          <p:cNvPr id="9" name="Shape 6"/>
          <p:cNvSpPr/>
          <p:nvPr/>
        </p:nvSpPr>
        <p:spPr>
          <a:xfrm>
            <a:off x="868680" y="5120640"/>
            <a:ext cx="868680" cy="457200"/>
          </a:xfrm>
          <a:prstGeom prst="roundRect">
            <a:avLst>
              <a:gd name="adj" fmla="val 50000"/>
            </a:avLst>
          </a:prstGeom>
          <a:solidFill>
            <a:srgbClr val="121D33"/>
          </a:solidFill>
          <a:ln/>
        </p:spPr>
      </p:sp>
      <p:sp>
        <p:nvSpPr>
          <p:cNvPr id="10" name="Text 7"/>
          <p:cNvSpPr/>
          <p:nvPr/>
        </p:nvSpPr>
        <p:spPr>
          <a:xfrm>
            <a:off x="868680" y="5120640"/>
            <a:ext cx="868680" cy="45720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Đông</a:t>
            </a:r>
            <a:endParaRPr lang="en-US" sz="950" dirty="0"/>
          </a:p>
        </p:txBody>
      </p:sp>
      <p:sp>
        <p:nvSpPr>
          <p:cNvPr id="11" name="Shape 8"/>
          <p:cNvSpPr/>
          <p:nvPr/>
        </p:nvSpPr>
        <p:spPr>
          <a:xfrm>
            <a:off x="1828800" y="5120640"/>
            <a:ext cx="868680" cy="457200"/>
          </a:xfrm>
          <a:prstGeom prst="roundRect">
            <a:avLst>
              <a:gd name="adj" fmla="val 50000"/>
            </a:avLst>
          </a:prstGeom>
          <a:solidFill>
            <a:srgbClr val="121D33"/>
          </a:solidFill>
          <a:ln/>
        </p:spPr>
      </p:sp>
      <p:sp>
        <p:nvSpPr>
          <p:cNvPr id="12" name="Text 9"/>
          <p:cNvSpPr/>
          <p:nvPr/>
        </p:nvSpPr>
        <p:spPr>
          <a:xfrm>
            <a:off x="1828800" y="5120640"/>
            <a:ext cx="868680" cy="45720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Tây</a:t>
            </a:r>
            <a:endParaRPr lang="en-US" sz="950" dirty="0"/>
          </a:p>
        </p:txBody>
      </p:sp>
      <p:sp>
        <p:nvSpPr>
          <p:cNvPr id="13" name="Shape 10"/>
          <p:cNvSpPr/>
          <p:nvPr/>
        </p:nvSpPr>
        <p:spPr>
          <a:xfrm>
            <a:off x="2788920" y="5120640"/>
            <a:ext cx="868680" cy="457200"/>
          </a:xfrm>
          <a:prstGeom prst="roundRect">
            <a:avLst>
              <a:gd name="adj" fmla="val 50000"/>
            </a:avLst>
          </a:prstGeom>
          <a:solidFill>
            <a:srgbClr val="C0654A"/>
          </a:solidFill>
          <a:ln/>
        </p:spPr>
      </p:sp>
      <p:sp>
        <p:nvSpPr>
          <p:cNvPr id="14" name="Text 11"/>
          <p:cNvSpPr/>
          <p:nvPr/>
        </p:nvSpPr>
        <p:spPr>
          <a:xfrm>
            <a:off x="2788920" y="5120640"/>
            <a:ext cx="868680" cy="45720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Nam</a:t>
            </a:r>
            <a:endParaRPr lang="en-US" sz="950" dirty="0"/>
          </a:p>
        </p:txBody>
      </p:sp>
      <p:sp>
        <p:nvSpPr>
          <p:cNvPr id="15" name="Shape 12"/>
          <p:cNvSpPr/>
          <p:nvPr/>
        </p:nvSpPr>
        <p:spPr>
          <a:xfrm>
            <a:off x="3749040" y="5120640"/>
            <a:ext cx="868680" cy="457200"/>
          </a:xfrm>
          <a:prstGeom prst="roundRect">
            <a:avLst>
              <a:gd name="adj" fmla="val 50000"/>
            </a:avLst>
          </a:prstGeom>
          <a:solidFill>
            <a:srgbClr val="121D33"/>
          </a:solidFill>
          <a:ln/>
        </p:spPr>
      </p:sp>
      <p:sp>
        <p:nvSpPr>
          <p:cNvPr id="16" name="Text 13"/>
          <p:cNvSpPr/>
          <p:nvPr/>
        </p:nvSpPr>
        <p:spPr>
          <a:xfrm>
            <a:off x="3749040" y="5120640"/>
            <a:ext cx="868680" cy="45720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Bắc</a:t>
            </a:r>
            <a:endParaRPr lang="en-US" sz="950" dirty="0"/>
          </a:p>
        </p:txBody>
      </p:sp>
      <p:sp>
        <p:nvSpPr>
          <p:cNvPr id="17" name="Shape 14"/>
          <p:cNvSpPr/>
          <p:nvPr/>
        </p:nvSpPr>
        <p:spPr>
          <a:xfrm>
            <a:off x="4709160" y="5120640"/>
            <a:ext cx="868680" cy="457200"/>
          </a:xfrm>
          <a:prstGeom prst="roundRect">
            <a:avLst>
              <a:gd name="adj" fmla="val 50000"/>
            </a:avLst>
          </a:prstGeom>
          <a:solidFill>
            <a:srgbClr val="C0654A"/>
          </a:solidFill>
          <a:ln/>
        </p:spPr>
      </p:sp>
      <p:sp>
        <p:nvSpPr>
          <p:cNvPr id="18" name="Text 15"/>
          <p:cNvSpPr/>
          <p:nvPr/>
        </p:nvSpPr>
        <p:spPr>
          <a:xfrm>
            <a:off x="4709160" y="5120640"/>
            <a:ext cx="868680" cy="45720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Đông Nam</a:t>
            </a:r>
            <a:endParaRPr lang="en-US" sz="950" dirty="0"/>
          </a:p>
        </p:txBody>
      </p:sp>
      <p:sp>
        <p:nvSpPr>
          <p:cNvPr id="19" name="Shape 16"/>
          <p:cNvSpPr/>
          <p:nvPr/>
        </p:nvSpPr>
        <p:spPr>
          <a:xfrm>
            <a:off x="6199632" y="1737360"/>
            <a:ext cx="5440680" cy="4251960"/>
          </a:xfrm>
          <a:prstGeom prst="roundRect">
            <a:avLst>
              <a:gd name="adj" fmla="val 1720"/>
            </a:avLst>
          </a:prstGeom>
          <a:solidFill>
            <a:srgbClr val="FFFFFF"/>
          </a:solidFill>
          <a:ln/>
          <a:effectLst>
            <a:outerShdw sx="100000" sy="100000" kx="0" ky="0" algn="bl" rotWithShape="0" blurRad="101600" dist="25400" dir="5400000">
              <a:srgbClr val="000000">
                <a:alpha val="8000"/>
              </a:srgbClr>
            </a:outerShdw>
          </a:effectLst>
        </p:spPr>
      </p:sp>
      <p:sp>
        <p:nvSpPr>
          <p:cNvPr id="20" name="Shape 17"/>
          <p:cNvSpPr/>
          <p:nvPr/>
        </p:nvSpPr>
        <p:spPr>
          <a:xfrm>
            <a:off x="6519672" y="1965960"/>
            <a:ext cx="548640" cy="548640"/>
          </a:xfrm>
          <a:prstGeom prst="ellipse">
            <a:avLst/>
          </a:prstGeom>
          <a:solidFill>
            <a:srgbClr val="FBEFEA"/>
          </a:solidFill>
          <a:ln/>
        </p:spPr>
      </p:sp>
      <p:pic>
        <p:nvPicPr>
          <p:cNvPr id="21" name="Image 1" descr="preencoded.png">    </p:cNvPr>
          <p:cNvPicPr>
            <a:picLocks noChangeAspect="1"/>
          </p:cNvPicPr>
          <p:nvPr/>
        </p:nvPicPr>
        <p:blipFill>
          <a:blip r:embed="rId2"/>
          <a:stretch>
            <a:fillRect/>
          </a:stretch>
        </p:blipFill>
        <p:spPr>
          <a:xfrm>
            <a:off x="6601968" y="2048256"/>
            <a:ext cx="384048" cy="384048"/>
          </a:xfrm>
          <a:prstGeom prst="rect">
            <a:avLst/>
          </a:prstGeom>
        </p:spPr>
      </p:pic>
      <p:sp>
        <p:nvSpPr>
          <p:cNvPr id="22" name="Text 18"/>
          <p:cNvSpPr/>
          <p:nvPr/>
        </p:nvSpPr>
        <p:spPr>
          <a:xfrm>
            <a:off x="7205472" y="2029968"/>
            <a:ext cx="4297680" cy="548640"/>
          </a:xfrm>
          <a:prstGeom prst="rect">
            <a:avLst/>
          </a:prstGeom>
          <a:noFill/>
          <a:ln/>
        </p:spPr>
        <p:txBody>
          <a:bodyPr wrap="square" lIns="0" tIns="0" rIns="0" bIns="0" rtlCol="0" anchor="ctr"/>
          <a:lstStyle/>
          <a:p>
            <a:pPr indent="0" marL="0">
              <a:lnSpc>
                <a:spcPts val="1700"/>
              </a:lnSpc>
              <a:buNone/>
            </a:pPr>
            <a:r>
              <a:rPr lang="en-US" sz="1450" b="1" dirty="0">
                <a:solidFill>
                  <a:srgbClr val="1B2A4A"/>
                </a:solidFill>
                <a:latin typeface="Cambria" pitchFamily="34" charset="0"/>
                <a:ea typeface="Cambria" pitchFamily="34" charset="-122"/>
                <a:cs typeface="Cambria" pitchFamily="34" charset="-120"/>
              </a:rPr>
              <a:t>Câu hỏi 5 — Nhận diện Outliers</a:t>
            </a:r>
            <a:endParaRPr lang="en-US" sz="1450" dirty="0"/>
          </a:p>
        </p:txBody>
      </p:sp>
      <p:sp>
        <p:nvSpPr>
          <p:cNvPr id="23" name="Text 19"/>
          <p:cNvSpPr/>
          <p:nvPr/>
        </p:nvSpPr>
        <p:spPr>
          <a:xfrm>
            <a:off x="6519672" y="2697480"/>
            <a:ext cx="4846320" cy="457200"/>
          </a:xfrm>
          <a:prstGeom prst="rect">
            <a:avLst/>
          </a:prstGeom>
          <a:noFill/>
          <a:ln/>
        </p:spPr>
        <p:txBody>
          <a:bodyPr wrap="square" lIns="0" tIns="0" rIns="0" bIns="0" rtlCol="0" anchor="ctr"/>
          <a:lstStyle/>
          <a:p>
            <a:pPr indent="0" marL="0">
              <a:buNone/>
            </a:pPr>
            <a:r>
              <a:rPr lang="en-US" sz="1250" dirty="0">
                <a:solidFill>
                  <a:srgbClr val="1F2430"/>
                </a:solidFill>
                <a:latin typeface="Calibri" pitchFamily="34" charset="0"/>
                <a:ea typeface="Calibri" pitchFamily="34" charset="-122"/>
                <a:cs typeface="Calibri" pitchFamily="34" charset="-120"/>
              </a:rPr>
              <a:t>Dữ liệu thô chứa khá nhiều giá trị dị biệt, tập trung chủ yếu ở hai nhóm:</a:t>
            </a:r>
            <a:endParaRPr lang="en-US" sz="1250" dirty="0"/>
          </a:p>
        </p:txBody>
      </p:sp>
      <p:sp>
        <p:nvSpPr>
          <p:cNvPr id="24" name="Text 20"/>
          <p:cNvSpPr/>
          <p:nvPr/>
        </p:nvSpPr>
        <p:spPr>
          <a:xfrm>
            <a:off x="6519672" y="3200400"/>
            <a:ext cx="4846320" cy="1463040"/>
          </a:xfrm>
          <a:prstGeom prst="rect">
            <a:avLst/>
          </a:prstGeom>
          <a:noFill/>
          <a:ln/>
        </p:spPr>
        <p:txBody>
          <a:bodyPr wrap="square" rtlCol="0" anchor="ctr"/>
          <a:lstStyle/>
          <a:p>
            <a:pPr marL="342900" indent="-342900">
              <a:lnSpc>
                <a:spcPts val="1600"/>
              </a:lnSpc>
              <a:spcAft>
                <a:spcPts val="1000"/>
              </a:spcAft>
              <a:buSzPct val="100000"/>
              <a:buChar char="•"/>
            </a:pPr>
            <a:r>
              <a:rPr lang="en-US" sz="1200" dirty="0">
                <a:solidFill>
                  <a:srgbClr val="5B6B85"/>
                </a:solidFill>
                <a:latin typeface="Calibri" pitchFamily="34" charset="0"/>
                <a:ea typeface="Calibri" pitchFamily="34" charset="-122"/>
                <a:cs typeface="Calibri" pitchFamily="34" charset="-120"/>
              </a:rPr>
              <a:t>Phân khúc Cao cấp: siêu biệt thự, nhà mặt phố lõi trung tâm — giá ảo lên đến hàng trăm tỷ</a:t>
            </a:r>
            <a:endParaRPr lang="en-US" sz="1200" dirty="0"/>
          </a:p>
          <a:p>
            <a:pPr marL="342900" indent="-342900">
              <a:lnSpc>
                <a:spcPts val="1600"/>
              </a:lnSpc>
              <a:buSzPct val="100000"/>
              <a:buChar char="•"/>
            </a:pPr>
            <a:r>
              <a:rPr lang="en-US" sz="1200" dirty="0">
                <a:solidFill>
                  <a:srgbClr val="5B6B85"/>
                </a:solidFill>
                <a:latin typeface="Calibri" pitchFamily="34" charset="0"/>
                <a:ea typeface="Calibri" pitchFamily="34" charset="-122"/>
                <a:cs typeface="Calibri" pitchFamily="34" charset="-120"/>
              </a:rPr>
              <a:t>Phân khúc lỗi nhập liệu: diện tích bằng 0 hoặc giá quá thấp</a:t>
            </a:r>
            <a:endParaRPr lang="en-US" sz="1200" dirty="0"/>
          </a:p>
        </p:txBody>
      </p:sp>
      <p:sp>
        <p:nvSpPr>
          <p:cNvPr id="25" name="Shape 21"/>
          <p:cNvSpPr/>
          <p:nvPr/>
        </p:nvSpPr>
        <p:spPr>
          <a:xfrm>
            <a:off x="6519672" y="4937760"/>
            <a:ext cx="4846320" cy="731520"/>
          </a:xfrm>
          <a:prstGeom prst="roundRect">
            <a:avLst>
              <a:gd name="adj" fmla="val 7500"/>
            </a:avLst>
          </a:prstGeom>
          <a:solidFill>
            <a:srgbClr val="EFE7DD"/>
          </a:solidFill>
          <a:ln/>
        </p:spPr>
      </p:sp>
      <p:sp>
        <p:nvSpPr>
          <p:cNvPr id="26" name="Text 22"/>
          <p:cNvSpPr/>
          <p:nvPr/>
        </p:nvSpPr>
        <p:spPr>
          <a:xfrm>
            <a:off x="6720840" y="4937760"/>
            <a:ext cx="4480560" cy="7315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 Đã loại bỏ nhiễu bằng phương pháp IQR trước khi huấn luyện mô hình.</a:t>
            </a:r>
            <a:endParaRPr lang="en-US" sz="1150" dirty="0"/>
          </a:p>
        </p:txBody>
      </p:sp>
      <p:sp>
        <p:nvSpPr>
          <p:cNvPr id="27" name="Text 2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CHƯƠNG 4 · THỰC NGHIỆM &amp; ĐÁNH GIÁ</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Hiệu năng mô hình dự báo giá (Câu hỏi 6 &amp; 7)</a:t>
            </a:r>
            <a:endParaRPr lang="en-US" sz="3000" dirty="0"/>
          </a:p>
        </p:txBody>
      </p:sp>
      <p:sp>
        <p:nvSpPr>
          <p:cNvPr id="4" name="Shape 2"/>
          <p:cNvSpPr/>
          <p:nvPr/>
        </p:nvSpPr>
        <p:spPr>
          <a:xfrm>
            <a:off x="548640" y="1691640"/>
            <a:ext cx="3383280" cy="1417320"/>
          </a:xfrm>
          <a:prstGeom prst="roundRect">
            <a:avLst>
              <a:gd name="adj" fmla="val 5161"/>
            </a:avLst>
          </a:prstGeom>
          <a:solidFill>
            <a:srgbClr val="1B2A4A"/>
          </a:solidFill>
          <a:ln/>
          <a:effectLst>
            <a:outerShdw sx="100000" sy="100000" kx="0" ky="0" algn="bl" rotWithShape="0" blurRad="101600" dist="25400" dir="5400000">
              <a:srgbClr val="000000">
                <a:alpha val="15000"/>
              </a:srgbClr>
            </a:outerShdw>
          </a:effectLst>
        </p:spPr>
      </p:sp>
      <p:sp>
        <p:nvSpPr>
          <p:cNvPr id="5" name="Text 3"/>
          <p:cNvSpPr/>
          <p:nvPr/>
        </p:nvSpPr>
        <p:spPr>
          <a:xfrm>
            <a:off x="777240" y="1828800"/>
            <a:ext cx="2743200" cy="320040"/>
          </a:xfrm>
          <a:prstGeom prst="rect">
            <a:avLst/>
          </a:prstGeom>
          <a:noFill/>
          <a:ln/>
        </p:spPr>
        <p:txBody>
          <a:bodyPr wrap="square" lIns="0" tIns="0" rIns="0" bIns="0" rtlCol="0" anchor="ctr"/>
          <a:lstStyle/>
          <a:p>
            <a:pPr indent="0" marL="0">
              <a:buNone/>
            </a:pPr>
            <a:r>
              <a:rPr lang="en-US" sz="1150" b="1" spc="150" kern="0" dirty="0">
                <a:solidFill>
                  <a:srgbClr val="8A93A8"/>
                </a:solidFill>
                <a:latin typeface="Calibri" pitchFamily="34" charset="0"/>
                <a:ea typeface="Calibri" pitchFamily="34" charset="-122"/>
                <a:cs typeface="Calibri" pitchFamily="34" charset="-120"/>
              </a:rPr>
              <a:t>RMSE</a:t>
            </a:r>
            <a:endParaRPr lang="en-US" sz="1150" dirty="0"/>
          </a:p>
        </p:txBody>
      </p:sp>
      <p:sp>
        <p:nvSpPr>
          <p:cNvPr id="6" name="Text 4"/>
          <p:cNvSpPr/>
          <p:nvPr/>
        </p:nvSpPr>
        <p:spPr>
          <a:xfrm>
            <a:off x="777240" y="2084832"/>
            <a:ext cx="2286000" cy="82296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0.78</a:t>
            </a:r>
            <a:endParaRPr lang="en-US" sz="4800" dirty="0"/>
          </a:p>
        </p:txBody>
      </p:sp>
      <p:sp>
        <p:nvSpPr>
          <p:cNvPr id="7" name="Text 5"/>
          <p:cNvSpPr/>
          <p:nvPr/>
        </p:nvSpPr>
        <p:spPr>
          <a:xfrm>
            <a:off x="777240" y="2788920"/>
            <a:ext cx="3017520" cy="27432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Tỷ VNĐ — sai số mô hình tối ưu</a:t>
            </a:r>
            <a:endParaRPr lang="en-US" sz="1000" dirty="0"/>
          </a:p>
        </p:txBody>
      </p:sp>
      <p:sp>
        <p:nvSpPr>
          <p:cNvPr id="8" name="Shape 6"/>
          <p:cNvSpPr/>
          <p:nvPr/>
        </p:nvSpPr>
        <p:spPr>
          <a:xfrm>
            <a:off x="4114800" y="1691640"/>
            <a:ext cx="3383280" cy="1417320"/>
          </a:xfrm>
          <a:prstGeom prst="roundRect">
            <a:avLst>
              <a:gd name="adj" fmla="val 5161"/>
            </a:avLst>
          </a:prstGeom>
          <a:solidFill>
            <a:srgbClr val="C0654A"/>
          </a:solidFill>
          <a:ln/>
          <a:effectLst>
            <a:outerShdw sx="100000" sy="100000" kx="0" ky="0" algn="bl" rotWithShape="0" blurRad="101600" dist="25400" dir="5400000">
              <a:srgbClr val="000000">
                <a:alpha val="15000"/>
              </a:srgbClr>
            </a:outerShdw>
          </a:effectLst>
        </p:spPr>
      </p:sp>
      <p:sp>
        <p:nvSpPr>
          <p:cNvPr id="9" name="Text 7"/>
          <p:cNvSpPr/>
          <p:nvPr/>
        </p:nvSpPr>
        <p:spPr>
          <a:xfrm>
            <a:off x="4343400" y="1828800"/>
            <a:ext cx="2743200" cy="320040"/>
          </a:xfrm>
          <a:prstGeom prst="rect">
            <a:avLst/>
          </a:prstGeom>
          <a:noFill/>
          <a:ln/>
        </p:spPr>
        <p:txBody>
          <a:bodyPr wrap="square" lIns="0" tIns="0" rIns="0" bIns="0" rtlCol="0" anchor="ctr"/>
          <a:lstStyle/>
          <a:p>
            <a:pPr indent="0" marL="0">
              <a:buNone/>
            </a:pPr>
            <a:r>
              <a:rPr lang="en-US" sz="1150" b="1" spc="150" kern="0" dirty="0">
                <a:solidFill>
                  <a:srgbClr val="FBEFEA"/>
                </a:solidFill>
                <a:latin typeface="Calibri" pitchFamily="34" charset="0"/>
                <a:ea typeface="Calibri" pitchFamily="34" charset="-122"/>
                <a:cs typeface="Calibri" pitchFamily="34" charset="-120"/>
              </a:rPr>
              <a:t>R² SCORE</a:t>
            </a:r>
            <a:endParaRPr lang="en-US" sz="1150" dirty="0"/>
          </a:p>
        </p:txBody>
      </p:sp>
      <p:sp>
        <p:nvSpPr>
          <p:cNvPr id="10" name="Text 8"/>
          <p:cNvSpPr/>
          <p:nvPr/>
        </p:nvSpPr>
        <p:spPr>
          <a:xfrm>
            <a:off x="4343400" y="2084832"/>
            <a:ext cx="301752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84.6%</a:t>
            </a:r>
            <a:endParaRPr lang="en-US" sz="4400" dirty="0"/>
          </a:p>
        </p:txBody>
      </p:sp>
      <p:sp>
        <p:nvSpPr>
          <p:cNvPr id="11" name="Text 9"/>
          <p:cNvSpPr/>
          <p:nvPr/>
        </p:nvSpPr>
        <p:spPr>
          <a:xfrm>
            <a:off x="4343400" y="2788920"/>
            <a:ext cx="3017520" cy="274320"/>
          </a:xfrm>
          <a:prstGeom prst="rect">
            <a:avLst/>
          </a:prstGeom>
          <a:noFill/>
          <a:ln/>
        </p:spPr>
        <p:txBody>
          <a:bodyPr wrap="square" lIns="0" tIns="0" rIns="0" bIns="0" rtlCol="0" anchor="ctr"/>
          <a:lstStyle/>
          <a:p>
            <a:pPr indent="0" marL="0">
              <a:buNone/>
            </a:pPr>
            <a:r>
              <a:rPr lang="en-US" sz="1000" dirty="0">
                <a:solidFill>
                  <a:srgbClr val="FBEFEA"/>
                </a:solidFill>
                <a:latin typeface="Calibri" pitchFamily="34" charset="0"/>
                <a:ea typeface="Calibri" pitchFamily="34" charset="-122"/>
                <a:cs typeface="Calibri" pitchFamily="34" charset="-120"/>
              </a:rPr>
              <a:t>Đạt được bởi XGBoost Regressor</a:t>
            </a:r>
            <a:endParaRPr lang="en-US" sz="1000" dirty="0"/>
          </a:p>
        </p:txBody>
      </p:sp>
      <p:sp>
        <p:nvSpPr>
          <p:cNvPr id="12" name="Shape 10"/>
          <p:cNvSpPr/>
          <p:nvPr/>
        </p:nvSpPr>
        <p:spPr>
          <a:xfrm>
            <a:off x="7680960" y="1691640"/>
            <a:ext cx="3959352" cy="1417320"/>
          </a:xfrm>
          <a:prstGeom prst="roundRect">
            <a:avLst>
              <a:gd name="adj" fmla="val 5161"/>
            </a:avLst>
          </a:prstGeom>
          <a:solidFill>
            <a:srgbClr val="FFFFFF"/>
          </a:solidFill>
          <a:ln/>
          <a:effectLst>
            <a:outerShdw sx="100000" sy="100000" kx="0" ky="0" algn="bl" rotWithShape="0" blurRad="88900" dist="25400" dir="5400000">
              <a:srgbClr val="000000">
                <a:alpha val="8000"/>
              </a:srgbClr>
            </a:outerShdw>
          </a:effectLst>
        </p:spPr>
      </p:sp>
      <p:sp>
        <p:nvSpPr>
          <p:cNvPr id="13" name="Shape 11"/>
          <p:cNvSpPr/>
          <p:nvPr/>
        </p:nvSpPr>
        <p:spPr>
          <a:xfrm>
            <a:off x="7863840" y="1874520"/>
            <a:ext cx="640080" cy="640080"/>
          </a:xfrm>
          <a:prstGeom prst="ellipse">
            <a:avLst/>
          </a:prstGeom>
          <a:solidFill>
            <a:srgbClr val="1B2A4A"/>
          </a:solidFill>
          <a:ln/>
        </p:spPr>
      </p:sp>
      <p:pic>
        <p:nvPicPr>
          <p:cNvPr id="14" name="Image 0" descr="preencoded.png">    </p:cNvPr>
          <p:cNvPicPr>
            <a:picLocks noChangeAspect="1"/>
          </p:cNvPicPr>
          <p:nvPr/>
        </p:nvPicPr>
        <p:blipFill>
          <a:blip r:embed="rId1"/>
          <a:stretch>
            <a:fillRect/>
          </a:stretch>
        </p:blipFill>
        <p:spPr>
          <a:xfrm>
            <a:off x="7959852" y="1970532"/>
            <a:ext cx="448056" cy="448056"/>
          </a:xfrm>
          <a:prstGeom prst="rect">
            <a:avLst/>
          </a:prstGeom>
        </p:spPr>
      </p:pic>
      <p:sp>
        <p:nvSpPr>
          <p:cNvPr id="15" name="Text 12"/>
          <p:cNvSpPr/>
          <p:nvPr/>
        </p:nvSpPr>
        <p:spPr>
          <a:xfrm>
            <a:off x="8686800" y="1874520"/>
            <a:ext cx="2834640" cy="640080"/>
          </a:xfrm>
          <a:prstGeom prst="rect">
            <a:avLst/>
          </a:prstGeom>
          <a:noFill/>
          <a:ln/>
        </p:spPr>
        <p:txBody>
          <a:bodyPr wrap="square" lIns="0" tIns="0" rIns="0" bIns="0" rtlCol="0" anchor="ctr"/>
          <a:lstStyle/>
          <a:p>
            <a:pPr indent="0" marL="0">
              <a:lnSpc>
                <a:spcPts val="1400"/>
              </a:lnSpc>
              <a:buNone/>
            </a:pPr>
            <a:r>
              <a:rPr lang="en-US" sz="1100" dirty="0">
                <a:solidFill>
                  <a:srgbClr val="5B6B85"/>
                </a:solidFill>
                <a:latin typeface="Calibri" pitchFamily="34" charset="0"/>
                <a:ea typeface="Calibri" pitchFamily="34" charset="-122"/>
                <a:cs typeface="Calibri" pitchFamily="34" charset="-120"/>
              </a:rPr>
              <a:t>Thuật toán</a:t>
            </a:r>
            <a:endParaRPr lang="en-US" sz="1100" dirty="0"/>
          </a:p>
          <a:p>
            <a:pPr indent="0" marL="0">
              <a:lnSpc>
                <a:spcPts val="1400"/>
              </a:lnSpc>
              <a:buNone/>
            </a:pPr>
            <a:r>
              <a:rPr lang="en-US" sz="1100" dirty="0">
                <a:solidFill>
                  <a:srgbClr val="5B6B85"/>
                </a:solidFill>
                <a:latin typeface="Calibri" pitchFamily="34" charset="0"/>
                <a:ea typeface="Calibri" pitchFamily="34" charset="-122"/>
                <a:cs typeface="Calibri" pitchFamily="34" charset="-120"/>
              </a:rPr>
              <a:t>tối ưu nhất</a:t>
            </a:r>
            <a:endParaRPr lang="en-US" sz="1100" dirty="0"/>
          </a:p>
        </p:txBody>
      </p:sp>
      <p:sp>
        <p:nvSpPr>
          <p:cNvPr id="16" name="Text 13"/>
          <p:cNvSpPr/>
          <p:nvPr/>
        </p:nvSpPr>
        <p:spPr>
          <a:xfrm>
            <a:off x="8686800" y="2377440"/>
            <a:ext cx="2834640" cy="502920"/>
          </a:xfrm>
          <a:prstGeom prst="rect">
            <a:avLst/>
          </a:prstGeom>
          <a:noFill/>
          <a:ln/>
        </p:spPr>
        <p:txBody>
          <a:bodyPr wrap="square" lIns="0" tIns="0" rIns="0" bIns="0" rtlCol="0" anchor="ctr"/>
          <a:lstStyle/>
          <a:p>
            <a:pPr indent="0" marL="0">
              <a:buNone/>
            </a:pPr>
            <a:r>
              <a:rPr lang="en-US" sz="2200" b="1" dirty="0">
                <a:solidFill>
                  <a:srgbClr val="1B2A4A"/>
                </a:solidFill>
                <a:latin typeface="Cambria" pitchFamily="34" charset="0"/>
                <a:ea typeface="Cambria" pitchFamily="34" charset="-122"/>
                <a:cs typeface="Cambria" pitchFamily="34" charset="-120"/>
              </a:rPr>
              <a:t>XGBoost</a:t>
            </a:r>
            <a:endParaRPr lang="en-US" sz="2200" dirty="0"/>
          </a:p>
        </p:txBody>
      </p:sp>
      <p:sp>
        <p:nvSpPr>
          <p:cNvPr id="17" name="Text 14"/>
          <p:cNvSpPr/>
          <p:nvPr/>
        </p:nvSpPr>
        <p:spPr>
          <a:xfrm>
            <a:off x="548640" y="3383280"/>
            <a:ext cx="7315200" cy="365760"/>
          </a:xfrm>
          <a:prstGeom prst="rect">
            <a:avLst/>
          </a:prstGeom>
          <a:noFill/>
          <a:ln/>
        </p:spPr>
        <p:txBody>
          <a:bodyPr wrap="square" lIns="0" tIns="0" rIns="0" bIns="0" rtlCol="0" anchor="ctr"/>
          <a:lstStyle/>
          <a:p>
            <a:pPr indent="0" marL="0">
              <a:buNone/>
            </a:pPr>
            <a:r>
              <a:rPr lang="en-US" sz="1400" b="1" dirty="0">
                <a:solidFill>
                  <a:srgbClr val="1B2A4A"/>
                </a:solidFill>
                <a:latin typeface="Cambria" pitchFamily="34" charset="0"/>
                <a:ea typeface="Cambria" pitchFamily="34" charset="-122"/>
                <a:cs typeface="Cambria" pitchFamily="34" charset="-120"/>
              </a:rPr>
              <a:t>So sánh hệ số xác định (R²) giữa các thuật toán</a:t>
            </a:r>
            <a:endParaRPr lang="en-US" sz="1400" dirty="0"/>
          </a:p>
        </p:txBody>
      </p:sp>
      <p:graphicFrame>
        <p:nvGraphicFramePr>
          <p:cNvPr id="18" name="Chart 0" descr=""/>
          <p:cNvGraphicFramePr/>
          <p:nvPr/>
        </p:nvGraphicFramePr>
        <p:xfrm>
          <a:off x="548640" y="3794760"/>
          <a:ext cx="6949440" cy="269748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726680" y="3794760"/>
            <a:ext cx="3913632" cy="2697480"/>
          </a:xfrm>
          <a:prstGeom prst="roundRect">
            <a:avLst>
              <a:gd name="adj" fmla="val 2712"/>
            </a:avLst>
          </a:prstGeom>
          <a:solidFill>
            <a:srgbClr val="EFE7DD"/>
          </a:solidFill>
          <a:ln/>
        </p:spPr>
      </p:sp>
      <p:sp>
        <p:nvSpPr>
          <p:cNvPr id="20" name="Text 16"/>
          <p:cNvSpPr/>
          <p:nvPr/>
        </p:nvSpPr>
        <p:spPr>
          <a:xfrm>
            <a:off x="7955280" y="3977640"/>
            <a:ext cx="3474720" cy="2377440"/>
          </a:xfrm>
          <a:prstGeom prst="rect">
            <a:avLst/>
          </a:prstGeom>
          <a:noFill/>
          <a:ln/>
        </p:spPr>
        <p:txBody>
          <a:bodyPr wrap="square" rtlCol="0" anchor="ctr"/>
          <a:lstStyle/>
          <a:p>
            <a:pPr marL="342900" indent="-342900">
              <a:lnSpc>
                <a:spcPts val="1500"/>
              </a:lnSpc>
              <a:spcAft>
                <a:spcPts val="1200"/>
              </a:spcAft>
              <a:buSzPct val="100000"/>
              <a:buChar char="•"/>
            </a:pPr>
            <a:r>
              <a:rPr lang="en-US" sz="1100" dirty="0">
                <a:solidFill>
                  <a:srgbClr val="1B2A4A"/>
                </a:solidFill>
                <a:latin typeface="Calibri" pitchFamily="34" charset="0"/>
                <a:ea typeface="Calibri" pitchFamily="34" charset="-122"/>
                <a:cs typeface="Calibri" pitchFamily="34" charset="-120"/>
              </a:rPr>
              <a:t>Linear Regression: thấp nhất — quan hệ giá thực tế mang tính phi tuyến phức tạp</a:t>
            </a:r>
            <a:endParaRPr lang="en-US" sz="1100" dirty="0"/>
          </a:p>
          <a:p>
            <a:pPr marL="342900" indent="-342900">
              <a:lnSpc>
                <a:spcPts val="1500"/>
              </a:lnSpc>
              <a:spcAft>
                <a:spcPts val="1200"/>
              </a:spcAft>
              <a:buSzPct val="100000"/>
              <a:buChar char="•"/>
            </a:pPr>
            <a:r>
              <a:rPr lang="en-US" sz="1100" dirty="0">
                <a:solidFill>
                  <a:srgbClr val="1B2A4A"/>
                </a:solidFill>
                <a:latin typeface="Calibri" pitchFamily="34" charset="0"/>
                <a:ea typeface="Calibri" pitchFamily="34" charset="-122"/>
                <a:cs typeface="Calibri" pitchFamily="34" charset="-120"/>
              </a:rPr>
              <a:t>Random Forest: cải thiện đáng kể nhờ cơ chế nhiều cây quyết định</a:t>
            </a:r>
            <a:endParaRPr lang="en-US" sz="1100" dirty="0"/>
          </a:p>
          <a:p>
            <a:pPr marL="342900" indent="-342900">
              <a:lnSpc>
                <a:spcPts val="1500"/>
              </a:lnSpc>
              <a:buSzPct val="100000"/>
              <a:buChar char="•"/>
            </a:pPr>
            <a:r>
              <a:rPr lang="en-US" sz="1100" dirty="0">
                <a:solidFill>
                  <a:srgbClr val="1B2A4A"/>
                </a:solidFill>
                <a:latin typeface="Calibri" pitchFamily="34" charset="0"/>
                <a:ea typeface="Calibri" pitchFamily="34" charset="-122"/>
                <a:cs typeface="Calibri" pitchFamily="34" charset="-120"/>
              </a:rPr>
              <a:t>XGBoost: tối ưu nhất, được chọn làm lõi xử lý cho giao diện Web Streamlit</a:t>
            </a:r>
            <a:endParaRPr lang="en-US" sz="1100" dirty="0"/>
          </a:p>
        </p:txBody>
      </p:sp>
      <p:sp>
        <p:nvSpPr>
          <p:cNvPr id="21" name="Text 17"/>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F2"/>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C0654A"/>
                </a:solidFill>
                <a:latin typeface="Calibri" pitchFamily="34" charset="0"/>
                <a:ea typeface="Calibri" pitchFamily="34" charset="-122"/>
                <a:cs typeface="Calibri" pitchFamily="34" charset="-120"/>
              </a:rPr>
              <a:t>CHƯƠNG 5 · ĐÁNH GIÁ &amp; HƯỚNG PHÁT TRIỂN</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Kết luận</a:t>
            </a:r>
            <a:endParaRPr lang="en-US" sz="3000" dirty="0"/>
          </a:p>
        </p:txBody>
      </p:sp>
      <p:sp>
        <p:nvSpPr>
          <p:cNvPr id="4" name="Shape 2"/>
          <p:cNvSpPr/>
          <p:nvPr/>
        </p:nvSpPr>
        <p:spPr>
          <a:xfrm>
            <a:off x="548640" y="1691640"/>
            <a:ext cx="3520440" cy="3108960"/>
          </a:xfrm>
          <a:prstGeom prst="roundRect">
            <a:avLst>
              <a:gd name="adj" fmla="val 2353"/>
            </a:avLst>
          </a:prstGeom>
          <a:solidFill>
            <a:srgbClr val="FFFFFF"/>
          </a:solidFill>
          <a:ln/>
          <a:effectLst>
            <a:outerShdw sx="100000" sy="100000" kx="0" ky="0" algn="bl" rotWithShape="0" blurRad="101600" dist="25400" dir="5400000">
              <a:srgbClr val="000000">
                <a:alpha val="8000"/>
              </a:srgbClr>
            </a:outerShdw>
          </a:effectLst>
        </p:spPr>
      </p:sp>
      <p:sp>
        <p:nvSpPr>
          <p:cNvPr id="5" name="Shape 3"/>
          <p:cNvSpPr/>
          <p:nvPr/>
        </p:nvSpPr>
        <p:spPr>
          <a:xfrm>
            <a:off x="822960" y="1965960"/>
            <a:ext cx="594360" cy="594360"/>
          </a:xfrm>
          <a:prstGeom prst="ellipse">
            <a:avLst/>
          </a:prstGeom>
          <a:solidFill>
            <a:srgbClr val="1B2A4A"/>
          </a:solidFill>
          <a:ln/>
        </p:spPr>
      </p:sp>
      <p:pic>
        <p:nvPicPr>
          <p:cNvPr id="6" name="Image 0" descr="preencoded.png">    </p:cNvPr>
          <p:cNvPicPr>
            <a:picLocks noChangeAspect="1"/>
          </p:cNvPicPr>
          <p:nvPr/>
        </p:nvPicPr>
        <p:blipFill>
          <a:blip r:embed="rId1"/>
          <a:stretch>
            <a:fillRect/>
          </a:stretch>
        </p:blipFill>
        <p:spPr>
          <a:xfrm>
            <a:off x="918058" y="2061058"/>
            <a:ext cx="404165" cy="404165"/>
          </a:xfrm>
          <a:prstGeom prst="rect">
            <a:avLst/>
          </a:prstGeom>
        </p:spPr>
      </p:pic>
      <p:sp>
        <p:nvSpPr>
          <p:cNvPr id="7" name="Text 4"/>
          <p:cNvSpPr/>
          <p:nvPr/>
        </p:nvSpPr>
        <p:spPr>
          <a:xfrm>
            <a:off x="822960" y="2697480"/>
            <a:ext cx="2971800" cy="365760"/>
          </a:xfrm>
          <a:prstGeom prst="rect">
            <a:avLst/>
          </a:prstGeom>
          <a:noFill/>
          <a:ln/>
        </p:spPr>
        <p:txBody>
          <a:bodyPr wrap="square" lIns="0" tIns="0" rIns="0" bIns="0" rtlCol="0" anchor="ctr"/>
          <a:lstStyle/>
          <a:p>
            <a:pPr indent="0" marL="0">
              <a:buNone/>
            </a:pPr>
            <a:r>
              <a:rPr lang="en-US" sz="1500" b="1" dirty="0">
                <a:solidFill>
                  <a:srgbClr val="1B2A4A"/>
                </a:solidFill>
                <a:latin typeface="Cambria" pitchFamily="34" charset="0"/>
                <a:ea typeface="Cambria" pitchFamily="34" charset="-122"/>
                <a:cs typeface="Cambria" pitchFamily="34" charset="-120"/>
              </a:rPr>
              <a:t>Công nghệ</a:t>
            </a:r>
            <a:endParaRPr lang="en-US" sz="1500" dirty="0"/>
          </a:p>
        </p:txBody>
      </p:sp>
      <p:sp>
        <p:nvSpPr>
          <p:cNvPr id="8" name="Text 5"/>
          <p:cNvSpPr/>
          <p:nvPr/>
        </p:nvSpPr>
        <p:spPr>
          <a:xfrm>
            <a:off x="822960" y="3108960"/>
            <a:ext cx="2971800" cy="1554480"/>
          </a:xfrm>
          <a:prstGeom prst="rect">
            <a:avLst/>
          </a:prstGeom>
          <a:noFill/>
          <a:ln/>
        </p:spPr>
        <p:txBody>
          <a:bodyPr wrap="square" lIns="0" tIns="0" rIns="0" bIns="0" rtlCol="0" anchor="ctr"/>
          <a:lstStyle/>
          <a:p>
            <a:pPr indent="0" marL="0">
              <a:lnSpc>
                <a:spcPts val="1600"/>
              </a:lnSpc>
              <a:buNone/>
            </a:pPr>
            <a:r>
              <a:rPr lang="en-US" sz="1150" dirty="0">
                <a:solidFill>
                  <a:srgbClr val="5B6B85"/>
                </a:solidFill>
                <a:latin typeface="Calibri" pitchFamily="34" charset="0"/>
                <a:ea typeface="Calibri" pitchFamily="34" charset="-122"/>
                <a:cs typeface="Calibri" pitchFamily="34" charset="-120"/>
              </a:rPr>
              <a:t>Xây dựng thành công bộ tiền xử lý chuỗi nâng cao bằng Regex, bóc tách thành công địa chỉ phân cấp động 3 cấp.</a:t>
            </a:r>
            <a:endParaRPr lang="en-US" sz="1150" dirty="0"/>
          </a:p>
        </p:txBody>
      </p:sp>
      <p:sp>
        <p:nvSpPr>
          <p:cNvPr id="9" name="Shape 6"/>
          <p:cNvSpPr/>
          <p:nvPr/>
        </p:nvSpPr>
        <p:spPr>
          <a:xfrm>
            <a:off x="4343400" y="1691640"/>
            <a:ext cx="3520440" cy="3108960"/>
          </a:xfrm>
          <a:prstGeom prst="roundRect">
            <a:avLst>
              <a:gd name="adj" fmla="val 2353"/>
            </a:avLst>
          </a:prstGeom>
          <a:solidFill>
            <a:srgbClr val="FFFFFF"/>
          </a:solidFill>
          <a:ln/>
          <a:effectLst>
            <a:outerShdw sx="100000" sy="100000" kx="0" ky="0" algn="bl" rotWithShape="0" blurRad="101600" dist="25400" dir="5400000">
              <a:srgbClr val="000000">
                <a:alpha val="8000"/>
              </a:srgbClr>
            </a:outerShdw>
          </a:effectLst>
        </p:spPr>
      </p:sp>
      <p:sp>
        <p:nvSpPr>
          <p:cNvPr id="10" name="Shape 7"/>
          <p:cNvSpPr/>
          <p:nvPr/>
        </p:nvSpPr>
        <p:spPr>
          <a:xfrm>
            <a:off x="4617720" y="1965960"/>
            <a:ext cx="594360" cy="594360"/>
          </a:xfrm>
          <a:prstGeom prst="ellipse">
            <a:avLst/>
          </a:prstGeom>
          <a:solidFill>
            <a:srgbClr val="1B2A4A"/>
          </a:solidFill>
          <a:ln/>
        </p:spPr>
      </p:sp>
      <p:pic>
        <p:nvPicPr>
          <p:cNvPr id="11" name="Image 1" descr="preencoded.png">    </p:cNvPr>
          <p:cNvPicPr>
            <a:picLocks noChangeAspect="1"/>
          </p:cNvPicPr>
          <p:nvPr/>
        </p:nvPicPr>
        <p:blipFill>
          <a:blip r:embed="rId2"/>
          <a:stretch>
            <a:fillRect/>
          </a:stretch>
        </p:blipFill>
        <p:spPr>
          <a:xfrm>
            <a:off x="4712818" y="2061058"/>
            <a:ext cx="404165" cy="404165"/>
          </a:xfrm>
          <a:prstGeom prst="rect">
            <a:avLst/>
          </a:prstGeom>
        </p:spPr>
      </p:pic>
      <p:sp>
        <p:nvSpPr>
          <p:cNvPr id="12" name="Text 8"/>
          <p:cNvSpPr/>
          <p:nvPr/>
        </p:nvSpPr>
        <p:spPr>
          <a:xfrm>
            <a:off x="4617720" y="2697480"/>
            <a:ext cx="2971800" cy="365760"/>
          </a:xfrm>
          <a:prstGeom prst="rect">
            <a:avLst/>
          </a:prstGeom>
          <a:noFill/>
          <a:ln/>
        </p:spPr>
        <p:txBody>
          <a:bodyPr wrap="square" lIns="0" tIns="0" rIns="0" bIns="0" rtlCol="0" anchor="ctr"/>
          <a:lstStyle/>
          <a:p>
            <a:pPr indent="0" marL="0">
              <a:buNone/>
            </a:pPr>
            <a:r>
              <a:rPr lang="en-US" sz="1500" b="1" dirty="0">
                <a:solidFill>
                  <a:srgbClr val="1B2A4A"/>
                </a:solidFill>
                <a:latin typeface="Cambria" pitchFamily="34" charset="0"/>
                <a:ea typeface="Cambria" pitchFamily="34" charset="-122"/>
                <a:cs typeface="Cambria" pitchFamily="34" charset="-120"/>
              </a:rPr>
              <a:t>Thuật toán</a:t>
            </a:r>
            <a:endParaRPr lang="en-US" sz="1500" dirty="0"/>
          </a:p>
        </p:txBody>
      </p:sp>
      <p:sp>
        <p:nvSpPr>
          <p:cNvPr id="13" name="Text 9"/>
          <p:cNvSpPr/>
          <p:nvPr/>
        </p:nvSpPr>
        <p:spPr>
          <a:xfrm>
            <a:off x="4617720" y="3108960"/>
            <a:ext cx="2971800" cy="1554480"/>
          </a:xfrm>
          <a:prstGeom prst="rect">
            <a:avLst/>
          </a:prstGeom>
          <a:noFill/>
          <a:ln/>
        </p:spPr>
        <p:txBody>
          <a:bodyPr wrap="square" lIns="0" tIns="0" rIns="0" bIns="0" rtlCol="0" anchor="ctr"/>
          <a:lstStyle/>
          <a:p>
            <a:pPr indent="0" marL="0">
              <a:lnSpc>
                <a:spcPts val="1600"/>
              </a:lnSpc>
              <a:buNone/>
            </a:pPr>
            <a:r>
              <a:rPr lang="en-US" sz="1150" dirty="0">
                <a:solidFill>
                  <a:srgbClr val="5B6B85"/>
                </a:solidFill>
                <a:latin typeface="Calibri" pitchFamily="34" charset="0"/>
                <a:ea typeface="Calibri" pitchFamily="34" charset="-122"/>
                <a:cs typeface="Calibri" pitchFamily="34" charset="-120"/>
              </a:rPr>
              <a:t>XGBoost Regressor đạt hiệu năng tối ưu: R² = 84.6%, RMSE = 0.78 Tỷ VNĐ. Diện tích là đặc trưng quan trọng nhất.</a:t>
            </a:r>
            <a:endParaRPr lang="en-US" sz="1150" dirty="0"/>
          </a:p>
        </p:txBody>
      </p:sp>
      <p:sp>
        <p:nvSpPr>
          <p:cNvPr id="14" name="Shape 10"/>
          <p:cNvSpPr/>
          <p:nvPr/>
        </p:nvSpPr>
        <p:spPr>
          <a:xfrm>
            <a:off x="8138160" y="1691640"/>
            <a:ext cx="3520440" cy="3108960"/>
          </a:xfrm>
          <a:prstGeom prst="roundRect">
            <a:avLst>
              <a:gd name="adj" fmla="val 2353"/>
            </a:avLst>
          </a:prstGeom>
          <a:solidFill>
            <a:srgbClr val="FFFFFF"/>
          </a:solidFill>
          <a:ln/>
          <a:effectLst>
            <a:outerShdw sx="100000" sy="100000" kx="0" ky="0" algn="bl" rotWithShape="0" blurRad="101600" dist="25400" dir="5400000">
              <a:srgbClr val="000000">
                <a:alpha val="8000"/>
              </a:srgbClr>
            </a:outerShdw>
          </a:effectLst>
        </p:spPr>
      </p:sp>
      <p:sp>
        <p:nvSpPr>
          <p:cNvPr id="15" name="Shape 11"/>
          <p:cNvSpPr/>
          <p:nvPr/>
        </p:nvSpPr>
        <p:spPr>
          <a:xfrm>
            <a:off x="8412480" y="1965960"/>
            <a:ext cx="594360" cy="594360"/>
          </a:xfrm>
          <a:prstGeom prst="ellipse">
            <a:avLst/>
          </a:prstGeom>
          <a:solidFill>
            <a:srgbClr val="1B2A4A"/>
          </a:solidFill>
          <a:ln/>
        </p:spPr>
      </p:sp>
      <p:pic>
        <p:nvPicPr>
          <p:cNvPr id="16" name="Image 2" descr="preencoded.png">    </p:cNvPr>
          <p:cNvPicPr>
            <a:picLocks noChangeAspect="1"/>
          </p:cNvPicPr>
          <p:nvPr/>
        </p:nvPicPr>
        <p:blipFill>
          <a:blip r:embed="rId3"/>
          <a:stretch>
            <a:fillRect/>
          </a:stretch>
        </p:blipFill>
        <p:spPr>
          <a:xfrm>
            <a:off x="8507578" y="2061058"/>
            <a:ext cx="404165" cy="404165"/>
          </a:xfrm>
          <a:prstGeom prst="rect">
            <a:avLst/>
          </a:prstGeom>
        </p:spPr>
      </p:pic>
      <p:sp>
        <p:nvSpPr>
          <p:cNvPr id="17" name="Text 12"/>
          <p:cNvSpPr/>
          <p:nvPr/>
        </p:nvSpPr>
        <p:spPr>
          <a:xfrm>
            <a:off x="8412480" y="2697480"/>
            <a:ext cx="2971800" cy="365760"/>
          </a:xfrm>
          <a:prstGeom prst="rect">
            <a:avLst/>
          </a:prstGeom>
          <a:noFill/>
          <a:ln/>
        </p:spPr>
        <p:txBody>
          <a:bodyPr wrap="square" lIns="0" tIns="0" rIns="0" bIns="0" rtlCol="0" anchor="ctr"/>
          <a:lstStyle/>
          <a:p>
            <a:pPr indent="0" marL="0">
              <a:buNone/>
            </a:pPr>
            <a:r>
              <a:rPr lang="en-US" sz="1500" b="1" dirty="0">
                <a:solidFill>
                  <a:srgbClr val="1B2A4A"/>
                </a:solidFill>
                <a:latin typeface="Cambria" pitchFamily="34" charset="0"/>
                <a:ea typeface="Cambria" pitchFamily="34" charset="-122"/>
                <a:cs typeface="Cambria" pitchFamily="34" charset="-120"/>
              </a:rPr>
              <a:t>Ứng dụng</a:t>
            </a:r>
            <a:endParaRPr lang="en-US" sz="1500" dirty="0"/>
          </a:p>
        </p:txBody>
      </p:sp>
      <p:sp>
        <p:nvSpPr>
          <p:cNvPr id="18" name="Text 13"/>
          <p:cNvSpPr/>
          <p:nvPr/>
        </p:nvSpPr>
        <p:spPr>
          <a:xfrm>
            <a:off x="8412480" y="3108960"/>
            <a:ext cx="2971800" cy="1554480"/>
          </a:xfrm>
          <a:prstGeom prst="rect">
            <a:avLst/>
          </a:prstGeom>
          <a:noFill/>
          <a:ln/>
        </p:spPr>
        <p:txBody>
          <a:bodyPr wrap="square" lIns="0" tIns="0" rIns="0" bIns="0" rtlCol="0" anchor="ctr"/>
          <a:lstStyle/>
          <a:p>
            <a:pPr indent="0" marL="0">
              <a:lnSpc>
                <a:spcPts val="1600"/>
              </a:lnSpc>
              <a:buNone/>
            </a:pPr>
            <a:r>
              <a:rPr lang="en-US" sz="1150" dirty="0">
                <a:solidFill>
                  <a:srgbClr val="5B6B85"/>
                </a:solidFill>
                <a:latin typeface="Calibri" pitchFamily="34" charset="0"/>
                <a:ea typeface="Calibri" pitchFamily="34" charset="-122"/>
                <a:cs typeface="Calibri" pitchFamily="34" charset="-120"/>
              </a:rPr>
              <a:t>Phát triển thành công Web app trên nền Streamlit: bộ lọc địa lý động, slider thông số, dự báo giá ổn định 100%.</a:t>
            </a:r>
            <a:endParaRPr lang="en-US" sz="1150" dirty="0"/>
          </a:p>
        </p:txBody>
      </p:sp>
      <p:sp>
        <p:nvSpPr>
          <p:cNvPr id="19" name="Shape 14"/>
          <p:cNvSpPr/>
          <p:nvPr/>
        </p:nvSpPr>
        <p:spPr>
          <a:xfrm>
            <a:off x="548640" y="4983480"/>
            <a:ext cx="11091672" cy="1051560"/>
          </a:xfrm>
          <a:prstGeom prst="roundRect">
            <a:avLst>
              <a:gd name="adj" fmla="val 6957"/>
            </a:avLst>
          </a:prstGeom>
          <a:solidFill>
            <a:srgbClr val="1B2A4A"/>
          </a:solidFill>
          <a:ln/>
        </p:spPr>
      </p:sp>
      <p:sp>
        <p:nvSpPr>
          <p:cNvPr id="20" name="Shape 15"/>
          <p:cNvSpPr/>
          <p:nvPr/>
        </p:nvSpPr>
        <p:spPr>
          <a:xfrm>
            <a:off x="777240" y="5166360"/>
            <a:ext cx="502920" cy="502920"/>
          </a:xfrm>
          <a:prstGeom prst="ellipse">
            <a:avLst/>
          </a:prstGeom>
          <a:solidFill>
            <a:srgbClr val="C0654A"/>
          </a:solidFill>
          <a:ln/>
        </p:spPr>
      </p:sp>
      <p:pic>
        <p:nvPicPr>
          <p:cNvPr id="21" name="Image 3" descr="preencoded.png">    </p:cNvPr>
          <p:cNvPicPr>
            <a:picLocks noChangeAspect="1"/>
          </p:cNvPicPr>
          <p:nvPr/>
        </p:nvPicPr>
        <p:blipFill>
          <a:blip r:embed="rId4"/>
          <a:stretch>
            <a:fillRect/>
          </a:stretch>
        </p:blipFill>
        <p:spPr>
          <a:xfrm>
            <a:off x="852678" y="5241798"/>
            <a:ext cx="352044" cy="352044"/>
          </a:xfrm>
          <a:prstGeom prst="rect">
            <a:avLst/>
          </a:prstGeom>
        </p:spPr>
      </p:pic>
      <p:sp>
        <p:nvSpPr>
          <p:cNvPr id="22" name="Text 16"/>
          <p:cNvSpPr/>
          <p:nvPr/>
        </p:nvSpPr>
        <p:spPr>
          <a:xfrm>
            <a:off x="1463040" y="5074920"/>
            <a:ext cx="9966960" cy="822960"/>
          </a:xfrm>
          <a:prstGeom prst="rect">
            <a:avLst/>
          </a:prstGeom>
          <a:noFill/>
          <a:ln/>
        </p:spPr>
        <p:txBody>
          <a:bodyPr wrap="square" lIns="0" tIns="0" rIns="0" bIns="0" rtlCol="0" anchor="ctr"/>
          <a:lstStyle/>
          <a:p>
            <a:pPr indent="0" marL="0">
              <a:lnSpc>
                <a:spcPts val="1700"/>
              </a:lnSpc>
              <a:buNone/>
            </a:pPr>
            <a:r>
              <a:rPr lang="en-US" sz="1250" dirty="0">
                <a:solidFill>
                  <a:srgbClr val="E8ECF7"/>
                </a:solidFill>
                <a:latin typeface="Calibri" pitchFamily="34" charset="0"/>
                <a:ea typeface="Calibri" pitchFamily="34" charset="-122"/>
                <a:cs typeface="Calibri" pitchFamily="34" charset="-120"/>
              </a:rPr>
              <a:t>Đối với sinh viên: củng cố vững chắc kiến thức về xử lý dữ liệu lớn, trực quan hóa chuyên sâu và quy trình đóng gói triển khai mô hình Machine Learning vào bài toán thực tế.</a:t>
            </a:r>
            <a:endParaRPr lang="en-US" sz="1250" dirty="0"/>
          </a:p>
        </p:txBody>
      </p:sp>
      <p:sp>
        <p:nvSpPr>
          <p:cNvPr id="23" name="Text 17"/>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E8A084"/>
                </a:solidFill>
                <a:latin typeface="Calibri" pitchFamily="34" charset="0"/>
                <a:ea typeface="Calibri" pitchFamily="34" charset="-122"/>
                <a:cs typeface="Calibri" pitchFamily="34" charset="-120"/>
              </a:rPr>
              <a:t>CHƯƠNG 5 · ĐÁNH GIÁ &amp; HƯỚNG PHÁT TRIỂN</a:t>
            </a:r>
            <a:endParaRPr lang="en-US" sz="1200" dirty="0"/>
          </a:p>
        </p:txBody>
      </p:sp>
      <p:sp>
        <p:nvSpPr>
          <p:cNvPr id="3" name="Text 1"/>
          <p:cNvSpPr/>
          <p:nvPr/>
        </p:nvSpPr>
        <p:spPr>
          <a:xfrm>
            <a:off x="548640" y="658368"/>
            <a:ext cx="10789920" cy="7772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Hướng phát triển tương lai</a:t>
            </a:r>
            <a:endParaRPr lang="en-US" sz="3000" dirty="0"/>
          </a:p>
        </p:txBody>
      </p:sp>
      <p:sp>
        <p:nvSpPr>
          <p:cNvPr id="4" name="Shape 2"/>
          <p:cNvSpPr/>
          <p:nvPr/>
        </p:nvSpPr>
        <p:spPr>
          <a:xfrm>
            <a:off x="548640" y="1783080"/>
            <a:ext cx="5349240" cy="1920240"/>
          </a:xfrm>
          <a:prstGeom prst="roundRect">
            <a:avLst>
              <a:gd name="adj" fmla="val 3810"/>
            </a:avLst>
          </a:prstGeom>
          <a:solidFill>
            <a:srgbClr val="121D33"/>
          </a:solidFill>
          <a:ln/>
        </p:spPr>
      </p:sp>
      <p:sp>
        <p:nvSpPr>
          <p:cNvPr id="5" name="Shape 3"/>
          <p:cNvSpPr/>
          <p:nvPr/>
        </p:nvSpPr>
        <p:spPr>
          <a:xfrm>
            <a:off x="822960" y="2057400"/>
            <a:ext cx="548640" cy="548640"/>
          </a:xfrm>
          <a:prstGeom prst="ellipse">
            <a:avLst/>
          </a:prstGeom>
          <a:solidFill>
            <a:srgbClr val="C0654A"/>
          </a:solidFill>
          <a:ln/>
        </p:spPr>
      </p:sp>
      <p:pic>
        <p:nvPicPr>
          <p:cNvPr id="6" name="Image 0" descr="preencoded.png">    </p:cNvPr>
          <p:cNvPicPr>
            <a:picLocks noChangeAspect="1"/>
          </p:cNvPicPr>
          <p:nvPr/>
        </p:nvPicPr>
        <p:blipFill>
          <a:blip r:embed="rId1"/>
          <a:stretch>
            <a:fillRect/>
          </a:stretch>
        </p:blipFill>
        <p:spPr>
          <a:xfrm>
            <a:off x="910742" y="2145182"/>
            <a:ext cx="373075" cy="373075"/>
          </a:xfrm>
          <a:prstGeom prst="rect">
            <a:avLst/>
          </a:prstGeom>
        </p:spPr>
      </p:pic>
      <p:sp>
        <p:nvSpPr>
          <p:cNvPr id="7" name="Text 4"/>
          <p:cNvSpPr/>
          <p:nvPr/>
        </p:nvSpPr>
        <p:spPr>
          <a:xfrm>
            <a:off x="1554480" y="2075688"/>
            <a:ext cx="4069080" cy="5029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Mở rộng quy mô dữ liệu</a:t>
            </a:r>
            <a:endParaRPr lang="en-US" sz="1500" dirty="0"/>
          </a:p>
        </p:txBody>
      </p:sp>
      <p:sp>
        <p:nvSpPr>
          <p:cNvPr id="8" name="Text 5"/>
          <p:cNvSpPr/>
          <p:nvPr/>
        </p:nvSpPr>
        <p:spPr>
          <a:xfrm>
            <a:off x="822960" y="274320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CADCFC"/>
                </a:solidFill>
                <a:latin typeface="Calibri" pitchFamily="34" charset="0"/>
                <a:ea typeface="Calibri" pitchFamily="34" charset="-122"/>
                <a:cs typeface="Calibri" pitchFamily="34" charset="-120"/>
              </a:rPr>
              <a:t>Tích hợp dữ liệu từ nhiều cổng thông tin BĐS trực tuyến khác để nâng độ chính xác mô hình.</a:t>
            </a:r>
            <a:endParaRPr lang="en-US" sz="1150" dirty="0"/>
          </a:p>
        </p:txBody>
      </p:sp>
      <p:sp>
        <p:nvSpPr>
          <p:cNvPr id="9" name="Shape 6"/>
          <p:cNvSpPr/>
          <p:nvPr/>
        </p:nvSpPr>
        <p:spPr>
          <a:xfrm>
            <a:off x="6172200" y="1783080"/>
            <a:ext cx="5349240" cy="1920240"/>
          </a:xfrm>
          <a:prstGeom prst="roundRect">
            <a:avLst>
              <a:gd name="adj" fmla="val 3810"/>
            </a:avLst>
          </a:prstGeom>
          <a:solidFill>
            <a:srgbClr val="121D33"/>
          </a:solidFill>
          <a:ln/>
        </p:spPr>
      </p:sp>
      <p:sp>
        <p:nvSpPr>
          <p:cNvPr id="10" name="Shape 7"/>
          <p:cNvSpPr/>
          <p:nvPr/>
        </p:nvSpPr>
        <p:spPr>
          <a:xfrm>
            <a:off x="6446520" y="2057400"/>
            <a:ext cx="548640" cy="548640"/>
          </a:xfrm>
          <a:prstGeom prst="ellipse">
            <a:avLst/>
          </a:prstGeom>
          <a:solidFill>
            <a:srgbClr val="C0654A"/>
          </a:solidFill>
          <a:ln/>
        </p:spPr>
      </p:sp>
      <p:pic>
        <p:nvPicPr>
          <p:cNvPr id="11" name="Image 1" descr="preencoded.png">    </p:cNvPr>
          <p:cNvPicPr>
            <a:picLocks noChangeAspect="1"/>
          </p:cNvPicPr>
          <p:nvPr/>
        </p:nvPicPr>
        <p:blipFill>
          <a:blip r:embed="rId2"/>
          <a:stretch>
            <a:fillRect/>
          </a:stretch>
        </p:blipFill>
        <p:spPr>
          <a:xfrm>
            <a:off x="6534302" y="2145182"/>
            <a:ext cx="373075" cy="373075"/>
          </a:xfrm>
          <a:prstGeom prst="rect">
            <a:avLst/>
          </a:prstGeom>
        </p:spPr>
      </p:pic>
      <p:sp>
        <p:nvSpPr>
          <p:cNvPr id="12" name="Text 8"/>
          <p:cNvSpPr/>
          <p:nvPr/>
        </p:nvSpPr>
        <p:spPr>
          <a:xfrm>
            <a:off x="7178040" y="2075688"/>
            <a:ext cx="4069080" cy="5029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Tối ưu hóa thuật toán AI</a:t>
            </a:r>
            <a:endParaRPr lang="en-US" sz="1500" dirty="0"/>
          </a:p>
        </p:txBody>
      </p:sp>
      <p:sp>
        <p:nvSpPr>
          <p:cNvPr id="13" name="Text 9"/>
          <p:cNvSpPr/>
          <p:nvPr/>
        </p:nvSpPr>
        <p:spPr>
          <a:xfrm>
            <a:off x="6446520" y="274320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CADCFC"/>
                </a:solidFill>
                <a:latin typeface="Calibri" pitchFamily="34" charset="0"/>
                <a:ea typeface="Calibri" pitchFamily="34" charset="-122"/>
                <a:cs typeface="Calibri" pitchFamily="34" charset="-120"/>
              </a:rPr>
              <a:t>Thử nghiệm Deep Learning (mạng nơ-ron) và Hyperparameter Tuning chuyên sâu để giảm RMSE hơn nữa.</a:t>
            </a:r>
            <a:endParaRPr lang="en-US" sz="1150" dirty="0"/>
          </a:p>
        </p:txBody>
      </p:sp>
      <p:sp>
        <p:nvSpPr>
          <p:cNvPr id="14" name="Shape 10"/>
          <p:cNvSpPr/>
          <p:nvPr/>
        </p:nvSpPr>
        <p:spPr>
          <a:xfrm>
            <a:off x="548640" y="3931920"/>
            <a:ext cx="5349240" cy="1920240"/>
          </a:xfrm>
          <a:prstGeom prst="roundRect">
            <a:avLst>
              <a:gd name="adj" fmla="val 3810"/>
            </a:avLst>
          </a:prstGeom>
          <a:solidFill>
            <a:srgbClr val="121D33"/>
          </a:solidFill>
          <a:ln/>
        </p:spPr>
      </p:sp>
      <p:sp>
        <p:nvSpPr>
          <p:cNvPr id="15" name="Shape 11"/>
          <p:cNvSpPr/>
          <p:nvPr/>
        </p:nvSpPr>
        <p:spPr>
          <a:xfrm>
            <a:off x="822960" y="4206240"/>
            <a:ext cx="548640" cy="548640"/>
          </a:xfrm>
          <a:prstGeom prst="ellipse">
            <a:avLst/>
          </a:prstGeom>
          <a:solidFill>
            <a:srgbClr val="C0654A"/>
          </a:solidFill>
          <a:ln/>
        </p:spPr>
      </p:sp>
      <p:pic>
        <p:nvPicPr>
          <p:cNvPr id="16" name="Image 2" descr="preencoded.png">    </p:cNvPr>
          <p:cNvPicPr>
            <a:picLocks noChangeAspect="1"/>
          </p:cNvPicPr>
          <p:nvPr/>
        </p:nvPicPr>
        <p:blipFill>
          <a:blip r:embed="rId3"/>
          <a:stretch>
            <a:fillRect/>
          </a:stretch>
        </p:blipFill>
        <p:spPr>
          <a:xfrm>
            <a:off x="910742" y="4294022"/>
            <a:ext cx="373075" cy="373075"/>
          </a:xfrm>
          <a:prstGeom prst="rect">
            <a:avLst/>
          </a:prstGeom>
        </p:spPr>
      </p:pic>
      <p:sp>
        <p:nvSpPr>
          <p:cNvPr id="17" name="Text 12"/>
          <p:cNvSpPr/>
          <p:nvPr/>
        </p:nvSpPr>
        <p:spPr>
          <a:xfrm>
            <a:off x="1554480" y="4224528"/>
            <a:ext cx="4069080" cy="5029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Bổ sung thuộc tính mịn</a:t>
            </a:r>
            <a:endParaRPr lang="en-US" sz="1500" dirty="0"/>
          </a:p>
        </p:txBody>
      </p:sp>
      <p:sp>
        <p:nvSpPr>
          <p:cNvPr id="18" name="Text 13"/>
          <p:cNvSpPr/>
          <p:nvPr/>
        </p:nvSpPr>
        <p:spPr>
          <a:xfrm>
            <a:off x="822960" y="489204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CADCFC"/>
                </a:solidFill>
                <a:latin typeface="Calibri" pitchFamily="34" charset="0"/>
                <a:ea typeface="Calibri" pitchFamily="34" charset="-122"/>
                <a:cs typeface="Calibri" pitchFamily="34" charset="-120"/>
              </a:rPr>
              <a:t>Khoảng cách trục đường lớn, hạ tầng giao thông, tiện ích xung quanh và biến động kinh tế vĩ mô.</a:t>
            </a:r>
            <a:endParaRPr lang="en-US" sz="1150" dirty="0"/>
          </a:p>
        </p:txBody>
      </p:sp>
      <p:sp>
        <p:nvSpPr>
          <p:cNvPr id="19" name="Shape 14"/>
          <p:cNvSpPr/>
          <p:nvPr/>
        </p:nvSpPr>
        <p:spPr>
          <a:xfrm>
            <a:off x="6172200" y="3931920"/>
            <a:ext cx="5349240" cy="1920240"/>
          </a:xfrm>
          <a:prstGeom prst="roundRect">
            <a:avLst>
              <a:gd name="adj" fmla="val 3810"/>
            </a:avLst>
          </a:prstGeom>
          <a:solidFill>
            <a:srgbClr val="121D33"/>
          </a:solidFill>
          <a:ln/>
        </p:spPr>
      </p:sp>
      <p:sp>
        <p:nvSpPr>
          <p:cNvPr id="20" name="Shape 15"/>
          <p:cNvSpPr/>
          <p:nvPr/>
        </p:nvSpPr>
        <p:spPr>
          <a:xfrm>
            <a:off x="6446520" y="4206240"/>
            <a:ext cx="548640" cy="548640"/>
          </a:xfrm>
          <a:prstGeom prst="ellipse">
            <a:avLst/>
          </a:prstGeom>
          <a:solidFill>
            <a:srgbClr val="C0654A"/>
          </a:solidFill>
          <a:ln/>
        </p:spPr>
      </p:sp>
      <p:pic>
        <p:nvPicPr>
          <p:cNvPr id="21" name="Image 3" descr="preencoded.png">    </p:cNvPr>
          <p:cNvPicPr>
            <a:picLocks noChangeAspect="1"/>
          </p:cNvPicPr>
          <p:nvPr/>
        </p:nvPicPr>
        <p:blipFill>
          <a:blip r:embed="rId4"/>
          <a:stretch>
            <a:fillRect/>
          </a:stretch>
        </p:blipFill>
        <p:spPr>
          <a:xfrm>
            <a:off x="6534302" y="4294022"/>
            <a:ext cx="373075" cy="373075"/>
          </a:xfrm>
          <a:prstGeom prst="rect">
            <a:avLst/>
          </a:prstGeom>
        </p:spPr>
      </p:pic>
      <p:sp>
        <p:nvSpPr>
          <p:cNvPr id="22" name="Text 16"/>
          <p:cNvSpPr/>
          <p:nvPr/>
        </p:nvSpPr>
        <p:spPr>
          <a:xfrm>
            <a:off x="7178040" y="4224528"/>
            <a:ext cx="4069080" cy="5029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Dashboard thời gian thực</a:t>
            </a:r>
            <a:endParaRPr lang="en-US" sz="1500" dirty="0"/>
          </a:p>
        </p:txBody>
      </p:sp>
      <p:sp>
        <p:nvSpPr>
          <p:cNvPr id="23" name="Text 17"/>
          <p:cNvSpPr/>
          <p:nvPr/>
        </p:nvSpPr>
        <p:spPr>
          <a:xfrm>
            <a:off x="6446520" y="489204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CADCFC"/>
                </a:solidFill>
                <a:latin typeface="Calibri" pitchFamily="34" charset="0"/>
                <a:ea typeface="Calibri" pitchFamily="34" charset="-122"/>
                <a:cs typeface="Calibri" pitchFamily="34" charset="-120"/>
              </a:rPr>
              <a:t>Web Scraper tự động quét, cập nhật biến động giá liên tục theo từng ngày.</a:t>
            </a:r>
            <a:endParaRPr lang="en-US" sz="1150" dirty="0"/>
          </a:p>
        </p:txBody>
      </p:sp>
      <p:sp>
        <p:nvSpPr>
          <p:cNvPr id="24" name="Text 18"/>
          <p:cNvSpPr/>
          <p:nvPr/>
        </p:nvSpPr>
        <p:spPr>
          <a:xfrm>
            <a:off x="548640" y="6400800"/>
            <a:ext cx="5486400" cy="274320"/>
          </a:xfrm>
          <a:prstGeom prst="rect">
            <a:avLst/>
          </a:prstGeom>
          <a:noFill/>
          <a:ln/>
        </p:spPr>
        <p:txBody>
          <a:bodyPr wrap="square" lIns="0" tIns="0" rIns="0" bIns="0" rtlCol="0" anchor="ctr"/>
          <a:lstStyle/>
          <a:p>
            <a:pPr indent="0" marL="0">
              <a:buNone/>
            </a:pPr>
            <a:r>
              <a:rPr lang="en-US" sz="900" spc="100" kern="0" dirty="0">
                <a:solidFill>
                  <a:srgbClr val="8A93A8"/>
                </a:solidFill>
                <a:latin typeface="Calibri" pitchFamily="34" charset="0"/>
                <a:ea typeface="Calibri" pitchFamily="34" charset="-122"/>
                <a:cs typeface="Calibri" pitchFamily="34" charset="-120"/>
              </a:rPr>
              <a:t>PHÂN TÍCH &amp; DỰ ĐOÁN BĐS VIỆT NAM</a:t>
            </a:r>
            <a:endParaRPr lang="en-US" sz="900" dirty="0"/>
          </a:p>
        </p:txBody>
      </p:sp>
      <p:sp>
        <p:nvSpPr>
          <p:cNvPr id="25" name="Text 19"/>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5B6B85"/>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5303520"/>
            <a:ext cx="12188952" cy="1554480"/>
          </a:xfrm>
          <a:prstGeom prst="rect">
            <a:avLst/>
          </a:prstGeom>
          <a:solidFill>
            <a:srgbClr val="121D33"/>
          </a:solidFill>
          <a:ln/>
        </p:spPr>
      </p:sp>
      <p:sp>
        <p:nvSpPr>
          <p:cNvPr id="3" name="Shape 1"/>
          <p:cNvSpPr/>
          <p:nvPr/>
        </p:nvSpPr>
        <p:spPr>
          <a:xfrm>
            <a:off x="822960" y="4663440"/>
            <a:ext cx="1005840" cy="2194560"/>
          </a:xfrm>
          <a:prstGeom prst="rect">
            <a:avLst/>
          </a:prstGeom>
          <a:solidFill>
            <a:srgbClr val="121D33"/>
          </a:solidFill>
          <a:ln/>
        </p:spPr>
      </p:sp>
      <p:sp>
        <p:nvSpPr>
          <p:cNvPr id="4" name="Shape 2"/>
          <p:cNvSpPr/>
          <p:nvPr/>
        </p:nvSpPr>
        <p:spPr>
          <a:xfrm>
            <a:off x="10332720" y="4754880"/>
            <a:ext cx="914400" cy="2103120"/>
          </a:xfrm>
          <a:prstGeom prst="rect">
            <a:avLst/>
          </a:prstGeom>
          <a:solidFill>
            <a:srgbClr val="121D33"/>
          </a:solidFill>
          <a:ln/>
        </p:spPr>
      </p:sp>
      <p:sp>
        <p:nvSpPr>
          <p:cNvPr id="5" name="Shape 3"/>
          <p:cNvSpPr/>
          <p:nvPr/>
        </p:nvSpPr>
        <p:spPr>
          <a:xfrm>
            <a:off x="5358384" y="777240"/>
            <a:ext cx="777240" cy="777240"/>
          </a:xfrm>
          <a:prstGeom prst="ellipse">
            <a:avLst/>
          </a:prstGeom>
          <a:solidFill>
            <a:srgbClr val="C0654A"/>
          </a:solidFill>
          <a:ln/>
        </p:spPr>
      </p:sp>
      <p:pic>
        <p:nvPicPr>
          <p:cNvPr id="6" name="Image 0" descr="preencoded.png">    </p:cNvPr>
          <p:cNvPicPr>
            <a:picLocks noChangeAspect="1"/>
          </p:cNvPicPr>
          <p:nvPr/>
        </p:nvPicPr>
        <p:blipFill>
          <a:blip r:embed="rId1"/>
          <a:stretch>
            <a:fillRect/>
          </a:stretch>
        </p:blipFill>
        <p:spPr>
          <a:xfrm>
            <a:off x="5474970" y="893826"/>
            <a:ext cx="544068" cy="544068"/>
          </a:xfrm>
          <a:prstGeom prst="rect">
            <a:avLst/>
          </a:prstGeom>
        </p:spPr>
      </p:pic>
      <p:sp>
        <p:nvSpPr>
          <p:cNvPr id="7" name="Text 4"/>
          <p:cNvSpPr/>
          <p:nvPr/>
        </p:nvSpPr>
        <p:spPr>
          <a:xfrm>
            <a:off x="548640" y="1828800"/>
            <a:ext cx="11091672"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Cảm ơn Thầy/Cô đã theo dõi!</a:t>
            </a:r>
            <a:endParaRPr lang="en-US" sz="3200" dirty="0"/>
          </a:p>
        </p:txBody>
      </p:sp>
      <p:sp>
        <p:nvSpPr>
          <p:cNvPr id="8" name="Text 5"/>
          <p:cNvSpPr/>
          <p:nvPr/>
        </p:nvSpPr>
        <p:spPr>
          <a:xfrm>
            <a:off x="548640" y="2514600"/>
            <a:ext cx="11091672" cy="457200"/>
          </a:xfrm>
          <a:prstGeom prst="rect">
            <a:avLst/>
          </a:prstGeom>
          <a:noFill/>
          <a:ln/>
        </p:spPr>
        <p:txBody>
          <a:bodyPr wrap="square" lIns="0" tIns="0" rIns="0" bIns="0" rtlCol="0" anchor="ctr"/>
          <a:lstStyle/>
          <a:p>
            <a:pPr algn="ctr" indent="0" marL="0">
              <a:buNone/>
            </a:pPr>
            <a:r>
              <a:rPr lang="en-US" sz="1400" i="1" dirty="0">
                <a:solidFill>
                  <a:srgbClr val="CADCFC"/>
                </a:solidFill>
                <a:latin typeface="Calibri" pitchFamily="34" charset="0"/>
                <a:ea typeface="Calibri" pitchFamily="34" charset="-122"/>
                <a:cs typeface="Calibri" pitchFamily="34" charset="-120"/>
              </a:rPr>
              <a:t>Phân tích và Dự đoán Bất động sản Việt Nam dựa trên dữ liệu thực tế</a:t>
            </a:r>
            <a:endParaRPr lang="en-US" sz="1400" dirty="0"/>
          </a:p>
        </p:txBody>
      </p:sp>
      <p:sp>
        <p:nvSpPr>
          <p:cNvPr id="9" name="Text 6"/>
          <p:cNvSpPr/>
          <p:nvPr/>
        </p:nvSpPr>
        <p:spPr>
          <a:xfrm>
            <a:off x="1371600" y="3383280"/>
            <a:ext cx="9445752" cy="365760"/>
          </a:xfrm>
          <a:prstGeom prst="rect">
            <a:avLst/>
          </a:prstGeom>
          <a:noFill/>
          <a:ln/>
        </p:spPr>
        <p:txBody>
          <a:bodyPr wrap="square" lIns="0" tIns="0" rIns="0" bIns="0" rtlCol="0" anchor="ctr"/>
          <a:lstStyle/>
          <a:p>
            <a:pPr algn="ctr" indent="0" marL="0">
              <a:buNone/>
            </a:pPr>
            <a:r>
              <a:rPr lang="en-US" sz="1200" b="1" spc="200" kern="0" dirty="0">
                <a:solidFill>
                  <a:srgbClr val="C0654A"/>
                </a:solidFill>
                <a:latin typeface="Calibri" pitchFamily="34" charset="0"/>
                <a:ea typeface="Calibri" pitchFamily="34" charset="-122"/>
                <a:cs typeface="Calibri" pitchFamily="34" charset="-120"/>
              </a:rPr>
              <a:t>TÀI LIỆU THAM KHẢO</a:t>
            </a:r>
            <a:endParaRPr lang="en-US" sz="1200" dirty="0"/>
          </a:p>
        </p:txBody>
      </p:sp>
      <p:sp>
        <p:nvSpPr>
          <p:cNvPr id="10" name="Text 7"/>
          <p:cNvSpPr/>
          <p:nvPr/>
        </p:nvSpPr>
        <p:spPr>
          <a:xfrm>
            <a:off x="1371600" y="3840480"/>
            <a:ext cx="9445752" cy="329184"/>
          </a:xfrm>
          <a:prstGeom prst="rect">
            <a:avLst/>
          </a:prstGeom>
          <a:noFill/>
          <a:ln/>
        </p:spPr>
        <p:txBody>
          <a:bodyPr wrap="square" lIns="0" tIns="0" rIns="0" bIns="0" rtlCol="0" anchor="ctr"/>
          <a:lstStyle/>
          <a:p>
            <a:pPr algn="ctr" indent="0" marL="0">
              <a:buNone/>
            </a:pPr>
            <a:r>
              <a:rPr lang="en-US" sz="1150" dirty="0">
                <a:solidFill>
                  <a:srgbClr val="E8ECF7"/>
                </a:solidFill>
                <a:latin typeface="Calibri" pitchFamily="34" charset="0"/>
                <a:ea typeface="Calibri" pitchFamily="34" charset="-122"/>
                <a:cs typeface="Calibri" pitchFamily="34" charset="-120"/>
              </a:rPr>
              <a:t>Pandas Development Team — Pandas Documentation: User Guide (pandas.pydata.org)</a:t>
            </a:r>
            <a:endParaRPr lang="en-US" sz="1150" dirty="0"/>
          </a:p>
        </p:txBody>
      </p:sp>
      <p:sp>
        <p:nvSpPr>
          <p:cNvPr id="11" name="Text 8"/>
          <p:cNvSpPr/>
          <p:nvPr/>
        </p:nvSpPr>
        <p:spPr>
          <a:xfrm>
            <a:off x="1371600" y="4206240"/>
            <a:ext cx="9445752" cy="329184"/>
          </a:xfrm>
          <a:prstGeom prst="rect">
            <a:avLst/>
          </a:prstGeom>
          <a:noFill/>
          <a:ln/>
        </p:spPr>
        <p:txBody>
          <a:bodyPr wrap="square" lIns="0" tIns="0" rIns="0" bIns="0" rtlCol="0" anchor="ctr"/>
          <a:lstStyle/>
          <a:p>
            <a:pPr algn="ctr" indent="0" marL="0">
              <a:buNone/>
            </a:pPr>
            <a:r>
              <a:rPr lang="en-US" sz="1150" dirty="0">
                <a:solidFill>
                  <a:srgbClr val="E8ECF7"/>
                </a:solidFill>
                <a:latin typeface="Calibri" pitchFamily="34" charset="0"/>
                <a:ea typeface="Calibri" pitchFamily="34" charset="-122"/>
                <a:cs typeface="Calibri" pitchFamily="34" charset="-120"/>
              </a:rPr>
              <a:t>Streamlit Inc — Streamlit API Reference: Build interactive web apps (docs.streamlit.io)</a:t>
            </a:r>
            <a:endParaRPr lang="en-US" sz="1150" dirty="0"/>
          </a:p>
        </p:txBody>
      </p:sp>
      <p:sp>
        <p:nvSpPr>
          <p:cNvPr id="12" name="Text 9"/>
          <p:cNvSpPr/>
          <p:nvPr/>
        </p:nvSpPr>
        <p:spPr>
          <a:xfrm>
            <a:off x="1371600" y="4572000"/>
            <a:ext cx="9445752" cy="329184"/>
          </a:xfrm>
          <a:prstGeom prst="rect">
            <a:avLst/>
          </a:prstGeom>
          <a:noFill/>
          <a:ln/>
        </p:spPr>
        <p:txBody>
          <a:bodyPr wrap="square" lIns="0" tIns="0" rIns="0" bIns="0" rtlCol="0" anchor="ctr"/>
          <a:lstStyle/>
          <a:p>
            <a:pPr algn="ctr" indent="0" marL="0">
              <a:buNone/>
            </a:pPr>
            <a:r>
              <a:rPr lang="en-US" sz="1150" dirty="0">
                <a:solidFill>
                  <a:srgbClr val="E8ECF7"/>
                </a:solidFill>
                <a:latin typeface="Calibri" pitchFamily="34" charset="0"/>
                <a:ea typeface="Calibri" pitchFamily="34" charset="-122"/>
                <a:cs typeface="Calibri" pitchFamily="34" charset="-120"/>
              </a:rPr>
              <a:t>XGBoost Developers — XGBoost Documentation: Regression API (xgboost.readthedocs.io)</a:t>
            </a:r>
            <a:endParaRPr lang="en-US" sz="1150" dirty="0"/>
          </a:p>
        </p:txBody>
      </p:sp>
      <p:sp>
        <p:nvSpPr>
          <p:cNvPr id="13" name="Text 10"/>
          <p:cNvSpPr/>
          <p:nvPr/>
        </p:nvSpPr>
        <p:spPr>
          <a:xfrm>
            <a:off x="1371600" y="4937760"/>
            <a:ext cx="9445752" cy="329184"/>
          </a:xfrm>
          <a:prstGeom prst="rect">
            <a:avLst/>
          </a:prstGeom>
          <a:noFill/>
          <a:ln/>
        </p:spPr>
        <p:txBody>
          <a:bodyPr wrap="square" lIns="0" tIns="0" rIns="0" bIns="0" rtlCol="0" anchor="ctr"/>
          <a:lstStyle/>
          <a:p>
            <a:pPr algn="ctr" indent="0" marL="0">
              <a:buNone/>
            </a:pPr>
            <a:r>
              <a:rPr lang="en-US" sz="1150" dirty="0">
                <a:solidFill>
                  <a:srgbClr val="E8ECF7"/>
                </a:solidFill>
                <a:latin typeface="Calibri" pitchFamily="34" charset="0"/>
                <a:ea typeface="Calibri" pitchFamily="34" charset="-122"/>
                <a:cs typeface="Calibri" pitchFamily="34" charset="-120"/>
              </a:rPr>
              <a:t>Tài liệu môn Khoa học dữ liệu, Trường Đại học Kỹ thuật Công nghiệp</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Phân tích và dự đoán bất động sản Việt Nam dựa trên dữ liệu thực tế</dc:title>
  <dc:subject>PptxGenJS Presentation</dc:subject>
  <dc:creator>Lương Ngọc Nam</dc:creator>
  <cp:lastModifiedBy>Lương Ngọc Nam</cp:lastModifiedBy>
  <cp:revision>1</cp:revision>
  <dcterms:created xsi:type="dcterms:W3CDTF">2026-06-20T14:50:06Z</dcterms:created>
  <dcterms:modified xsi:type="dcterms:W3CDTF">2026-06-20T14:50:06Z</dcterms:modified>
</cp:coreProperties>
</file>