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R² Score (%)</c:v>
                </c:pt>
              </c:strCache>
            </c:strRef>
          </c:tx>
          <c:spPr>
            <a:solidFill>
              <a:srgbClr val="8A93A8"/>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8A93A8"/>
              </a:solidFill>
              <a:effectLst/>
            </c:spPr>
          </c:dPt>
          <c:dPt>
            <c:idx val="1"/>
            <c:invertIfNegative val="0"/>
            <c:bubble3D val="0"/>
            <c:spPr>
              <a:solidFill>
                <a:srgbClr val="C0654A"/>
              </a:solidFill>
              <a:effectLst/>
            </c:spPr>
          </c:dPt>
          <c:dPt>
            <c:idx val="2"/>
            <c:invertIfNegative val="0"/>
            <c:bubble3D val="0"/>
            <c:spPr>
              <a:solidFill>
                <a:srgbClr val="1B2A4A"/>
              </a:solidFill>
              <a:effectLst/>
            </c:spPr>
          </c:dPt>
          <c:cat>
            <c:multiLvlStrRef>
              <c:f>Sheet1!$A$2:$A$4</c:f>
              <c:multiLvlStrCache>
                <c:ptCount val="3"/>
                <c:lvl>
                  <c:pt idx="0">
                    <c:v>Linear Regression</c:v>
                  </c:pt>
                  <c:pt idx="1">
                    <c:v>Random Forest</c:v>
                  </c:pt>
                  <c:pt idx="2">
                    <c:v>XGBoost Regressor</c:v>
                  </c:pt>
                </c:lvl>
              </c:multiLvlStrCache>
            </c:multiLvlStrRef>
          </c:cat>
          <c:val>
            <c:numRef>
              <c:f>Sheet1!$B$2:$B$4</c:f>
              <c:numCache>
                <c:formatCode>General</c:formatCode>
                <c:ptCount val="3"/>
                <c:pt idx="0">
                  <c:v>61</c:v>
                </c:pt>
                <c:pt idx="1">
                  <c:v>76</c:v>
                </c:pt>
                <c:pt idx="2">
                  <c:v>84.6</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5120640"/>
            <a:ext cx="12188952" cy="1737360"/>
          </a:xfrm>
          <a:prstGeom prst="rect">
            <a:avLst/>
          </a:prstGeom>
          <a:solidFill>
            <a:srgbClr val="121D33"/>
          </a:solidFill>
          <a:ln/>
        </p:spPr>
      </p:sp>
      <p:sp>
        <p:nvSpPr>
          <p:cNvPr id="3" name="Shape 1"/>
          <p:cNvSpPr/>
          <p:nvPr/>
        </p:nvSpPr>
        <p:spPr>
          <a:xfrm>
            <a:off x="822960" y="4480560"/>
            <a:ext cx="1005840" cy="2377440"/>
          </a:xfrm>
          <a:prstGeom prst="rect">
            <a:avLst/>
          </a:prstGeom>
          <a:solidFill>
            <a:srgbClr val="121D33"/>
          </a:solidFill>
          <a:ln/>
        </p:spPr>
      </p:sp>
      <p:sp>
        <p:nvSpPr>
          <p:cNvPr id="4" name="Shape 2"/>
          <p:cNvSpPr/>
          <p:nvPr/>
        </p:nvSpPr>
        <p:spPr>
          <a:xfrm>
            <a:off x="2011680" y="4800600"/>
            <a:ext cx="777240" cy="2057400"/>
          </a:xfrm>
          <a:prstGeom prst="rect">
            <a:avLst/>
          </a:prstGeom>
          <a:solidFill>
            <a:srgbClr val="121D33"/>
          </a:solidFill>
          <a:ln/>
        </p:spPr>
      </p:sp>
      <p:sp>
        <p:nvSpPr>
          <p:cNvPr id="5" name="Shape 3"/>
          <p:cNvSpPr/>
          <p:nvPr/>
        </p:nvSpPr>
        <p:spPr>
          <a:xfrm>
            <a:off x="10332720" y="4572000"/>
            <a:ext cx="914400" cy="2286000"/>
          </a:xfrm>
          <a:prstGeom prst="rect">
            <a:avLst/>
          </a:prstGeom>
          <a:solidFill>
            <a:srgbClr val="121D33"/>
          </a:solidFill>
          <a:ln/>
        </p:spPr>
      </p:sp>
      <p:sp>
        <p:nvSpPr>
          <p:cNvPr id="6" name="Shape 4"/>
          <p:cNvSpPr/>
          <p:nvPr/>
        </p:nvSpPr>
        <p:spPr>
          <a:xfrm>
            <a:off x="9326880" y="4892040"/>
            <a:ext cx="731520" cy="1965960"/>
          </a:xfrm>
          <a:prstGeom prst="rect">
            <a:avLst/>
          </a:prstGeom>
          <a:solidFill>
            <a:srgbClr val="121D33"/>
          </a:solidFill>
          <a:ln/>
        </p:spPr>
      </p:sp>
      <p:sp>
        <p:nvSpPr>
          <p:cNvPr id="7" name="Shape 5"/>
          <p:cNvSpPr/>
          <p:nvPr/>
        </p:nvSpPr>
        <p:spPr>
          <a:xfrm>
            <a:off x="548640" y="502920"/>
            <a:ext cx="566928" cy="566928"/>
          </a:xfrm>
          <a:prstGeom prst="ellipse">
            <a:avLst/>
          </a:prstGeom>
          <a:solidFill>
            <a:srgbClr val="C0654A"/>
          </a:solidFill>
          <a:ln/>
        </p:spPr>
      </p:sp>
      <p:pic>
        <p:nvPicPr>
          <p:cNvPr id="8" name="Image 0" descr="preencoded.png">    </p:cNvPr>
          <p:cNvPicPr>
            <a:picLocks noChangeAspect="1"/>
          </p:cNvPicPr>
          <p:nvPr/>
        </p:nvPicPr>
        <p:blipFill>
          <a:blip r:embed="rId1"/>
          <a:stretch>
            <a:fillRect/>
          </a:stretch>
        </p:blipFill>
        <p:spPr>
          <a:xfrm>
            <a:off x="633679" y="587959"/>
            <a:ext cx="396850" cy="396850"/>
          </a:xfrm>
          <a:prstGeom prst="rect">
            <a:avLst/>
          </a:prstGeom>
        </p:spPr>
      </p:pic>
      <p:sp>
        <p:nvSpPr>
          <p:cNvPr id="9" name="Text 6"/>
          <p:cNvSpPr/>
          <p:nvPr/>
        </p:nvSpPr>
        <p:spPr>
          <a:xfrm>
            <a:off x="1325880" y="548640"/>
            <a:ext cx="8229600" cy="41148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BÀI TIỂU LUẬN MÔN HỌC — KHOA HỌC DỮ LIỆU</a:t>
            </a:r>
            <a:endParaRPr lang="en-US" sz="1300" dirty="0"/>
          </a:p>
        </p:txBody>
      </p:sp>
      <p:sp>
        <p:nvSpPr>
          <p:cNvPr id="10" name="Text 7"/>
          <p:cNvSpPr/>
          <p:nvPr/>
        </p:nvSpPr>
        <p:spPr>
          <a:xfrm>
            <a:off x="548640" y="1600200"/>
            <a:ext cx="10515600" cy="173736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Phân tích và Dự đoán</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Bất động sản Việt Nam</a:t>
            </a:r>
            <a:endParaRPr lang="en-US" sz="4400" dirty="0"/>
          </a:p>
        </p:txBody>
      </p:sp>
      <p:sp>
        <p:nvSpPr>
          <p:cNvPr id="11" name="Text 8"/>
          <p:cNvSpPr/>
          <p:nvPr/>
        </p:nvSpPr>
        <p:spPr>
          <a:xfrm>
            <a:off x="548640" y="3246120"/>
            <a:ext cx="8778240" cy="73152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Dựa trên dữ liệu thực tế — xây dựng hệ thống phân tích xu hướng và dự báo giá bất động sản</a:t>
            </a:r>
            <a:endParaRPr lang="en-US" sz="1500" dirty="0"/>
          </a:p>
        </p:txBody>
      </p:sp>
      <p:sp>
        <p:nvSpPr>
          <p:cNvPr id="12" name="Shape 9"/>
          <p:cNvSpPr/>
          <p:nvPr/>
        </p:nvSpPr>
        <p:spPr>
          <a:xfrm>
            <a:off x="548640" y="4160520"/>
            <a:ext cx="6035040" cy="1417320"/>
          </a:xfrm>
          <a:prstGeom prst="roundRect">
            <a:avLst>
              <a:gd name="adj" fmla="val 5161"/>
            </a:avLst>
          </a:prstGeom>
          <a:solidFill>
            <a:srgbClr val="121D33"/>
          </a:solidFill>
          <a:ln/>
          <a:effectLst>
            <a:outerShdw sx="100000" sy="100000" kx="0" ky="0" algn="bl" rotWithShape="0" blurRad="127000" dist="38100" dir="5400000">
              <a:srgbClr val="000000">
                <a:alpha val="25000"/>
              </a:srgbClr>
            </a:outerShdw>
          </a:effectLst>
        </p:spPr>
      </p:sp>
      <p:sp>
        <p:nvSpPr>
          <p:cNvPr id="13" name="Text 10"/>
          <p:cNvSpPr/>
          <p:nvPr/>
        </p:nvSpPr>
        <p:spPr>
          <a:xfrm>
            <a:off x="777240" y="4315968"/>
            <a:ext cx="1737360" cy="320040"/>
          </a:xfrm>
          <a:prstGeom prst="rect">
            <a:avLst/>
          </a:prstGeom>
          <a:noFill/>
          <a:ln/>
        </p:spPr>
        <p:txBody>
          <a:bodyPr wrap="square" lIns="0" tIns="0" rIns="0" bIns="0" rtlCol="0" anchor="ctr"/>
          <a:lstStyle/>
          <a:p>
            <a:pPr indent="0" marL="0">
              <a:buNone/>
            </a:pPr>
            <a:r>
              <a:rPr lang="en-US" sz="1100" dirty="0">
                <a:solidFill>
                  <a:srgbClr val="8A93A8"/>
                </a:solidFill>
                <a:latin typeface="Calibri" pitchFamily="34" charset="0"/>
                <a:ea typeface="Calibri" pitchFamily="34" charset="-122"/>
                <a:cs typeface="Calibri" pitchFamily="34" charset="-120"/>
              </a:rPr>
              <a:t>Sinh viên</a:t>
            </a:r>
            <a:endParaRPr lang="en-US" sz="1100" dirty="0"/>
          </a:p>
        </p:txBody>
      </p:sp>
      <p:sp>
        <p:nvSpPr>
          <p:cNvPr id="14" name="Text 11"/>
          <p:cNvSpPr/>
          <p:nvPr/>
        </p:nvSpPr>
        <p:spPr>
          <a:xfrm>
            <a:off x="2560320" y="4315968"/>
            <a:ext cx="38404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Lương Ngọc Nam</a:t>
            </a:r>
            <a:endParaRPr lang="en-US" sz="1250" dirty="0"/>
          </a:p>
        </p:txBody>
      </p:sp>
      <p:sp>
        <p:nvSpPr>
          <p:cNvPr id="15" name="Text 12"/>
          <p:cNvSpPr/>
          <p:nvPr/>
        </p:nvSpPr>
        <p:spPr>
          <a:xfrm>
            <a:off x="777240" y="4700016"/>
            <a:ext cx="1737360" cy="320040"/>
          </a:xfrm>
          <a:prstGeom prst="rect">
            <a:avLst/>
          </a:prstGeom>
          <a:noFill/>
          <a:ln/>
        </p:spPr>
        <p:txBody>
          <a:bodyPr wrap="square" lIns="0" tIns="0" rIns="0" bIns="0" rtlCol="0" anchor="ctr"/>
          <a:lstStyle/>
          <a:p>
            <a:pPr indent="0" marL="0">
              <a:buNone/>
            </a:pPr>
            <a:r>
              <a:rPr lang="en-US" sz="1100" dirty="0">
                <a:solidFill>
                  <a:srgbClr val="8A93A8"/>
                </a:solidFill>
                <a:latin typeface="Calibri" pitchFamily="34" charset="0"/>
                <a:ea typeface="Calibri" pitchFamily="34" charset="-122"/>
                <a:cs typeface="Calibri" pitchFamily="34" charset="-120"/>
              </a:rPr>
              <a:t>Lớp / MSSV</a:t>
            </a:r>
            <a:endParaRPr lang="en-US" sz="1100" dirty="0"/>
          </a:p>
        </p:txBody>
      </p:sp>
      <p:sp>
        <p:nvSpPr>
          <p:cNvPr id="16" name="Text 13"/>
          <p:cNvSpPr/>
          <p:nvPr/>
        </p:nvSpPr>
        <p:spPr>
          <a:xfrm>
            <a:off x="2560320" y="4700016"/>
            <a:ext cx="38404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K58KTP  ·  K225480106049</a:t>
            </a:r>
            <a:endParaRPr lang="en-US" sz="1250" dirty="0"/>
          </a:p>
        </p:txBody>
      </p:sp>
      <p:sp>
        <p:nvSpPr>
          <p:cNvPr id="17" name="Text 14"/>
          <p:cNvSpPr/>
          <p:nvPr/>
        </p:nvSpPr>
        <p:spPr>
          <a:xfrm>
            <a:off x="777240" y="5084064"/>
            <a:ext cx="1737360" cy="320040"/>
          </a:xfrm>
          <a:prstGeom prst="rect">
            <a:avLst/>
          </a:prstGeom>
          <a:noFill/>
          <a:ln/>
        </p:spPr>
        <p:txBody>
          <a:bodyPr wrap="square" lIns="0" tIns="0" rIns="0" bIns="0" rtlCol="0" anchor="ctr"/>
          <a:lstStyle/>
          <a:p>
            <a:pPr indent="0" marL="0">
              <a:buNone/>
            </a:pPr>
            <a:r>
              <a:rPr lang="en-US" sz="1100" dirty="0">
                <a:solidFill>
                  <a:srgbClr val="8A93A8"/>
                </a:solidFill>
                <a:latin typeface="Calibri" pitchFamily="34" charset="0"/>
                <a:ea typeface="Calibri" pitchFamily="34" charset="-122"/>
                <a:cs typeface="Calibri" pitchFamily="34" charset="-120"/>
              </a:rPr>
              <a:t>GVHD</a:t>
            </a:r>
            <a:endParaRPr lang="en-US" sz="1100" dirty="0"/>
          </a:p>
        </p:txBody>
      </p:sp>
      <p:sp>
        <p:nvSpPr>
          <p:cNvPr id="18" name="Text 15"/>
          <p:cNvSpPr/>
          <p:nvPr/>
        </p:nvSpPr>
        <p:spPr>
          <a:xfrm>
            <a:off x="2560320" y="5084064"/>
            <a:ext cx="38404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TS. Nguyễn Văn Huy</a:t>
            </a:r>
            <a:endParaRPr lang="en-US" sz="1250" dirty="0"/>
          </a:p>
        </p:txBody>
      </p:sp>
      <p:sp>
        <p:nvSpPr>
          <p:cNvPr id="19" name="Text 16"/>
          <p:cNvSpPr/>
          <p:nvPr/>
        </p:nvSpPr>
        <p:spPr>
          <a:xfrm>
            <a:off x="548640" y="6263640"/>
            <a:ext cx="10058400" cy="320040"/>
          </a:xfrm>
          <a:prstGeom prst="rect">
            <a:avLst/>
          </a:prstGeom>
          <a:noFill/>
          <a:ln/>
        </p:spPr>
        <p:txBody>
          <a:bodyPr wrap="square" lIns="0" tIns="0" rIns="0" bIns="0" rtlCol="0" anchor="ctr"/>
          <a:lstStyle/>
          <a:p>
            <a:pPr indent="0" marL="0">
              <a:buNone/>
            </a:pPr>
            <a:r>
              <a:rPr lang="en-US" sz="1050" spc="100" kern="0" dirty="0">
                <a:solidFill>
                  <a:srgbClr val="8A93A8"/>
                </a:solidFill>
                <a:latin typeface="Calibri" pitchFamily="34" charset="0"/>
                <a:ea typeface="Calibri" pitchFamily="34" charset="-122"/>
                <a:cs typeface="Calibri" pitchFamily="34" charset="-120"/>
              </a:rPr>
              <a:t>TRƯỜNG ĐẠI HỌC KỸ THUẬT CÔNG NGHIỆP  ·  KHOA ĐIỆN TỬ  ·  THÁI NGUYÊN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C0654A"/>
                </a:solidFill>
                <a:latin typeface="Calibri" pitchFamily="34" charset="0"/>
                <a:ea typeface="Calibri" pitchFamily="34" charset="-122"/>
                <a:cs typeface="Calibri" pitchFamily="34" charset="-120"/>
              </a:rPr>
              <a:t>NỘI DUNG TRÌNH BÀY</a:t>
            </a:r>
            <a:endParaRPr lang="en-US" sz="1200" dirty="0"/>
          </a:p>
        </p:txBody>
      </p:sp>
      <p:sp>
        <p:nvSpPr>
          <p:cNvPr id="3" name="Text 1"/>
          <p:cNvSpPr/>
          <p:nvPr/>
        </p:nvSpPr>
        <p:spPr>
          <a:xfrm>
            <a:off x="548640" y="658368"/>
            <a:ext cx="1078992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Mục lục</a:t>
            </a:r>
            <a:endParaRPr lang="en-US" sz="3000" dirty="0"/>
          </a:p>
        </p:txBody>
      </p:sp>
      <p:sp>
        <p:nvSpPr>
          <p:cNvPr id="4" name="Shape 2"/>
          <p:cNvSpPr/>
          <p:nvPr/>
        </p:nvSpPr>
        <p:spPr>
          <a:xfrm>
            <a:off x="548640" y="2103120"/>
            <a:ext cx="3520440" cy="3291840"/>
          </a:xfrm>
          <a:prstGeom prst="roundRect">
            <a:avLst>
              <a:gd name="adj" fmla="val 2222"/>
            </a:avLst>
          </a:prstGeom>
          <a:solidFill>
            <a:srgbClr val="FFFFFF"/>
          </a:solidFill>
          <a:ln/>
          <a:effectLst>
            <a:outerShdw sx="100000" sy="100000" kx="0" ky="0" algn="bl" rotWithShape="0" blurRad="101600" dist="25400" dir="5400000">
              <a:srgbClr val="000000">
                <a:alpha val="8000"/>
              </a:srgbClr>
            </a:outerShdw>
          </a:effectLst>
        </p:spPr>
      </p:sp>
      <p:sp>
        <p:nvSpPr>
          <p:cNvPr id="5" name="Text 3"/>
          <p:cNvSpPr/>
          <p:nvPr/>
        </p:nvSpPr>
        <p:spPr>
          <a:xfrm>
            <a:off x="822960" y="2377440"/>
            <a:ext cx="1188720" cy="731520"/>
          </a:xfrm>
          <a:prstGeom prst="rect">
            <a:avLst/>
          </a:prstGeom>
          <a:noFill/>
          <a:ln/>
        </p:spPr>
        <p:txBody>
          <a:bodyPr wrap="square" lIns="0" tIns="0" rIns="0" bIns="0" rtlCol="0" anchor="ctr"/>
          <a:lstStyle/>
          <a:p>
            <a:pPr indent="0" marL="0">
              <a:buNone/>
            </a:pPr>
            <a:r>
              <a:rPr lang="en-US" sz="3400" b="1" dirty="0">
                <a:solidFill>
                  <a:srgbClr val="E3DCD2"/>
                </a:solidFill>
                <a:latin typeface="Cambria" pitchFamily="34" charset="0"/>
                <a:ea typeface="Cambria" pitchFamily="34" charset="-122"/>
                <a:cs typeface="Cambria" pitchFamily="34" charset="-120"/>
              </a:rPr>
              <a:t>01</a:t>
            </a:r>
            <a:endParaRPr lang="en-US" sz="3400" dirty="0"/>
          </a:p>
        </p:txBody>
      </p:sp>
      <p:sp>
        <p:nvSpPr>
          <p:cNvPr id="6" name="Text 4"/>
          <p:cNvSpPr/>
          <p:nvPr/>
        </p:nvSpPr>
        <p:spPr>
          <a:xfrm>
            <a:off x="822960" y="3246120"/>
            <a:ext cx="2971800" cy="640080"/>
          </a:xfrm>
          <a:prstGeom prst="rect">
            <a:avLst/>
          </a:prstGeom>
          <a:noFill/>
          <a:ln/>
        </p:spPr>
        <p:txBody>
          <a:bodyPr wrap="square" lIns="0" tIns="0" rIns="0" bIns="0" rtlCol="0" anchor="ctr"/>
          <a:lstStyle/>
          <a:p>
            <a:pPr indent="0" marL="0">
              <a:lnSpc>
                <a:spcPts val="2200"/>
              </a:lnSpc>
              <a:buNone/>
            </a:pPr>
            <a:r>
              <a:rPr lang="en-US" sz="1900" b="1" dirty="0">
                <a:solidFill>
                  <a:srgbClr val="1B2A4A"/>
                </a:solidFill>
                <a:latin typeface="Cambria" pitchFamily="34" charset="0"/>
                <a:ea typeface="Cambria" pitchFamily="34" charset="-122"/>
                <a:cs typeface="Cambria" pitchFamily="34" charset="-120"/>
              </a:rPr>
              <a:t>Giới thiệu đề tài</a:t>
            </a:r>
            <a:endParaRPr lang="en-US" sz="1900" dirty="0"/>
          </a:p>
        </p:txBody>
      </p:sp>
      <p:sp>
        <p:nvSpPr>
          <p:cNvPr id="7" name="Text 5"/>
          <p:cNvSpPr/>
          <p:nvPr/>
        </p:nvSpPr>
        <p:spPr>
          <a:xfrm>
            <a:off x="822960" y="4069080"/>
            <a:ext cx="2971800" cy="1097280"/>
          </a:xfrm>
          <a:prstGeom prst="rect">
            <a:avLst/>
          </a:prstGeom>
          <a:noFill/>
          <a:ln/>
        </p:spPr>
        <p:txBody>
          <a:bodyPr wrap="square" lIns="0" tIns="0" rIns="0" bIns="0" rtlCol="0" anchor="ctr"/>
          <a:lstStyle/>
          <a:p>
            <a:pPr indent="0" marL="0">
              <a:lnSpc>
                <a:spcPts val="1700"/>
              </a:lnSpc>
              <a:buNone/>
            </a:pPr>
            <a:r>
              <a:rPr lang="en-US" sz="1250" dirty="0">
                <a:solidFill>
                  <a:srgbClr val="5B6B85"/>
                </a:solidFill>
                <a:latin typeface="Calibri" pitchFamily="34" charset="0"/>
                <a:ea typeface="Calibri" pitchFamily="34" charset="-122"/>
                <a:cs typeface="Calibri" pitchFamily="34" charset="-120"/>
              </a:rPr>
              <a:t>Lý do, mục tiêu và phạm vi nghiên cứu</a:t>
            </a:r>
            <a:endParaRPr lang="en-US" sz="1250" dirty="0"/>
          </a:p>
        </p:txBody>
      </p:sp>
      <p:sp>
        <p:nvSpPr>
          <p:cNvPr id="8" name="Shape 6"/>
          <p:cNvSpPr/>
          <p:nvPr/>
        </p:nvSpPr>
        <p:spPr>
          <a:xfrm>
            <a:off x="4343400" y="2103120"/>
            <a:ext cx="3520440" cy="3291840"/>
          </a:xfrm>
          <a:prstGeom prst="roundRect">
            <a:avLst>
              <a:gd name="adj" fmla="val 2222"/>
            </a:avLst>
          </a:prstGeom>
          <a:solidFill>
            <a:srgbClr val="1B2A4A"/>
          </a:solidFill>
          <a:ln/>
          <a:effectLst>
            <a:outerShdw sx="100000" sy="100000" kx="0" ky="0" algn="bl" rotWithShape="0" blurRad="101600" dist="25400" dir="5400000">
              <a:srgbClr val="000000">
                <a:alpha val="18000"/>
              </a:srgbClr>
            </a:outerShdw>
          </a:effectLst>
        </p:spPr>
      </p:sp>
      <p:sp>
        <p:nvSpPr>
          <p:cNvPr id="9" name="Text 7"/>
          <p:cNvSpPr/>
          <p:nvPr/>
        </p:nvSpPr>
        <p:spPr>
          <a:xfrm>
            <a:off x="4617720" y="2377440"/>
            <a:ext cx="1188720" cy="731520"/>
          </a:xfrm>
          <a:prstGeom prst="rect">
            <a:avLst/>
          </a:prstGeom>
          <a:noFill/>
          <a:ln/>
        </p:spPr>
        <p:txBody>
          <a:bodyPr wrap="square" lIns="0" tIns="0" rIns="0" bIns="0" rtlCol="0" anchor="ctr"/>
          <a:lstStyle/>
          <a:p>
            <a:pPr indent="0" marL="0">
              <a:buNone/>
            </a:pPr>
            <a:r>
              <a:rPr lang="en-US" sz="3400" b="1" dirty="0">
                <a:solidFill>
                  <a:srgbClr val="2A3B61"/>
                </a:solidFill>
                <a:latin typeface="Cambria" pitchFamily="34" charset="0"/>
                <a:ea typeface="Cambria" pitchFamily="34" charset="-122"/>
                <a:cs typeface="Cambria" pitchFamily="34" charset="-120"/>
              </a:rPr>
              <a:t>02</a:t>
            </a:r>
            <a:endParaRPr lang="en-US" sz="3400" dirty="0"/>
          </a:p>
        </p:txBody>
      </p:sp>
      <p:sp>
        <p:nvSpPr>
          <p:cNvPr id="10" name="Text 8"/>
          <p:cNvSpPr/>
          <p:nvPr/>
        </p:nvSpPr>
        <p:spPr>
          <a:xfrm>
            <a:off x="4617720" y="3246120"/>
            <a:ext cx="2971800" cy="640080"/>
          </a:xfrm>
          <a:prstGeom prst="rect">
            <a:avLst/>
          </a:prstGeom>
          <a:noFill/>
          <a:ln/>
        </p:spPr>
        <p:txBody>
          <a:bodyPr wrap="square" lIns="0" tIns="0" rIns="0" bIns="0" rtlCol="0" anchor="ctr"/>
          <a:lstStyle/>
          <a:p>
            <a:pPr indent="0" marL="0">
              <a:lnSpc>
                <a:spcPts val="2200"/>
              </a:lnSpc>
              <a:buNone/>
            </a:pPr>
            <a:r>
              <a:rPr lang="en-US" sz="1900" b="1" dirty="0">
                <a:solidFill>
                  <a:srgbClr val="FFFFFF"/>
                </a:solidFill>
                <a:latin typeface="Cambria" pitchFamily="34" charset="0"/>
                <a:ea typeface="Cambria" pitchFamily="34" charset="-122"/>
                <a:cs typeface="Cambria" pitchFamily="34" charset="-120"/>
              </a:rPr>
              <a:t>Hệ thống đã xây dựng</a:t>
            </a:r>
            <a:endParaRPr lang="en-US" sz="1900" dirty="0"/>
          </a:p>
        </p:txBody>
      </p:sp>
      <p:sp>
        <p:nvSpPr>
          <p:cNvPr id="11" name="Text 9"/>
          <p:cNvSpPr/>
          <p:nvPr/>
        </p:nvSpPr>
        <p:spPr>
          <a:xfrm>
            <a:off x="4617720" y="4069080"/>
            <a:ext cx="2971800" cy="1097280"/>
          </a:xfrm>
          <a:prstGeom prst="rect">
            <a:avLst/>
          </a:prstGeom>
          <a:noFill/>
          <a:ln/>
        </p:spPr>
        <p:txBody>
          <a:bodyPr wrap="square" lIns="0" tIns="0" rIns="0" bIns="0" rtlCol="0" anchor="ctr"/>
          <a:lstStyle/>
          <a:p>
            <a:pPr indent="0" marL="0">
              <a:lnSpc>
                <a:spcPts val="1700"/>
              </a:lnSpc>
              <a:buNone/>
            </a:pPr>
            <a:r>
              <a:rPr lang="en-US" sz="1250" dirty="0">
                <a:solidFill>
                  <a:srgbClr val="CADCFC"/>
                </a:solidFill>
                <a:latin typeface="Calibri" pitchFamily="34" charset="0"/>
                <a:ea typeface="Calibri" pitchFamily="34" charset="-122"/>
                <a:cs typeface="Calibri" pitchFamily="34" charset="-120"/>
              </a:rPr>
              <a:t>Kiến trúc, dữ liệu và cách thực hiện từng bước</a:t>
            </a:r>
            <a:endParaRPr lang="en-US" sz="1250" dirty="0"/>
          </a:p>
        </p:txBody>
      </p:sp>
      <p:sp>
        <p:nvSpPr>
          <p:cNvPr id="12" name="Shape 10"/>
          <p:cNvSpPr/>
          <p:nvPr/>
        </p:nvSpPr>
        <p:spPr>
          <a:xfrm>
            <a:off x="8138160" y="2103120"/>
            <a:ext cx="3520440" cy="3291840"/>
          </a:xfrm>
          <a:prstGeom prst="roundRect">
            <a:avLst>
              <a:gd name="adj" fmla="val 2222"/>
            </a:avLst>
          </a:prstGeom>
          <a:solidFill>
            <a:srgbClr val="FFFFFF"/>
          </a:solidFill>
          <a:ln/>
          <a:effectLst>
            <a:outerShdw sx="100000" sy="100000" kx="0" ky="0" algn="bl" rotWithShape="0" blurRad="101600" dist="25400" dir="5400000">
              <a:srgbClr val="000000">
                <a:alpha val="8000"/>
              </a:srgbClr>
            </a:outerShdw>
          </a:effectLst>
        </p:spPr>
      </p:sp>
      <p:sp>
        <p:nvSpPr>
          <p:cNvPr id="13" name="Text 11"/>
          <p:cNvSpPr/>
          <p:nvPr/>
        </p:nvSpPr>
        <p:spPr>
          <a:xfrm>
            <a:off x="8412480" y="2377440"/>
            <a:ext cx="1188720" cy="731520"/>
          </a:xfrm>
          <a:prstGeom prst="rect">
            <a:avLst/>
          </a:prstGeom>
          <a:noFill/>
          <a:ln/>
        </p:spPr>
        <p:txBody>
          <a:bodyPr wrap="square" lIns="0" tIns="0" rIns="0" bIns="0" rtlCol="0" anchor="ctr"/>
          <a:lstStyle/>
          <a:p>
            <a:pPr indent="0" marL="0">
              <a:buNone/>
            </a:pPr>
            <a:r>
              <a:rPr lang="en-US" sz="3400" b="1" dirty="0">
                <a:solidFill>
                  <a:srgbClr val="E3DCD2"/>
                </a:solidFill>
                <a:latin typeface="Cambria" pitchFamily="34" charset="0"/>
                <a:ea typeface="Cambria" pitchFamily="34" charset="-122"/>
                <a:cs typeface="Cambria" pitchFamily="34" charset="-120"/>
              </a:rPr>
              <a:t>03</a:t>
            </a:r>
            <a:endParaRPr lang="en-US" sz="3400" dirty="0"/>
          </a:p>
        </p:txBody>
      </p:sp>
      <p:sp>
        <p:nvSpPr>
          <p:cNvPr id="14" name="Text 12"/>
          <p:cNvSpPr/>
          <p:nvPr/>
        </p:nvSpPr>
        <p:spPr>
          <a:xfrm>
            <a:off x="8412480" y="3246120"/>
            <a:ext cx="2971800" cy="640080"/>
          </a:xfrm>
          <a:prstGeom prst="rect">
            <a:avLst/>
          </a:prstGeom>
          <a:noFill/>
          <a:ln/>
        </p:spPr>
        <p:txBody>
          <a:bodyPr wrap="square" lIns="0" tIns="0" rIns="0" bIns="0" rtlCol="0" anchor="ctr"/>
          <a:lstStyle/>
          <a:p>
            <a:pPr indent="0" marL="0">
              <a:lnSpc>
                <a:spcPts val="2200"/>
              </a:lnSpc>
              <a:buNone/>
            </a:pPr>
            <a:r>
              <a:rPr lang="en-US" sz="1900" b="1" dirty="0">
                <a:solidFill>
                  <a:srgbClr val="1B2A4A"/>
                </a:solidFill>
                <a:latin typeface="Cambria" pitchFamily="34" charset="0"/>
                <a:ea typeface="Cambria" pitchFamily="34" charset="-122"/>
                <a:cs typeface="Cambria" pitchFamily="34" charset="-120"/>
              </a:rPr>
              <a:t>Kết quả thực nghiệm</a:t>
            </a:r>
            <a:endParaRPr lang="en-US" sz="1900" dirty="0"/>
          </a:p>
        </p:txBody>
      </p:sp>
      <p:sp>
        <p:nvSpPr>
          <p:cNvPr id="15" name="Text 13"/>
          <p:cNvSpPr/>
          <p:nvPr/>
        </p:nvSpPr>
        <p:spPr>
          <a:xfrm>
            <a:off x="8412480" y="4069080"/>
            <a:ext cx="2971800" cy="1097280"/>
          </a:xfrm>
          <a:prstGeom prst="rect">
            <a:avLst/>
          </a:prstGeom>
          <a:noFill/>
          <a:ln/>
        </p:spPr>
        <p:txBody>
          <a:bodyPr wrap="square" lIns="0" tIns="0" rIns="0" bIns="0" rtlCol="0" anchor="ctr"/>
          <a:lstStyle/>
          <a:p>
            <a:pPr indent="0" marL="0">
              <a:lnSpc>
                <a:spcPts val="1700"/>
              </a:lnSpc>
              <a:buNone/>
            </a:pPr>
            <a:r>
              <a:rPr lang="en-US" sz="1250" dirty="0">
                <a:solidFill>
                  <a:srgbClr val="5B6B85"/>
                </a:solidFill>
                <a:latin typeface="Calibri" pitchFamily="34" charset="0"/>
                <a:ea typeface="Calibri" pitchFamily="34" charset="-122"/>
                <a:cs typeface="Calibri" pitchFamily="34" charset="-120"/>
              </a:rPr>
              <a:t>Kết quả chạy thực tế và kết luận</a:t>
            </a:r>
            <a:endParaRPr lang="en-US" sz="1250" dirty="0"/>
          </a:p>
        </p:txBody>
      </p:sp>
      <p:sp>
        <p:nvSpPr>
          <p:cNvPr id="16" name="Text 14"/>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C0654A"/>
                </a:solidFill>
                <a:latin typeface="Calibri" pitchFamily="34" charset="0"/>
                <a:ea typeface="Calibri" pitchFamily="34" charset="-122"/>
                <a:cs typeface="Calibri" pitchFamily="34" charset="-120"/>
              </a:rPr>
              <a:t>PHẦN 1 · GIỚI THIỆU ĐỀ TÀI</a:t>
            </a:r>
            <a:endParaRPr lang="en-US" sz="1200" dirty="0"/>
          </a:p>
        </p:txBody>
      </p:sp>
      <p:sp>
        <p:nvSpPr>
          <p:cNvPr id="3" name="Text 1"/>
          <p:cNvSpPr/>
          <p:nvPr/>
        </p:nvSpPr>
        <p:spPr>
          <a:xfrm>
            <a:off x="548640" y="658368"/>
            <a:ext cx="1078992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Lý do chọn đề tài &amp; Mục tiêu</a:t>
            </a:r>
            <a:endParaRPr lang="en-US" sz="3000" dirty="0"/>
          </a:p>
        </p:txBody>
      </p:sp>
      <p:sp>
        <p:nvSpPr>
          <p:cNvPr id="4" name="Shape 2"/>
          <p:cNvSpPr/>
          <p:nvPr/>
        </p:nvSpPr>
        <p:spPr>
          <a:xfrm>
            <a:off x="548640" y="1691640"/>
            <a:ext cx="5440680" cy="4434840"/>
          </a:xfrm>
          <a:prstGeom prst="roundRect">
            <a:avLst>
              <a:gd name="adj" fmla="val 1649"/>
            </a:avLst>
          </a:prstGeom>
          <a:solidFill>
            <a:srgbClr val="FFFFFF"/>
          </a:solidFill>
          <a:ln/>
          <a:effectLst>
            <a:outerShdw sx="100000" sy="100000" kx="0" ky="0" algn="bl" rotWithShape="0" blurRad="101600" dist="25400" dir="5400000">
              <a:srgbClr val="000000">
                <a:alpha val="8000"/>
              </a:srgbClr>
            </a:outerShdw>
          </a:effectLst>
        </p:spPr>
      </p:sp>
      <p:sp>
        <p:nvSpPr>
          <p:cNvPr id="5" name="Shape 3"/>
          <p:cNvSpPr/>
          <p:nvPr/>
        </p:nvSpPr>
        <p:spPr>
          <a:xfrm>
            <a:off x="868680" y="1920240"/>
            <a:ext cx="502920" cy="502920"/>
          </a:xfrm>
          <a:prstGeom prst="ellipse">
            <a:avLst/>
          </a:prstGeom>
          <a:solidFill>
            <a:srgbClr val="FBEFEA"/>
          </a:solidFill>
          <a:ln/>
        </p:spPr>
      </p:sp>
      <p:pic>
        <p:nvPicPr>
          <p:cNvPr id="6" name="Image 0" descr="preencoded.png">    </p:cNvPr>
          <p:cNvPicPr>
            <a:picLocks noChangeAspect="1"/>
          </p:cNvPicPr>
          <p:nvPr/>
        </p:nvPicPr>
        <p:blipFill>
          <a:blip r:embed="rId1"/>
          <a:stretch>
            <a:fillRect/>
          </a:stretch>
        </p:blipFill>
        <p:spPr>
          <a:xfrm>
            <a:off x="949147" y="2000707"/>
            <a:ext cx="341986" cy="341986"/>
          </a:xfrm>
          <a:prstGeom prst="rect">
            <a:avLst/>
          </a:prstGeom>
        </p:spPr>
      </p:pic>
      <p:sp>
        <p:nvSpPr>
          <p:cNvPr id="7" name="Text 4"/>
          <p:cNvSpPr/>
          <p:nvPr/>
        </p:nvSpPr>
        <p:spPr>
          <a:xfrm>
            <a:off x="1508760" y="1965960"/>
            <a:ext cx="4206240" cy="41148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Lý do chọn đề tài</a:t>
            </a:r>
            <a:endParaRPr lang="en-US" sz="1700" dirty="0"/>
          </a:p>
        </p:txBody>
      </p:sp>
      <p:sp>
        <p:nvSpPr>
          <p:cNvPr id="8" name="Text 5"/>
          <p:cNvSpPr/>
          <p:nvPr/>
        </p:nvSpPr>
        <p:spPr>
          <a:xfrm>
            <a:off x="868680" y="2468880"/>
            <a:ext cx="4846320" cy="3383280"/>
          </a:xfrm>
          <a:prstGeom prst="rect">
            <a:avLst/>
          </a:prstGeom>
          <a:noFill/>
          <a:ln/>
        </p:spPr>
        <p:txBody>
          <a:bodyPr wrap="square" rtlCol="0" anchor="ctr"/>
          <a:lstStyle/>
          <a:p>
            <a:pPr marL="342900" indent="-342900">
              <a:lnSpc>
                <a:spcPts val="2000"/>
              </a:lnSpc>
              <a:spcAft>
                <a:spcPts val="1400"/>
              </a:spcAft>
              <a:buSzPct val="100000"/>
              <a:buChar char="•"/>
            </a:pPr>
            <a:r>
              <a:rPr lang="en-US" sz="1350" dirty="0">
                <a:solidFill>
                  <a:srgbClr val="1F2430"/>
                </a:solidFill>
                <a:latin typeface="Calibri" pitchFamily="34" charset="0"/>
                <a:ea typeface="Calibri" pitchFamily="34" charset="-122"/>
                <a:cs typeface="Calibri" pitchFamily="34" charset="-120"/>
              </a:rPr>
              <a:t>Giá BĐS biến động phức tạp theo vị trí, diện tích, loại hình; dữ liệu rao bán trực tuyến khổng lồ nhưng thô, nhiều nhiễu.</a:t>
            </a:r>
            <a:endParaRPr lang="en-US" sz="1350" dirty="0"/>
          </a:p>
          <a:p>
            <a:pPr marL="342900" indent="-342900">
              <a:lnSpc>
                <a:spcPts val="2000"/>
              </a:lnSpc>
              <a:spcAft>
                <a:spcPts val="1400"/>
              </a:spcAft>
              <a:buSzPct val="100000"/>
              <a:buChar char="•"/>
            </a:pPr>
            <a:r>
              <a:rPr lang="en-US" sz="1350" dirty="0">
                <a:solidFill>
                  <a:srgbClr val="1F2430"/>
                </a:solidFill>
                <a:latin typeface="Calibri" pitchFamily="34" charset="0"/>
                <a:ea typeface="Calibri" pitchFamily="34" charset="-122"/>
                <a:cs typeface="Calibri" pitchFamily="34" charset="-120"/>
              </a:rPr>
              <a:t>Người mua, nhà đầu tư khó xử lý thủ công để nhận diện xu hướng và xác định giá trị thực.</a:t>
            </a:r>
            <a:endParaRPr lang="en-US" sz="1350" dirty="0"/>
          </a:p>
          <a:p>
            <a:pPr marL="342900" indent="-342900">
              <a:lnSpc>
                <a:spcPts val="2000"/>
              </a:lnSpc>
              <a:buSzPct val="100000"/>
              <a:buChar char="•"/>
            </a:pPr>
            <a:r>
              <a:rPr lang="en-US" sz="1350" dirty="0">
                <a:solidFill>
                  <a:srgbClr val="1F2430"/>
                </a:solidFill>
                <a:latin typeface="Calibri" pitchFamily="34" charset="0"/>
                <a:ea typeface="Calibri" pitchFamily="34" charset="-122"/>
                <a:cs typeface="Calibri" pitchFamily="34" charset="-120"/>
              </a:rPr>
              <a:t>Ứng dụng Khoa học dữ liệu + Học máy hồi quy để tự động hóa phân tích và dự báo giá BĐS.</a:t>
            </a:r>
            <a:endParaRPr lang="en-US" sz="1350" dirty="0"/>
          </a:p>
        </p:txBody>
      </p:sp>
      <p:sp>
        <p:nvSpPr>
          <p:cNvPr id="9" name="Shape 6"/>
          <p:cNvSpPr/>
          <p:nvPr/>
        </p:nvSpPr>
        <p:spPr>
          <a:xfrm>
            <a:off x="6199632" y="1691640"/>
            <a:ext cx="5440680" cy="4434840"/>
          </a:xfrm>
          <a:prstGeom prst="roundRect">
            <a:avLst>
              <a:gd name="adj" fmla="val 1649"/>
            </a:avLst>
          </a:prstGeom>
          <a:solidFill>
            <a:srgbClr val="1B2A4A"/>
          </a:solidFill>
          <a:ln/>
          <a:effectLst>
            <a:outerShdw sx="100000" sy="100000" kx="0" ky="0" algn="bl" rotWithShape="0" blurRad="127000" dist="38100" dir="5400000">
              <a:srgbClr val="000000">
                <a:alpha val="18000"/>
              </a:srgbClr>
            </a:outerShdw>
          </a:effectLst>
        </p:spPr>
      </p:sp>
      <p:sp>
        <p:nvSpPr>
          <p:cNvPr id="10" name="Shape 7"/>
          <p:cNvSpPr/>
          <p:nvPr/>
        </p:nvSpPr>
        <p:spPr>
          <a:xfrm>
            <a:off x="6519672" y="1920240"/>
            <a:ext cx="502920" cy="502920"/>
          </a:xfrm>
          <a:prstGeom prst="ellipse">
            <a:avLst/>
          </a:prstGeom>
          <a:solidFill>
            <a:srgbClr val="2A3B61"/>
          </a:solidFill>
          <a:ln/>
        </p:spPr>
      </p:sp>
      <p:pic>
        <p:nvPicPr>
          <p:cNvPr id="11" name="Image 1" descr="preencoded.png">    </p:cNvPr>
          <p:cNvPicPr>
            <a:picLocks noChangeAspect="1"/>
          </p:cNvPicPr>
          <p:nvPr/>
        </p:nvPicPr>
        <p:blipFill>
          <a:blip r:embed="rId2"/>
          <a:stretch>
            <a:fillRect/>
          </a:stretch>
        </p:blipFill>
        <p:spPr>
          <a:xfrm>
            <a:off x="6600139" y="2000707"/>
            <a:ext cx="341986" cy="341986"/>
          </a:xfrm>
          <a:prstGeom prst="rect">
            <a:avLst/>
          </a:prstGeom>
        </p:spPr>
      </p:pic>
      <p:sp>
        <p:nvSpPr>
          <p:cNvPr id="12" name="Text 8"/>
          <p:cNvSpPr/>
          <p:nvPr/>
        </p:nvSpPr>
        <p:spPr>
          <a:xfrm>
            <a:off x="7159752" y="1965960"/>
            <a:ext cx="420624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Mục tiêu đề tài</a:t>
            </a:r>
            <a:endParaRPr lang="en-US" sz="1700" dirty="0"/>
          </a:p>
        </p:txBody>
      </p:sp>
      <p:sp>
        <p:nvSpPr>
          <p:cNvPr id="13" name="Text 9"/>
          <p:cNvSpPr/>
          <p:nvPr/>
        </p:nvSpPr>
        <p:spPr>
          <a:xfrm>
            <a:off x="6519672" y="2542032"/>
            <a:ext cx="4846320" cy="777240"/>
          </a:xfrm>
          <a:prstGeom prst="rect">
            <a:avLst/>
          </a:prstGeom>
          <a:noFill/>
          <a:ln/>
        </p:spPr>
        <p:txBody>
          <a:bodyPr wrap="square" lIns="0" tIns="0" rIns="0" bIns="0" rtlCol="0" anchor="ctr"/>
          <a:lstStyle/>
          <a:p>
            <a:pPr indent="0" marL="0">
              <a:lnSpc>
                <a:spcPts val="1600"/>
              </a:lnSpc>
              <a:buNone/>
            </a:pPr>
            <a:r>
              <a:rPr lang="en-US" sz="1200" i="1" dirty="0">
                <a:solidFill>
                  <a:srgbClr val="CADCFC"/>
                </a:solidFill>
                <a:latin typeface="Calibri" pitchFamily="34" charset="0"/>
                <a:ea typeface="Calibri" pitchFamily="34" charset="-122"/>
                <a:cs typeface="Calibri" pitchFamily="34" charset="-120"/>
              </a:rPr>
              <a:t>Xây dựng quy trình toàn diện: khai thác → xử lý → trực quan hóa → dự báo giá BĐS, hỗ trợ ra quyết định thông minh.</a:t>
            </a:r>
            <a:endParaRPr lang="en-US" sz="1200" dirty="0"/>
          </a:p>
        </p:txBody>
      </p:sp>
      <p:sp>
        <p:nvSpPr>
          <p:cNvPr id="14" name="Text 10"/>
          <p:cNvSpPr/>
          <p:nvPr/>
        </p:nvSpPr>
        <p:spPr>
          <a:xfrm>
            <a:off x="6519672" y="3657600"/>
            <a:ext cx="4846320" cy="2560320"/>
          </a:xfrm>
          <a:prstGeom prst="rect">
            <a:avLst/>
          </a:prstGeom>
          <a:noFill/>
          <a:ln/>
        </p:spPr>
        <p:txBody>
          <a:bodyPr wrap="square" rtlCol="0" anchor="ctr"/>
          <a:lstStyle/>
          <a:p>
            <a:pPr marL="342900" indent="-342900">
              <a:lnSpc>
                <a:spcPts val="1600"/>
              </a:lnSpc>
              <a:spcAft>
                <a:spcPts val="1100"/>
              </a:spcAft>
              <a:buSzPct val="100000"/>
              <a:buChar char="•"/>
            </a:pPr>
            <a:r>
              <a:rPr lang="en-US" sz="1200" dirty="0">
                <a:solidFill>
                  <a:srgbClr val="E8ECF7"/>
                </a:solidFill>
                <a:latin typeface="Calibri" pitchFamily="34" charset="0"/>
                <a:ea typeface="Calibri" pitchFamily="34" charset="-122"/>
                <a:cs typeface="Calibri" pitchFamily="34" charset="-120"/>
              </a:rPr>
              <a:t>Thu thập &amp; tiền xử lý dữ liệu thực tế, loại bỏ Outliers</a:t>
            </a:r>
            <a:endParaRPr lang="en-US" sz="1200" dirty="0"/>
          </a:p>
          <a:p>
            <a:pPr marL="342900" indent="-342900">
              <a:lnSpc>
                <a:spcPts val="1600"/>
              </a:lnSpc>
              <a:spcAft>
                <a:spcPts val="1100"/>
              </a:spcAft>
              <a:buSzPct val="100000"/>
              <a:buChar char="•"/>
            </a:pPr>
            <a:r>
              <a:rPr lang="en-US" sz="1200" dirty="0">
                <a:solidFill>
                  <a:srgbClr val="E8ECF7"/>
                </a:solidFill>
                <a:latin typeface="Calibri" pitchFamily="34" charset="0"/>
                <a:ea typeface="Calibri" pitchFamily="34" charset="-122"/>
                <a:cs typeface="Calibri" pitchFamily="34" charset="-120"/>
              </a:rPr>
              <a:t>Phân tích khám phá dữ liệu (EDA) qua 5 bài toán thực tế</a:t>
            </a:r>
            <a:endParaRPr lang="en-US" sz="1200" dirty="0"/>
          </a:p>
          <a:p>
            <a:pPr marL="342900" indent="-342900">
              <a:lnSpc>
                <a:spcPts val="1600"/>
              </a:lnSpc>
              <a:spcAft>
                <a:spcPts val="1100"/>
              </a:spcAft>
              <a:buSzPct val="100000"/>
              <a:buChar char="•"/>
            </a:pPr>
            <a:r>
              <a:rPr lang="en-US" sz="1200" dirty="0">
                <a:solidFill>
                  <a:srgbClr val="E8ECF7"/>
                </a:solidFill>
                <a:latin typeface="Calibri" pitchFamily="34" charset="0"/>
                <a:ea typeface="Calibri" pitchFamily="34" charset="-122"/>
                <a:cs typeface="Calibri" pitchFamily="34" charset="-120"/>
              </a:rPr>
              <a:t>Xây dựng mô hình hồi quy: Linear, Random Forest, XGBoost</a:t>
            </a:r>
            <a:endParaRPr lang="en-US" sz="1200" dirty="0"/>
          </a:p>
          <a:p>
            <a:pPr marL="342900" indent="-342900">
              <a:lnSpc>
                <a:spcPts val="1600"/>
              </a:lnSpc>
              <a:buSzPct val="100000"/>
              <a:buChar char="•"/>
            </a:pPr>
            <a:r>
              <a:rPr lang="en-US" sz="1200" dirty="0">
                <a:solidFill>
                  <a:srgbClr val="E8ECF7"/>
                </a:solidFill>
                <a:latin typeface="Calibri" pitchFamily="34" charset="0"/>
                <a:ea typeface="Calibri" pitchFamily="34" charset="-122"/>
                <a:cs typeface="Calibri" pitchFamily="34" charset="-120"/>
              </a:rPr>
              <a:t>Đánh giá bằng RMSE &amp; R² để chọn thuật toán tối ưu</a:t>
            </a:r>
            <a:endParaRPr lang="en-US" sz="1200" dirty="0"/>
          </a:p>
        </p:txBody>
      </p:sp>
      <p:sp>
        <p:nvSpPr>
          <p:cNvPr id="15" name="Text 11"/>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E8A084"/>
                </a:solidFill>
                <a:latin typeface="Calibri" pitchFamily="34" charset="0"/>
                <a:ea typeface="Calibri" pitchFamily="34" charset="-122"/>
                <a:cs typeface="Calibri" pitchFamily="34" charset="-120"/>
              </a:rPr>
              <a:t>PHẦN 1 · GIỚI THIỆU ĐỀ TÀI</a:t>
            </a:r>
            <a:endParaRPr lang="en-US" sz="1200" dirty="0"/>
          </a:p>
        </p:txBody>
      </p:sp>
      <p:sp>
        <p:nvSpPr>
          <p:cNvPr id="3" name="Text 1"/>
          <p:cNvSpPr/>
          <p:nvPr/>
        </p:nvSpPr>
        <p:spPr>
          <a:xfrm>
            <a:off x="548640" y="658368"/>
            <a:ext cx="1078992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Phạm vi &amp; Câu hỏi nghiên cứu</a:t>
            </a:r>
            <a:endParaRPr lang="en-US" sz="3000" dirty="0"/>
          </a:p>
        </p:txBody>
      </p:sp>
      <p:sp>
        <p:nvSpPr>
          <p:cNvPr id="4" name="Text 2"/>
          <p:cNvSpPr/>
          <p:nvPr/>
        </p:nvSpPr>
        <p:spPr>
          <a:xfrm>
            <a:off x="548640" y="1508760"/>
            <a:ext cx="5303520" cy="320040"/>
          </a:xfrm>
          <a:prstGeom prst="rect">
            <a:avLst/>
          </a:prstGeom>
          <a:noFill/>
          <a:ln/>
        </p:spPr>
        <p:txBody>
          <a:bodyPr wrap="square" lIns="0" tIns="0" rIns="0" bIns="0" rtlCol="0" anchor="ctr"/>
          <a:lstStyle/>
          <a:p>
            <a:pPr indent="0" marL="0">
              <a:buNone/>
            </a:pPr>
            <a:r>
              <a:rPr lang="en-US" sz="1150" b="1" spc="150" kern="0" dirty="0">
                <a:solidFill>
                  <a:srgbClr val="C0654A"/>
                </a:solidFill>
                <a:latin typeface="Calibri" pitchFamily="34" charset="0"/>
                <a:ea typeface="Calibri" pitchFamily="34" charset="-122"/>
                <a:cs typeface="Calibri" pitchFamily="34" charset="-120"/>
              </a:rPr>
              <a:t>PHẠM VI</a:t>
            </a:r>
            <a:endParaRPr lang="en-US" sz="1150" dirty="0"/>
          </a:p>
        </p:txBody>
      </p:sp>
      <p:sp>
        <p:nvSpPr>
          <p:cNvPr id="5" name="Shape 3"/>
          <p:cNvSpPr/>
          <p:nvPr/>
        </p:nvSpPr>
        <p:spPr>
          <a:xfrm>
            <a:off x="548640" y="1965960"/>
            <a:ext cx="5303520" cy="868680"/>
          </a:xfrm>
          <a:prstGeom prst="roundRect">
            <a:avLst>
              <a:gd name="adj" fmla="val 7368"/>
            </a:avLst>
          </a:prstGeom>
          <a:solidFill>
            <a:srgbClr val="121D33"/>
          </a:solidFill>
          <a:ln/>
        </p:spPr>
      </p:sp>
      <p:sp>
        <p:nvSpPr>
          <p:cNvPr id="6" name="Text 4"/>
          <p:cNvSpPr/>
          <p:nvPr/>
        </p:nvSpPr>
        <p:spPr>
          <a:xfrm>
            <a:off x="777240" y="2057400"/>
            <a:ext cx="4114800" cy="320040"/>
          </a:xfrm>
          <a:prstGeom prst="rect">
            <a:avLst/>
          </a:prstGeom>
          <a:noFill/>
          <a:ln/>
        </p:spPr>
        <p:txBody>
          <a:bodyPr wrap="square" lIns="0" tIns="0" rIns="0" bIns="0" rtlCol="0" anchor="ctr"/>
          <a:lstStyle/>
          <a:p>
            <a:pPr indent="0" marL="0">
              <a:buNone/>
            </a:pPr>
            <a:r>
              <a:rPr lang="en-US" sz="1350" b="1" dirty="0">
                <a:solidFill>
                  <a:srgbClr val="C0654A"/>
                </a:solidFill>
                <a:latin typeface="Cambria" pitchFamily="34" charset="0"/>
                <a:ea typeface="Cambria" pitchFamily="34" charset="-122"/>
                <a:cs typeface="Cambria" pitchFamily="34" charset="-120"/>
              </a:rPr>
              <a:t>Không gian</a:t>
            </a:r>
            <a:endParaRPr lang="en-US" sz="1350" dirty="0"/>
          </a:p>
        </p:txBody>
      </p:sp>
      <p:sp>
        <p:nvSpPr>
          <p:cNvPr id="7" name="Text 5"/>
          <p:cNvSpPr/>
          <p:nvPr/>
        </p:nvSpPr>
        <p:spPr>
          <a:xfrm>
            <a:off x="777240" y="2377440"/>
            <a:ext cx="4846320" cy="411480"/>
          </a:xfrm>
          <a:prstGeom prst="rect">
            <a:avLst/>
          </a:prstGeom>
          <a:noFill/>
          <a:ln/>
        </p:spPr>
        <p:txBody>
          <a:bodyPr wrap="square" lIns="0" tIns="0" rIns="0" bIns="0" rtlCol="0" anchor="ctr"/>
          <a:lstStyle/>
          <a:p>
            <a:pPr indent="0" marL="0">
              <a:lnSpc>
                <a:spcPts val="1400"/>
              </a:lnSpc>
              <a:buNone/>
            </a:pPr>
            <a:r>
              <a:rPr lang="en-US" sz="1150" dirty="0">
                <a:solidFill>
                  <a:srgbClr val="E8ECF7"/>
                </a:solidFill>
                <a:latin typeface="Calibri" pitchFamily="34" charset="0"/>
                <a:ea typeface="Calibri" pitchFamily="34" charset="-122"/>
                <a:cs typeface="Calibri" pitchFamily="34" charset="-120"/>
              </a:rPr>
              <a:t>Phân tích theo Quận/Huyện, chuyên sâu thị trường Thái Nguyên</a:t>
            </a:r>
            <a:endParaRPr lang="en-US" sz="1150" dirty="0"/>
          </a:p>
        </p:txBody>
      </p:sp>
      <p:sp>
        <p:nvSpPr>
          <p:cNvPr id="8" name="Shape 6"/>
          <p:cNvSpPr/>
          <p:nvPr/>
        </p:nvSpPr>
        <p:spPr>
          <a:xfrm>
            <a:off x="548640" y="2971800"/>
            <a:ext cx="5303520" cy="868680"/>
          </a:xfrm>
          <a:prstGeom prst="roundRect">
            <a:avLst>
              <a:gd name="adj" fmla="val 7368"/>
            </a:avLst>
          </a:prstGeom>
          <a:solidFill>
            <a:srgbClr val="121D33"/>
          </a:solidFill>
          <a:ln/>
        </p:spPr>
      </p:sp>
      <p:sp>
        <p:nvSpPr>
          <p:cNvPr id="9" name="Text 7"/>
          <p:cNvSpPr/>
          <p:nvPr/>
        </p:nvSpPr>
        <p:spPr>
          <a:xfrm>
            <a:off x="777240" y="3063240"/>
            <a:ext cx="4114800" cy="320040"/>
          </a:xfrm>
          <a:prstGeom prst="rect">
            <a:avLst/>
          </a:prstGeom>
          <a:noFill/>
          <a:ln/>
        </p:spPr>
        <p:txBody>
          <a:bodyPr wrap="square" lIns="0" tIns="0" rIns="0" bIns="0" rtlCol="0" anchor="ctr"/>
          <a:lstStyle/>
          <a:p>
            <a:pPr indent="0" marL="0">
              <a:buNone/>
            </a:pPr>
            <a:r>
              <a:rPr lang="en-US" sz="1350" b="1" dirty="0">
                <a:solidFill>
                  <a:srgbClr val="C0654A"/>
                </a:solidFill>
                <a:latin typeface="Cambria" pitchFamily="34" charset="0"/>
                <a:ea typeface="Cambria" pitchFamily="34" charset="-122"/>
                <a:cs typeface="Cambria" pitchFamily="34" charset="-120"/>
              </a:rPr>
              <a:t>Dữ liệu</a:t>
            </a:r>
            <a:endParaRPr lang="en-US" sz="1350" dirty="0"/>
          </a:p>
        </p:txBody>
      </p:sp>
      <p:sp>
        <p:nvSpPr>
          <p:cNvPr id="10" name="Text 8"/>
          <p:cNvSpPr/>
          <p:nvPr/>
        </p:nvSpPr>
        <p:spPr>
          <a:xfrm>
            <a:off x="777240" y="3383280"/>
            <a:ext cx="4846320" cy="411480"/>
          </a:xfrm>
          <a:prstGeom prst="rect">
            <a:avLst/>
          </a:prstGeom>
          <a:noFill/>
          <a:ln/>
        </p:spPr>
        <p:txBody>
          <a:bodyPr wrap="square" lIns="0" tIns="0" rIns="0" bIns="0" rtlCol="0" anchor="ctr"/>
          <a:lstStyle/>
          <a:p>
            <a:pPr indent="0" marL="0">
              <a:lnSpc>
                <a:spcPts val="1400"/>
              </a:lnSpc>
              <a:buNone/>
            </a:pPr>
            <a:r>
              <a:rPr lang="en-US" sz="1150" dirty="0">
                <a:solidFill>
                  <a:srgbClr val="E8ECF7"/>
                </a:solidFill>
                <a:latin typeface="Calibri" pitchFamily="34" charset="0"/>
                <a:ea typeface="Calibri" pitchFamily="34" charset="-122"/>
                <a:cs typeface="Calibri" pitchFamily="34" charset="-120"/>
              </a:rPr>
              <a:t>Vị trí, Diện tích, Phòng ngủ, Vệ sinh, Hướng nhà, Giá bán</a:t>
            </a:r>
            <a:endParaRPr lang="en-US" sz="1150" dirty="0"/>
          </a:p>
        </p:txBody>
      </p:sp>
      <p:sp>
        <p:nvSpPr>
          <p:cNvPr id="11" name="Shape 9"/>
          <p:cNvSpPr/>
          <p:nvPr/>
        </p:nvSpPr>
        <p:spPr>
          <a:xfrm>
            <a:off x="548640" y="3977640"/>
            <a:ext cx="5303520" cy="868680"/>
          </a:xfrm>
          <a:prstGeom prst="roundRect">
            <a:avLst>
              <a:gd name="adj" fmla="val 7368"/>
            </a:avLst>
          </a:prstGeom>
          <a:solidFill>
            <a:srgbClr val="121D33"/>
          </a:solidFill>
          <a:ln/>
        </p:spPr>
      </p:sp>
      <p:sp>
        <p:nvSpPr>
          <p:cNvPr id="12" name="Text 10"/>
          <p:cNvSpPr/>
          <p:nvPr/>
        </p:nvSpPr>
        <p:spPr>
          <a:xfrm>
            <a:off x="777240" y="4069080"/>
            <a:ext cx="4114800" cy="320040"/>
          </a:xfrm>
          <a:prstGeom prst="rect">
            <a:avLst/>
          </a:prstGeom>
          <a:noFill/>
          <a:ln/>
        </p:spPr>
        <p:txBody>
          <a:bodyPr wrap="square" lIns="0" tIns="0" rIns="0" bIns="0" rtlCol="0" anchor="ctr"/>
          <a:lstStyle/>
          <a:p>
            <a:pPr indent="0" marL="0">
              <a:buNone/>
            </a:pPr>
            <a:r>
              <a:rPr lang="en-US" sz="1350" b="1" dirty="0">
                <a:solidFill>
                  <a:srgbClr val="C0654A"/>
                </a:solidFill>
                <a:latin typeface="Cambria" pitchFamily="34" charset="0"/>
                <a:ea typeface="Cambria" pitchFamily="34" charset="-122"/>
                <a:cs typeface="Cambria" pitchFamily="34" charset="-120"/>
              </a:rPr>
              <a:t>Công nghệ</a:t>
            </a:r>
            <a:endParaRPr lang="en-US" sz="1350" dirty="0"/>
          </a:p>
        </p:txBody>
      </p:sp>
      <p:sp>
        <p:nvSpPr>
          <p:cNvPr id="13" name="Text 11"/>
          <p:cNvSpPr/>
          <p:nvPr/>
        </p:nvSpPr>
        <p:spPr>
          <a:xfrm>
            <a:off x="777240" y="4389120"/>
            <a:ext cx="4846320" cy="411480"/>
          </a:xfrm>
          <a:prstGeom prst="rect">
            <a:avLst/>
          </a:prstGeom>
          <a:noFill/>
          <a:ln/>
        </p:spPr>
        <p:txBody>
          <a:bodyPr wrap="square" lIns="0" tIns="0" rIns="0" bIns="0" rtlCol="0" anchor="ctr"/>
          <a:lstStyle/>
          <a:p>
            <a:pPr indent="0" marL="0">
              <a:lnSpc>
                <a:spcPts val="1400"/>
              </a:lnSpc>
              <a:buNone/>
            </a:pPr>
            <a:r>
              <a:rPr lang="en-US" sz="1150" dirty="0">
                <a:solidFill>
                  <a:srgbClr val="E8ECF7"/>
                </a:solidFill>
                <a:latin typeface="Calibri" pitchFamily="34" charset="0"/>
                <a:ea typeface="Calibri" pitchFamily="34" charset="-122"/>
                <a:cs typeface="Calibri" pitchFamily="34" charset="-120"/>
              </a:rPr>
              <a:t>Python, Pandas, Scikit-learn, XGBoost, Streamlit</a:t>
            </a:r>
            <a:endParaRPr lang="en-US" sz="1150" dirty="0"/>
          </a:p>
        </p:txBody>
      </p:sp>
      <p:sp>
        <p:nvSpPr>
          <p:cNvPr id="14" name="Text 12"/>
          <p:cNvSpPr/>
          <p:nvPr/>
        </p:nvSpPr>
        <p:spPr>
          <a:xfrm>
            <a:off x="6355080" y="1508760"/>
            <a:ext cx="5303520" cy="320040"/>
          </a:xfrm>
          <a:prstGeom prst="rect">
            <a:avLst/>
          </a:prstGeom>
          <a:noFill/>
          <a:ln/>
        </p:spPr>
        <p:txBody>
          <a:bodyPr wrap="square" lIns="0" tIns="0" rIns="0" bIns="0" rtlCol="0" anchor="ctr"/>
          <a:lstStyle/>
          <a:p>
            <a:pPr indent="0" marL="0">
              <a:buNone/>
            </a:pPr>
            <a:r>
              <a:rPr lang="en-US" sz="1150" b="1" spc="150" kern="0" dirty="0">
                <a:solidFill>
                  <a:srgbClr val="C0654A"/>
                </a:solidFill>
                <a:latin typeface="Calibri" pitchFamily="34" charset="0"/>
                <a:ea typeface="Calibri" pitchFamily="34" charset="-122"/>
                <a:cs typeface="Calibri" pitchFamily="34" charset="-120"/>
              </a:rPr>
              <a:t>CÂU HỎI NGHIÊN CỨU TRỌNG TÂM</a:t>
            </a:r>
            <a:endParaRPr lang="en-US" sz="1150" dirty="0"/>
          </a:p>
        </p:txBody>
      </p:sp>
      <p:sp>
        <p:nvSpPr>
          <p:cNvPr id="15" name="Shape 13"/>
          <p:cNvSpPr/>
          <p:nvPr/>
        </p:nvSpPr>
        <p:spPr>
          <a:xfrm>
            <a:off x="6355080" y="1965960"/>
            <a:ext cx="384048" cy="384048"/>
          </a:xfrm>
          <a:prstGeom prst="ellipse">
            <a:avLst/>
          </a:prstGeom>
          <a:solidFill>
            <a:srgbClr val="121D33"/>
          </a:solidFill>
          <a:ln/>
        </p:spPr>
      </p:sp>
      <p:pic>
        <p:nvPicPr>
          <p:cNvPr id="16" name="Image 0" descr="preencoded.png">    </p:cNvPr>
          <p:cNvPicPr>
            <a:picLocks noChangeAspect="1"/>
          </p:cNvPicPr>
          <p:nvPr/>
        </p:nvPicPr>
        <p:blipFill>
          <a:blip r:embed="rId1"/>
          <a:stretch>
            <a:fillRect/>
          </a:stretch>
        </p:blipFill>
        <p:spPr>
          <a:xfrm>
            <a:off x="6412687" y="2023567"/>
            <a:ext cx="268834" cy="268834"/>
          </a:xfrm>
          <a:prstGeom prst="rect">
            <a:avLst/>
          </a:prstGeom>
        </p:spPr>
      </p:pic>
      <p:sp>
        <p:nvSpPr>
          <p:cNvPr id="17" name="Text 14"/>
          <p:cNvSpPr/>
          <p:nvPr/>
        </p:nvSpPr>
        <p:spPr>
          <a:xfrm>
            <a:off x="6903720" y="1938528"/>
            <a:ext cx="4754880" cy="685800"/>
          </a:xfrm>
          <a:prstGeom prst="rect">
            <a:avLst/>
          </a:prstGeom>
          <a:noFill/>
          <a:ln/>
        </p:spPr>
        <p:txBody>
          <a:bodyPr wrap="square" lIns="0" tIns="0" rIns="0" bIns="0" rtlCol="0" anchor="ctr"/>
          <a:lstStyle/>
          <a:p>
            <a:pPr indent="0" marL="0">
              <a:lnSpc>
                <a:spcPts val="1600"/>
              </a:lnSpc>
              <a:buNone/>
            </a:pPr>
            <a:r>
              <a:rPr lang="en-US" sz="1250" dirty="0">
                <a:solidFill>
                  <a:srgbClr val="E8ECF7"/>
                </a:solidFill>
                <a:latin typeface="Calibri" pitchFamily="34" charset="0"/>
                <a:ea typeface="Calibri" pitchFamily="34" charset="-122"/>
                <a:cs typeface="Calibri" pitchFamily="34" charset="-120"/>
              </a:rPr>
              <a:t>Giá BĐS phân bố và biến động ra sao theo khu vực, loại hình, hướng nhà?</a:t>
            </a:r>
            <a:endParaRPr lang="en-US" sz="1250" dirty="0"/>
          </a:p>
        </p:txBody>
      </p:sp>
      <p:sp>
        <p:nvSpPr>
          <p:cNvPr id="18" name="Shape 15"/>
          <p:cNvSpPr/>
          <p:nvPr/>
        </p:nvSpPr>
        <p:spPr>
          <a:xfrm>
            <a:off x="6355080" y="2743200"/>
            <a:ext cx="384048" cy="384048"/>
          </a:xfrm>
          <a:prstGeom prst="ellipse">
            <a:avLst/>
          </a:prstGeom>
          <a:solidFill>
            <a:srgbClr val="121D33"/>
          </a:solidFill>
          <a:ln/>
        </p:spPr>
      </p:sp>
      <p:pic>
        <p:nvPicPr>
          <p:cNvPr id="19" name="Image 1" descr="preencoded.png">    </p:cNvPr>
          <p:cNvPicPr>
            <a:picLocks noChangeAspect="1"/>
          </p:cNvPicPr>
          <p:nvPr/>
        </p:nvPicPr>
        <p:blipFill>
          <a:blip r:embed="rId2"/>
          <a:stretch>
            <a:fillRect/>
          </a:stretch>
        </p:blipFill>
        <p:spPr>
          <a:xfrm>
            <a:off x="6412687" y="2800807"/>
            <a:ext cx="268834" cy="268834"/>
          </a:xfrm>
          <a:prstGeom prst="rect">
            <a:avLst/>
          </a:prstGeom>
        </p:spPr>
      </p:pic>
      <p:sp>
        <p:nvSpPr>
          <p:cNvPr id="20" name="Text 16"/>
          <p:cNvSpPr/>
          <p:nvPr/>
        </p:nvSpPr>
        <p:spPr>
          <a:xfrm>
            <a:off x="6903720" y="2715768"/>
            <a:ext cx="4754880" cy="685800"/>
          </a:xfrm>
          <a:prstGeom prst="rect">
            <a:avLst/>
          </a:prstGeom>
          <a:noFill/>
          <a:ln/>
        </p:spPr>
        <p:txBody>
          <a:bodyPr wrap="square" lIns="0" tIns="0" rIns="0" bIns="0" rtlCol="0" anchor="ctr"/>
          <a:lstStyle/>
          <a:p>
            <a:pPr indent="0" marL="0">
              <a:lnSpc>
                <a:spcPts val="1600"/>
              </a:lnSpc>
              <a:buNone/>
            </a:pPr>
            <a:r>
              <a:rPr lang="en-US" sz="1250" dirty="0">
                <a:solidFill>
                  <a:srgbClr val="E8ECF7"/>
                </a:solidFill>
                <a:latin typeface="Calibri" pitchFamily="34" charset="0"/>
                <a:ea typeface="Calibri" pitchFamily="34" charset="-122"/>
                <a:cs typeface="Calibri" pitchFamily="34" charset="-120"/>
              </a:rPr>
              <a:t>Yếu tố nào (diện tích, phòng ngủ...) ảnh hưởng mạnh nhất đến giá?</a:t>
            </a:r>
            <a:endParaRPr lang="en-US" sz="1250" dirty="0"/>
          </a:p>
        </p:txBody>
      </p:sp>
      <p:sp>
        <p:nvSpPr>
          <p:cNvPr id="21" name="Shape 17"/>
          <p:cNvSpPr/>
          <p:nvPr/>
        </p:nvSpPr>
        <p:spPr>
          <a:xfrm>
            <a:off x="6355080" y="3520440"/>
            <a:ext cx="384048" cy="384048"/>
          </a:xfrm>
          <a:prstGeom prst="ellipse">
            <a:avLst/>
          </a:prstGeom>
          <a:solidFill>
            <a:srgbClr val="121D33"/>
          </a:solidFill>
          <a:ln/>
        </p:spPr>
      </p:sp>
      <p:pic>
        <p:nvPicPr>
          <p:cNvPr id="22" name="Image 2" descr="preencoded.png">    </p:cNvPr>
          <p:cNvPicPr>
            <a:picLocks noChangeAspect="1"/>
          </p:cNvPicPr>
          <p:nvPr/>
        </p:nvPicPr>
        <p:blipFill>
          <a:blip r:embed="rId3"/>
          <a:stretch>
            <a:fillRect/>
          </a:stretch>
        </p:blipFill>
        <p:spPr>
          <a:xfrm>
            <a:off x="6412687" y="3578047"/>
            <a:ext cx="268834" cy="268834"/>
          </a:xfrm>
          <a:prstGeom prst="rect">
            <a:avLst/>
          </a:prstGeom>
        </p:spPr>
      </p:pic>
      <p:sp>
        <p:nvSpPr>
          <p:cNvPr id="23" name="Text 18"/>
          <p:cNvSpPr/>
          <p:nvPr/>
        </p:nvSpPr>
        <p:spPr>
          <a:xfrm>
            <a:off x="6903720" y="3493008"/>
            <a:ext cx="4754880" cy="685800"/>
          </a:xfrm>
          <a:prstGeom prst="rect">
            <a:avLst/>
          </a:prstGeom>
          <a:noFill/>
          <a:ln/>
        </p:spPr>
        <p:txBody>
          <a:bodyPr wrap="square" lIns="0" tIns="0" rIns="0" bIns="0" rtlCol="0" anchor="ctr"/>
          <a:lstStyle/>
          <a:p>
            <a:pPr indent="0" marL="0">
              <a:lnSpc>
                <a:spcPts val="1600"/>
              </a:lnSpc>
              <a:buNone/>
            </a:pPr>
            <a:r>
              <a:rPr lang="en-US" sz="1250" dirty="0">
                <a:solidFill>
                  <a:srgbClr val="E8ECF7"/>
                </a:solidFill>
                <a:latin typeface="Calibri" pitchFamily="34" charset="0"/>
                <a:ea typeface="Calibri" pitchFamily="34" charset="-122"/>
                <a:cs typeface="Calibri" pitchFamily="34" charset="-120"/>
              </a:rPr>
              <a:t>Mô hình Machine Learning dự đoán giá với độ chính xác bao nhiêu?</a:t>
            </a:r>
            <a:endParaRPr lang="en-US" sz="1250" dirty="0"/>
          </a:p>
        </p:txBody>
      </p:sp>
      <p:sp>
        <p:nvSpPr>
          <p:cNvPr id="24" name="Shape 19"/>
          <p:cNvSpPr/>
          <p:nvPr/>
        </p:nvSpPr>
        <p:spPr>
          <a:xfrm>
            <a:off x="6355080" y="4297680"/>
            <a:ext cx="384048" cy="384048"/>
          </a:xfrm>
          <a:prstGeom prst="ellipse">
            <a:avLst/>
          </a:prstGeom>
          <a:solidFill>
            <a:srgbClr val="121D33"/>
          </a:solidFill>
          <a:ln/>
        </p:spPr>
      </p:sp>
      <p:pic>
        <p:nvPicPr>
          <p:cNvPr id="25" name="Image 3" descr="preencoded.png">    </p:cNvPr>
          <p:cNvPicPr>
            <a:picLocks noChangeAspect="1"/>
          </p:cNvPicPr>
          <p:nvPr/>
        </p:nvPicPr>
        <p:blipFill>
          <a:blip r:embed="rId4"/>
          <a:stretch>
            <a:fillRect/>
          </a:stretch>
        </p:blipFill>
        <p:spPr>
          <a:xfrm>
            <a:off x="6412687" y="4355287"/>
            <a:ext cx="268834" cy="268834"/>
          </a:xfrm>
          <a:prstGeom prst="rect">
            <a:avLst/>
          </a:prstGeom>
        </p:spPr>
      </p:pic>
      <p:sp>
        <p:nvSpPr>
          <p:cNvPr id="26" name="Text 20"/>
          <p:cNvSpPr/>
          <p:nvPr/>
        </p:nvSpPr>
        <p:spPr>
          <a:xfrm>
            <a:off x="6903720" y="4270248"/>
            <a:ext cx="4754880" cy="685800"/>
          </a:xfrm>
          <a:prstGeom prst="rect">
            <a:avLst/>
          </a:prstGeom>
          <a:noFill/>
          <a:ln/>
        </p:spPr>
        <p:txBody>
          <a:bodyPr wrap="square" lIns="0" tIns="0" rIns="0" bIns="0" rtlCol="0" anchor="ctr"/>
          <a:lstStyle/>
          <a:p>
            <a:pPr indent="0" marL="0">
              <a:lnSpc>
                <a:spcPts val="1600"/>
              </a:lnSpc>
              <a:buNone/>
            </a:pPr>
            <a:r>
              <a:rPr lang="en-US" sz="1250" dirty="0">
                <a:solidFill>
                  <a:srgbClr val="E8ECF7"/>
                </a:solidFill>
                <a:latin typeface="Calibri" pitchFamily="34" charset="0"/>
                <a:ea typeface="Calibri" pitchFamily="34" charset="-122"/>
                <a:cs typeface="Calibri" pitchFamily="34" charset="-120"/>
              </a:rPr>
              <a:t>Thuật toán hồi quy nào tối ưu nhất cho bài toán định giá BĐS?</a:t>
            </a:r>
            <a:endParaRPr lang="en-US" sz="1250" dirty="0"/>
          </a:p>
        </p:txBody>
      </p:sp>
      <p:sp>
        <p:nvSpPr>
          <p:cNvPr id="27" name="Text 21"/>
          <p:cNvSpPr/>
          <p:nvPr/>
        </p:nvSpPr>
        <p:spPr>
          <a:xfrm>
            <a:off x="548640" y="6400800"/>
            <a:ext cx="5486400" cy="274320"/>
          </a:xfrm>
          <a:prstGeom prst="rect">
            <a:avLst/>
          </a:prstGeom>
          <a:noFill/>
          <a:ln/>
        </p:spPr>
        <p:txBody>
          <a:bodyPr wrap="square" lIns="0" tIns="0" rIns="0" bIns="0" rtlCol="0" anchor="ctr"/>
          <a:lstStyle/>
          <a:p>
            <a:pPr indent="0" marL="0">
              <a:buNone/>
            </a:pPr>
            <a:r>
              <a:rPr lang="en-US" sz="900" spc="100" kern="0" dirty="0">
                <a:solidFill>
                  <a:srgbClr val="8A93A8"/>
                </a:solidFill>
                <a:latin typeface="Calibri" pitchFamily="34" charset="0"/>
                <a:ea typeface="Calibri" pitchFamily="34" charset="-122"/>
                <a:cs typeface="Calibri" pitchFamily="34" charset="-120"/>
              </a:rPr>
              <a:t>PHÂN TÍCH &amp; DỰ ĐOÁN BĐS VIỆT NAM</a:t>
            </a:r>
            <a:endParaRPr lang="en-US" sz="900" dirty="0"/>
          </a:p>
        </p:txBody>
      </p:sp>
      <p:sp>
        <p:nvSpPr>
          <p:cNvPr id="28" name="Text 2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C0654A"/>
                </a:solidFill>
                <a:latin typeface="Calibri" pitchFamily="34" charset="0"/>
                <a:ea typeface="Calibri" pitchFamily="34" charset="-122"/>
                <a:cs typeface="Calibri" pitchFamily="34" charset="-120"/>
              </a:rPr>
              <a:t>PHẦN 2 · HỆ THỐNG ĐÃ XÂY DỰNG</a:t>
            </a:r>
            <a:endParaRPr lang="en-US" sz="1200" dirty="0"/>
          </a:p>
        </p:txBody>
      </p:sp>
      <p:sp>
        <p:nvSpPr>
          <p:cNvPr id="3" name="Text 1"/>
          <p:cNvSpPr/>
          <p:nvPr/>
        </p:nvSpPr>
        <p:spPr>
          <a:xfrm>
            <a:off x="548640" y="658368"/>
            <a:ext cx="1078992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Tổng quan hệ thống — Kiến trúc 3 tầng</a:t>
            </a:r>
            <a:endParaRPr lang="en-US" sz="3000" dirty="0"/>
          </a:p>
        </p:txBody>
      </p:sp>
      <p:sp>
        <p:nvSpPr>
          <p:cNvPr id="4" name="Text 2"/>
          <p:cNvSpPr/>
          <p:nvPr/>
        </p:nvSpPr>
        <p:spPr>
          <a:xfrm>
            <a:off x="548640" y="1600200"/>
            <a:ext cx="10607040" cy="365760"/>
          </a:xfrm>
          <a:prstGeom prst="rect">
            <a:avLst/>
          </a:prstGeom>
          <a:noFill/>
          <a:ln/>
        </p:spPr>
        <p:txBody>
          <a:bodyPr wrap="square" lIns="0" tIns="0" rIns="0" bIns="0" rtlCol="0" anchor="ctr"/>
          <a:lstStyle/>
          <a:p>
            <a:pPr indent="0" marL="0">
              <a:buNone/>
            </a:pPr>
            <a:r>
              <a:rPr lang="en-US" sz="1300" dirty="0">
                <a:solidFill>
                  <a:srgbClr val="5B6B85"/>
                </a:solidFill>
                <a:latin typeface="Calibri" pitchFamily="34" charset="0"/>
                <a:ea typeface="Calibri" pitchFamily="34" charset="-122"/>
                <a:cs typeface="Calibri" pitchFamily="34" charset="-120"/>
              </a:rPr>
              <a:t>Hệ thống được xây dựng theo kiến trúc phân tầng, tách biệt rõ luồng dữ liệu, xử lý và hiển thị:</a:t>
            </a:r>
            <a:endParaRPr lang="en-US" sz="1300" dirty="0"/>
          </a:p>
        </p:txBody>
      </p:sp>
      <p:sp>
        <p:nvSpPr>
          <p:cNvPr id="5" name="Shape 3"/>
          <p:cNvSpPr/>
          <p:nvPr/>
        </p:nvSpPr>
        <p:spPr>
          <a:xfrm>
            <a:off x="548640" y="2286000"/>
            <a:ext cx="3520440" cy="3383280"/>
          </a:xfrm>
          <a:prstGeom prst="roundRect">
            <a:avLst>
              <a:gd name="adj" fmla="val 2162"/>
            </a:avLst>
          </a:prstGeom>
          <a:solidFill>
            <a:srgbClr val="FFFFFF"/>
          </a:solidFill>
          <a:ln/>
          <a:effectLst>
            <a:outerShdw sx="100000" sy="100000" kx="0" ky="0" algn="bl" rotWithShape="0" blurRad="101600" dist="25400" dir="5400000">
              <a:srgbClr val="000000">
                <a:alpha val="8000"/>
              </a:srgbClr>
            </a:outerShdw>
          </a:effectLst>
        </p:spPr>
      </p:sp>
      <p:sp>
        <p:nvSpPr>
          <p:cNvPr id="6" name="Shape 4"/>
          <p:cNvSpPr/>
          <p:nvPr/>
        </p:nvSpPr>
        <p:spPr>
          <a:xfrm>
            <a:off x="1943100" y="2606040"/>
            <a:ext cx="731520" cy="731520"/>
          </a:xfrm>
          <a:prstGeom prst="ellipse">
            <a:avLst/>
          </a:prstGeom>
          <a:solidFill>
            <a:srgbClr val="FBEFEA"/>
          </a:solidFill>
          <a:ln/>
        </p:spPr>
      </p:sp>
      <p:pic>
        <p:nvPicPr>
          <p:cNvPr id="7" name="Image 0" descr="preencoded.png">    </p:cNvPr>
          <p:cNvPicPr>
            <a:picLocks noChangeAspect="1"/>
          </p:cNvPicPr>
          <p:nvPr/>
        </p:nvPicPr>
        <p:blipFill>
          <a:blip r:embed="rId1"/>
          <a:stretch>
            <a:fillRect/>
          </a:stretch>
        </p:blipFill>
        <p:spPr>
          <a:xfrm>
            <a:off x="2060143" y="2723083"/>
            <a:ext cx="497434" cy="497434"/>
          </a:xfrm>
          <a:prstGeom prst="rect">
            <a:avLst/>
          </a:prstGeom>
        </p:spPr>
      </p:pic>
      <p:sp>
        <p:nvSpPr>
          <p:cNvPr id="8" name="Text 5"/>
          <p:cNvSpPr/>
          <p:nvPr/>
        </p:nvSpPr>
        <p:spPr>
          <a:xfrm>
            <a:off x="777240" y="3566160"/>
            <a:ext cx="3063240" cy="411480"/>
          </a:xfrm>
          <a:prstGeom prst="rect">
            <a:avLst/>
          </a:prstGeom>
          <a:noFill/>
          <a:ln/>
        </p:spPr>
        <p:txBody>
          <a:bodyPr wrap="square" lIns="0" tIns="0" rIns="0" bIns="0" rtlCol="0" anchor="ctr"/>
          <a:lstStyle/>
          <a:p>
            <a:pPr algn="ctr" indent="0" marL="0">
              <a:buNone/>
            </a:pPr>
            <a:r>
              <a:rPr lang="en-US" sz="1500" b="1" dirty="0">
                <a:solidFill>
                  <a:srgbClr val="1B2A4A"/>
                </a:solidFill>
                <a:latin typeface="Cambria" pitchFamily="34" charset="0"/>
                <a:ea typeface="Cambria" pitchFamily="34" charset="-122"/>
                <a:cs typeface="Cambria" pitchFamily="34" charset="-120"/>
              </a:rPr>
              <a:t>Tầng Dữ liệu</a:t>
            </a:r>
            <a:endParaRPr lang="en-US" sz="1500" dirty="0"/>
          </a:p>
        </p:txBody>
      </p:sp>
      <p:sp>
        <p:nvSpPr>
          <p:cNvPr id="9" name="Text 6"/>
          <p:cNvSpPr/>
          <p:nvPr/>
        </p:nvSpPr>
        <p:spPr>
          <a:xfrm>
            <a:off x="822960" y="4069080"/>
            <a:ext cx="2971800" cy="1463040"/>
          </a:xfrm>
          <a:prstGeom prst="rect">
            <a:avLst/>
          </a:prstGeom>
          <a:noFill/>
          <a:ln/>
        </p:spPr>
        <p:txBody>
          <a:bodyPr wrap="square" lIns="0" tIns="0" rIns="0" bIns="0" rtlCol="0" anchor="ctr"/>
          <a:lstStyle/>
          <a:p>
            <a:pPr algn="ctr" indent="0" marL="0">
              <a:lnSpc>
                <a:spcPts val="1600"/>
              </a:lnSpc>
              <a:buNone/>
            </a:pPr>
            <a:r>
              <a:rPr lang="en-US" sz="1200" dirty="0">
                <a:solidFill>
                  <a:srgbClr val="5B6B85"/>
                </a:solidFill>
                <a:latin typeface="Calibri" pitchFamily="34" charset="0"/>
                <a:ea typeface="Calibri" pitchFamily="34" charset="-122"/>
                <a:cs typeface="Calibri" pitchFamily="34" charset="-120"/>
              </a:rPr>
              <a:t>Đọc và quản lý tệp sale_real_estate.csv ổn định qua thư viện Pandas.</a:t>
            </a:r>
            <a:endParaRPr lang="en-US" sz="1200" dirty="0"/>
          </a:p>
        </p:txBody>
      </p:sp>
      <p:sp>
        <p:nvSpPr>
          <p:cNvPr id="10" name="Text 7"/>
          <p:cNvSpPr/>
          <p:nvPr/>
        </p:nvSpPr>
        <p:spPr>
          <a:xfrm>
            <a:off x="4069080" y="3794760"/>
            <a:ext cx="274320" cy="548640"/>
          </a:xfrm>
          <a:prstGeom prst="rect">
            <a:avLst/>
          </a:prstGeom>
          <a:noFill/>
          <a:ln/>
        </p:spPr>
        <p:txBody>
          <a:bodyPr wrap="square" lIns="0" tIns="0" rIns="0" bIns="0" rtlCol="0" anchor="ctr"/>
          <a:lstStyle/>
          <a:p>
            <a:pPr algn="ctr" indent="0" marL="0">
              <a:buNone/>
            </a:pPr>
            <a:r>
              <a:rPr lang="en-US" sz="2200" dirty="0">
                <a:solidFill>
                  <a:srgbClr val="C0654A"/>
                </a:solidFill>
                <a:latin typeface="Calibri" pitchFamily="34" charset="0"/>
                <a:ea typeface="Calibri" pitchFamily="34" charset="-122"/>
                <a:cs typeface="Calibri" pitchFamily="34" charset="-120"/>
              </a:rPr>
              <a:t>→</a:t>
            </a:r>
            <a:endParaRPr lang="en-US" sz="2200" dirty="0"/>
          </a:p>
        </p:txBody>
      </p:sp>
      <p:sp>
        <p:nvSpPr>
          <p:cNvPr id="11" name="Shape 8"/>
          <p:cNvSpPr/>
          <p:nvPr/>
        </p:nvSpPr>
        <p:spPr>
          <a:xfrm>
            <a:off x="4343400" y="2286000"/>
            <a:ext cx="3520440" cy="3383280"/>
          </a:xfrm>
          <a:prstGeom prst="roundRect">
            <a:avLst>
              <a:gd name="adj" fmla="val 2162"/>
            </a:avLst>
          </a:prstGeom>
          <a:solidFill>
            <a:srgbClr val="FFFFFF"/>
          </a:solidFill>
          <a:ln/>
          <a:effectLst>
            <a:outerShdw sx="100000" sy="100000" kx="0" ky="0" algn="bl" rotWithShape="0" blurRad="101600" dist="25400" dir="5400000">
              <a:srgbClr val="000000">
                <a:alpha val="8000"/>
              </a:srgbClr>
            </a:outerShdw>
          </a:effectLst>
        </p:spPr>
      </p:sp>
      <p:sp>
        <p:nvSpPr>
          <p:cNvPr id="12" name="Shape 9"/>
          <p:cNvSpPr/>
          <p:nvPr/>
        </p:nvSpPr>
        <p:spPr>
          <a:xfrm>
            <a:off x="5737860" y="2606040"/>
            <a:ext cx="731520" cy="731520"/>
          </a:xfrm>
          <a:prstGeom prst="ellipse">
            <a:avLst/>
          </a:prstGeom>
          <a:solidFill>
            <a:srgbClr val="FBEFEA"/>
          </a:solidFill>
          <a:ln/>
        </p:spPr>
      </p:sp>
      <p:pic>
        <p:nvPicPr>
          <p:cNvPr id="13" name="Image 1" descr="preencoded.png">    </p:cNvPr>
          <p:cNvPicPr>
            <a:picLocks noChangeAspect="1"/>
          </p:cNvPicPr>
          <p:nvPr/>
        </p:nvPicPr>
        <p:blipFill>
          <a:blip r:embed="rId2"/>
          <a:stretch>
            <a:fillRect/>
          </a:stretch>
        </p:blipFill>
        <p:spPr>
          <a:xfrm>
            <a:off x="5854903" y="2723083"/>
            <a:ext cx="497434" cy="497434"/>
          </a:xfrm>
          <a:prstGeom prst="rect">
            <a:avLst/>
          </a:prstGeom>
        </p:spPr>
      </p:pic>
      <p:sp>
        <p:nvSpPr>
          <p:cNvPr id="14" name="Text 10"/>
          <p:cNvSpPr/>
          <p:nvPr/>
        </p:nvSpPr>
        <p:spPr>
          <a:xfrm>
            <a:off x="4572000" y="3566160"/>
            <a:ext cx="3063240" cy="411480"/>
          </a:xfrm>
          <a:prstGeom prst="rect">
            <a:avLst/>
          </a:prstGeom>
          <a:noFill/>
          <a:ln/>
        </p:spPr>
        <p:txBody>
          <a:bodyPr wrap="square" lIns="0" tIns="0" rIns="0" bIns="0" rtlCol="0" anchor="ctr"/>
          <a:lstStyle/>
          <a:p>
            <a:pPr algn="ctr" indent="0" marL="0">
              <a:buNone/>
            </a:pPr>
            <a:r>
              <a:rPr lang="en-US" sz="1500" b="1" dirty="0">
                <a:solidFill>
                  <a:srgbClr val="1B2A4A"/>
                </a:solidFill>
                <a:latin typeface="Cambria" pitchFamily="34" charset="0"/>
                <a:ea typeface="Cambria" pitchFamily="34" charset="-122"/>
                <a:cs typeface="Cambria" pitchFamily="34" charset="-120"/>
              </a:rPr>
              <a:t>Tầng Xử lý trung tâm</a:t>
            </a:r>
            <a:endParaRPr lang="en-US" sz="1500" dirty="0"/>
          </a:p>
        </p:txBody>
      </p:sp>
      <p:sp>
        <p:nvSpPr>
          <p:cNvPr id="15" name="Text 11"/>
          <p:cNvSpPr/>
          <p:nvPr/>
        </p:nvSpPr>
        <p:spPr>
          <a:xfrm>
            <a:off x="4617720" y="4069080"/>
            <a:ext cx="2971800" cy="1463040"/>
          </a:xfrm>
          <a:prstGeom prst="rect">
            <a:avLst/>
          </a:prstGeom>
          <a:noFill/>
          <a:ln/>
        </p:spPr>
        <p:txBody>
          <a:bodyPr wrap="square" lIns="0" tIns="0" rIns="0" bIns="0" rtlCol="0" anchor="ctr"/>
          <a:lstStyle/>
          <a:p>
            <a:pPr algn="ctr" indent="0" marL="0">
              <a:lnSpc>
                <a:spcPts val="1600"/>
              </a:lnSpc>
              <a:buNone/>
            </a:pPr>
            <a:r>
              <a:rPr lang="en-US" sz="1200" dirty="0">
                <a:solidFill>
                  <a:srgbClr val="5B6B85"/>
                </a:solidFill>
                <a:latin typeface="Calibri" pitchFamily="34" charset="0"/>
                <a:ea typeface="Calibri" pitchFamily="34" charset="-122"/>
                <a:cs typeface="Calibri" pitchFamily="34" charset="-120"/>
              </a:rPr>
              <a:t>Tiền xử lý (Regex) · Thống kê &amp; tương quan · Huấn luyện mô hình học máy.</a:t>
            </a:r>
            <a:endParaRPr lang="en-US" sz="1200" dirty="0"/>
          </a:p>
        </p:txBody>
      </p:sp>
      <p:sp>
        <p:nvSpPr>
          <p:cNvPr id="16" name="Text 12"/>
          <p:cNvSpPr/>
          <p:nvPr/>
        </p:nvSpPr>
        <p:spPr>
          <a:xfrm>
            <a:off x="7863840" y="3794760"/>
            <a:ext cx="274320" cy="548640"/>
          </a:xfrm>
          <a:prstGeom prst="rect">
            <a:avLst/>
          </a:prstGeom>
          <a:noFill/>
          <a:ln/>
        </p:spPr>
        <p:txBody>
          <a:bodyPr wrap="square" lIns="0" tIns="0" rIns="0" bIns="0" rtlCol="0" anchor="ctr"/>
          <a:lstStyle/>
          <a:p>
            <a:pPr algn="ctr" indent="0" marL="0">
              <a:buNone/>
            </a:pPr>
            <a:r>
              <a:rPr lang="en-US" sz="2200" dirty="0">
                <a:solidFill>
                  <a:srgbClr val="C0654A"/>
                </a:solidFill>
                <a:latin typeface="Calibri" pitchFamily="34" charset="0"/>
                <a:ea typeface="Calibri" pitchFamily="34" charset="-122"/>
                <a:cs typeface="Calibri" pitchFamily="34" charset="-120"/>
              </a:rPr>
              <a:t>→</a:t>
            </a:r>
            <a:endParaRPr lang="en-US" sz="2200" dirty="0"/>
          </a:p>
        </p:txBody>
      </p:sp>
      <p:sp>
        <p:nvSpPr>
          <p:cNvPr id="17" name="Shape 13"/>
          <p:cNvSpPr/>
          <p:nvPr/>
        </p:nvSpPr>
        <p:spPr>
          <a:xfrm>
            <a:off x="8138160" y="2286000"/>
            <a:ext cx="3520440" cy="3383280"/>
          </a:xfrm>
          <a:prstGeom prst="roundRect">
            <a:avLst>
              <a:gd name="adj" fmla="val 2162"/>
            </a:avLst>
          </a:prstGeom>
          <a:solidFill>
            <a:srgbClr val="FFFFFF"/>
          </a:solidFill>
          <a:ln/>
          <a:effectLst>
            <a:outerShdw sx="100000" sy="100000" kx="0" ky="0" algn="bl" rotWithShape="0" blurRad="101600" dist="25400" dir="5400000">
              <a:srgbClr val="000000">
                <a:alpha val="8000"/>
              </a:srgbClr>
            </a:outerShdw>
          </a:effectLst>
        </p:spPr>
      </p:sp>
      <p:sp>
        <p:nvSpPr>
          <p:cNvPr id="18" name="Shape 14"/>
          <p:cNvSpPr/>
          <p:nvPr/>
        </p:nvSpPr>
        <p:spPr>
          <a:xfrm>
            <a:off x="9532620" y="2606040"/>
            <a:ext cx="731520" cy="731520"/>
          </a:xfrm>
          <a:prstGeom prst="ellipse">
            <a:avLst/>
          </a:prstGeom>
          <a:solidFill>
            <a:srgbClr val="FBEFEA"/>
          </a:solidFill>
          <a:ln/>
        </p:spPr>
      </p:sp>
      <p:pic>
        <p:nvPicPr>
          <p:cNvPr id="19" name="Image 2" descr="preencoded.png">    </p:cNvPr>
          <p:cNvPicPr>
            <a:picLocks noChangeAspect="1"/>
          </p:cNvPicPr>
          <p:nvPr/>
        </p:nvPicPr>
        <p:blipFill>
          <a:blip r:embed="rId3"/>
          <a:stretch>
            <a:fillRect/>
          </a:stretch>
        </p:blipFill>
        <p:spPr>
          <a:xfrm>
            <a:off x="9649663" y="2723083"/>
            <a:ext cx="497434" cy="497434"/>
          </a:xfrm>
          <a:prstGeom prst="rect">
            <a:avLst/>
          </a:prstGeom>
        </p:spPr>
      </p:pic>
      <p:sp>
        <p:nvSpPr>
          <p:cNvPr id="20" name="Text 15"/>
          <p:cNvSpPr/>
          <p:nvPr/>
        </p:nvSpPr>
        <p:spPr>
          <a:xfrm>
            <a:off x="8366760" y="3566160"/>
            <a:ext cx="3063240" cy="411480"/>
          </a:xfrm>
          <a:prstGeom prst="rect">
            <a:avLst/>
          </a:prstGeom>
          <a:noFill/>
          <a:ln/>
        </p:spPr>
        <p:txBody>
          <a:bodyPr wrap="square" lIns="0" tIns="0" rIns="0" bIns="0" rtlCol="0" anchor="ctr"/>
          <a:lstStyle/>
          <a:p>
            <a:pPr algn="ctr" indent="0" marL="0">
              <a:buNone/>
            </a:pPr>
            <a:r>
              <a:rPr lang="en-US" sz="1500" b="1" dirty="0">
                <a:solidFill>
                  <a:srgbClr val="1B2A4A"/>
                </a:solidFill>
                <a:latin typeface="Cambria" pitchFamily="34" charset="0"/>
                <a:ea typeface="Cambria" pitchFamily="34" charset="-122"/>
                <a:cs typeface="Cambria" pitchFamily="34" charset="-120"/>
              </a:rPr>
              <a:t>Tầng Hiển thị</a:t>
            </a:r>
            <a:endParaRPr lang="en-US" sz="1500" dirty="0"/>
          </a:p>
        </p:txBody>
      </p:sp>
      <p:sp>
        <p:nvSpPr>
          <p:cNvPr id="21" name="Text 16"/>
          <p:cNvSpPr/>
          <p:nvPr/>
        </p:nvSpPr>
        <p:spPr>
          <a:xfrm>
            <a:off x="8412480" y="4069080"/>
            <a:ext cx="2971800" cy="1463040"/>
          </a:xfrm>
          <a:prstGeom prst="rect">
            <a:avLst/>
          </a:prstGeom>
          <a:noFill/>
          <a:ln/>
        </p:spPr>
        <p:txBody>
          <a:bodyPr wrap="square" lIns="0" tIns="0" rIns="0" bIns="0" rtlCol="0" anchor="ctr"/>
          <a:lstStyle/>
          <a:p>
            <a:pPr algn="ctr" indent="0" marL="0">
              <a:lnSpc>
                <a:spcPts val="1600"/>
              </a:lnSpc>
              <a:buNone/>
            </a:pPr>
            <a:r>
              <a:rPr lang="en-US" sz="1200" dirty="0">
                <a:solidFill>
                  <a:srgbClr val="5B6B85"/>
                </a:solidFill>
                <a:latin typeface="Calibri" pitchFamily="34" charset="0"/>
                <a:ea typeface="Calibri" pitchFamily="34" charset="-122"/>
                <a:cs typeface="Calibri" pitchFamily="34" charset="-120"/>
              </a:rPr>
              <a:t>Giao diện web Streamlit: bộ lọc động, slider thông số, kết quả dự báo.</a:t>
            </a:r>
            <a:endParaRPr lang="en-US" sz="1200" dirty="0"/>
          </a:p>
        </p:txBody>
      </p:sp>
      <p:sp>
        <p:nvSpPr>
          <p:cNvPr id="22" name="Text 1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C0654A"/>
                </a:solidFill>
                <a:latin typeface="Calibri" pitchFamily="34" charset="0"/>
                <a:ea typeface="Calibri" pitchFamily="34" charset="-122"/>
                <a:cs typeface="Calibri" pitchFamily="34" charset="-120"/>
              </a:rPr>
              <a:t>PHẦN 2 · HỆ THỐNG ĐÃ XÂY DỰNG</a:t>
            </a:r>
            <a:endParaRPr lang="en-US" sz="1200" dirty="0"/>
          </a:p>
        </p:txBody>
      </p:sp>
      <p:sp>
        <p:nvSpPr>
          <p:cNvPr id="3" name="Text 1"/>
          <p:cNvSpPr/>
          <p:nvPr/>
        </p:nvSpPr>
        <p:spPr>
          <a:xfrm>
            <a:off x="548640" y="658368"/>
            <a:ext cx="1078992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Dữ liệu đầu vào đã sử dụng</a:t>
            </a:r>
            <a:endParaRPr lang="en-US" sz="3000" dirty="0"/>
          </a:p>
        </p:txBody>
      </p:sp>
      <p:sp>
        <p:nvSpPr>
          <p:cNvPr id="4" name="Shape 2"/>
          <p:cNvSpPr/>
          <p:nvPr/>
        </p:nvSpPr>
        <p:spPr>
          <a:xfrm>
            <a:off x="548640" y="1645920"/>
            <a:ext cx="5440680" cy="4526280"/>
          </a:xfrm>
          <a:prstGeom prst="roundRect">
            <a:avLst>
              <a:gd name="adj" fmla="val 1616"/>
            </a:avLst>
          </a:prstGeom>
          <a:solidFill>
            <a:srgbClr val="1B2A4A"/>
          </a:solidFill>
          <a:ln/>
          <a:effectLst>
            <a:outerShdw sx="100000" sy="100000" kx="0" ky="0" algn="bl" rotWithShape="0" blurRad="127000" dist="38100" dir="5400000">
              <a:srgbClr val="000000">
                <a:alpha val="18000"/>
              </a:srgbClr>
            </a:outerShdw>
          </a:effectLst>
        </p:spPr>
      </p:sp>
      <p:sp>
        <p:nvSpPr>
          <p:cNvPr id="5" name="Shape 3"/>
          <p:cNvSpPr/>
          <p:nvPr/>
        </p:nvSpPr>
        <p:spPr>
          <a:xfrm>
            <a:off x="868680" y="1874520"/>
            <a:ext cx="502920" cy="502920"/>
          </a:xfrm>
          <a:prstGeom prst="ellipse">
            <a:avLst/>
          </a:prstGeom>
          <a:solidFill>
            <a:srgbClr val="C0654A"/>
          </a:solidFill>
          <a:ln/>
        </p:spPr>
      </p:sp>
      <p:pic>
        <p:nvPicPr>
          <p:cNvPr id="6" name="Image 0" descr="preencoded.png">    </p:cNvPr>
          <p:cNvPicPr>
            <a:picLocks noChangeAspect="1"/>
          </p:cNvPicPr>
          <p:nvPr/>
        </p:nvPicPr>
        <p:blipFill>
          <a:blip r:embed="rId1"/>
          <a:stretch>
            <a:fillRect/>
          </a:stretch>
        </p:blipFill>
        <p:spPr>
          <a:xfrm>
            <a:off x="944118" y="1949958"/>
            <a:ext cx="352044" cy="352044"/>
          </a:xfrm>
          <a:prstGeom prst="rect">
            <a:avLst/>
          </a:prstGeom>
        </p:spPr>
      </p:pic>
      <p:sp>
        <p:nvSpPr>
          <p:cNvPr id="7" name="Text 4"/>
          <p:cNvSpPr/>
          <p:nvPr/>
        </p:nvSpPr>
        <p:spPr>
          <a:xfrm>
            <a:off x="1508760" y="1920240"/>
            <a:ext cx="4297680" cy="45720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Nguồn dữ liệu</a:t>
            </a:r>
            <a:endParaRPr lang="en-US" sz="1650" dirty="0"/>
          </a:p>
        </p:txBody>
      </p:sp>
      <p:sp>
        <p:nvSpPr>
          <p:cNvPr id="8" name="Text 5"/>
          <p:cNvSpPr/>
          <p:nvPr/>
        </p:nvSpPr>
        <p:spPr>
          <a:xfrm>
            <a:off x="868680" y="2560320"/>
            <a:ext cx="4846320" cy="365760"/>
          </a:xfrm>
          <a:prstGeom prst="rect">
            <a:avLst/>
          </a:prstGeom>
          <a:noFill/>
          <a:ln/>
        </p:spPr>
        <p:txBody>
          <a:bodyPr wrap="square" lIns="0" tIns="0" rIns="0" bIns="0" rtlCol="0" anchor="ctr"/>
          <a:lstStyle/>
          <a:p>
            <a:pPr indent="0" marL="0">
              <a:buNone/>
            </a:pPr>
            <a:r>
              <a:rPr lang="en-US" sz="1300" b="1" dirty="0">
                <a:solidFill>
                  <a:srgbClr val="E8A084"/>
                </a:solidFill>
                <a:latin typeface="Courier New" pitchFamily="34" charset="0"/>
                <a:ea typeface="Courier New" pitchFamily="34" charset="-122"/>
                <a:cs typeface="Courier New" pitchFamily="34" charset="-120"/>
              </a:rPr>
              <a:t>sale_real_estate.csv</a:t>
            </a:r>
            <a:endParaRPr lang="en-US" sz="1300" dirty="0"/>
          </a:p>
        </p:txBody>
      </p:sp>
      <p:sp>
        <p:nvSpPr>
          <p:cNvPr id="9" name="Text 6"/>
          <p:cNvSpPr/>
          <p:nvPr/>
        </p:nvSpPr>
        <p:spPr>
          <a:xfrm>
            <a:off x="868680" y="2971800"/>
            <a:ext cx="4846320" cy="548640"/>
          </a:xfrm>
          <a:prstGeom prst="rect">
            <a:avLst/>
          </a:prstGeom>
          <a:noFill/>
          <a:ln/>
        </p:spPr>
        <p:txBody>
          <a:bodyPr wrap="square" lIns="0" tIns="0" rIns="0" bIns="0" rtlCol="0" anchor="ctr"/>
          <a:lstStyle/>
          <a:p>
            <a:pPr indent="0" marL="0">
              <a:lnSpc>
                <a:spcPts val="1600"/>
              </a:lnSpc>
              <a:buNone/>
            </a:pPr>
            <a:r>
              <a:rPr lang="en-US" sz="1200" i="1" dirty="0">
                <a:solidFill>
                  <a:srgbClr val="CADCFC"/>
                </a:solidFill>
                <a:latin typeface="Calibri" pitchFamily="34" charset="0"/>
                <a:ea typeface="Calibri" pitchFamily="34" charset="-122"/>
                <a:cs typeface="Calibri" pitchFamily="34" charset="-120"/>
              </a:rPr>
              <a:t>Bộ dữ liệu rao bán bất động sản thực tế tại Việt Nam, thu thập từ các nền tảng trực tuyến.</a:t>
            </a:r>
            <a:endParaRPr lang="en-US" sz="1200" dirty="0"/>
          </a:p>
        </p:txBody>
      </p:sp>
      <p:sp>
        <p:nvSpPr>
          <p:cNvPr id="10" name="Text 7"/>
          <p:cNvSpPr/>
          <p:nvPr/>
        </p:nvSpPr>
        <p:spPr>
          <a:xfrm>
            <a:off x="868680" y="3611880"/>
            <a:ext cx="4846320" cy="365760"/>
          </a:xfrm>
          <a:prstGeom prst="rect">
            <a:avLst/>
          </a:prstGeom>
          <a:noFill/>
          <a:ln/>
        </p:spPr>
        <p:txBody>
          <a:bodyPr wrap="square" lIns="0" tIns="0" rIns="0" bIns="0" rtlCol="0" anchor="ctr"/>
          <a:lstStyle/>
          <a:p>
            <a:pPr indent="0" marL="0">
              <a:buNone/>
            </a:pPr>
            <a:r>
              <a:rPr lang="en-US" sz="1200" dirty="0">
                <a:solidFill>
                  <a:srgbClr val="E8ECF7"/>
                </a:solidFill>
                <a:latin typeface="Calibri" pitchFamily="34" charset="0"/>
                <a:ea typeface="Calibri" pitchFamily="34" charset="-122"/>
                <a:cs typeface="Calibri" pitchFamily="34" charset="-120"/>
              </a:rPr>
              <a:t>Quy mô đã sử dụng để phân tích và huấn luyện mô hình bao gồm các thuộc tính:</a:t>
            </a:r>
            <a:endParaRPr lang="en-US" sz="1200" dirty="0"/>
          </a:p>
        </p:txBody>
      </p:sp>
      <p:sp>
        <p:nvSpPr>
          <p:cNvPr id="11" name="Shape 8"/>
          <p:cNvSpPr/>
          <p:nvPr/>
        </p:nvSpPr>
        <p:spPr>
          <a:xfrm>
            <a:off x="868680" y="4114800"/>
            <a:ext cx="2286000" cy="438912"/>
          </a:xfrm>
          <a:prstGeom prst="roundRect">
            <a:avLst>
              <a:gd name="adj" fmla="val 50000"/>
            </a:avLst>
          </a:prstGeom>
          <a:solidFill>
            <a:srgbClr val="121D33"/>
          </a:solidFill>
          <a:ln/>
        </p:spPr>
      </p:sp>
      <p:sp>
        <p:nvSpPr>
          <p:cNvPr id="12" name="Text 9"/>
          <p:cNvSpPr/>
          <p:nvPr/>
        </p:nvSpPr>
        <p:spPr>
          <a:xfrm>
            <a:off x="868680" y="4114800"/>
            <a:ext cx="2286000" cy="4389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Tỉnh/Quận/Phường</a:t>
            </a:r>
            <a:endParaRPr lang="en-US" sz="1050" dirty="0"/>
          </a:p>
        </p:txBody>
      </p:sp>
      <p:sp>
        <p:nvSpPr>
          <p:cNvPr id="13" name="Shape 10"/>
          <p:cNvSpPr/>
          <p:nvPr/>
        </p:nvSpPr>
        <p:spPr>
          <a:xfrm>
            <a:off x="3337560" y="4114800"/>
            <a:ext cx="2286000" cy="438912"/>
          </a:xfrm>
          <a:prstGeom prst="roundRect">
            <a:avLst>
              <a:gd name="adj" fmla="val 50000"/>
            </a:avLst>
          </a:prstGeom>
          <a:solidFill>
            <a:srgbClr val="121D33"/>
          </a:solidFill>
          <a:ln/>
        </p:spPr>
      </p:sp>
      <p:sp>
        <p:nvSpPr>
          <p:cNvPr id="14" name="Text 11"/>
          <p:cNvSpPr/>
          <p:nvPr/>
        </p:nvSpPr>
        <p:spPr>
          <a:xfrm>
            <a:off x="3337560" y="4114800"/>
            <a:ext cx="2286000" cy="4389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Diện tích (m²)</a:t>
            </a:r>
            <a:endParaRPr lang="en-US" sz="1050" dirty="0"/>
          </a:p>
        </p:txBody>
      </p:sp>
      <p:sp>
        <p:nvSpPr>
          <p:cNvPr id="15" name="Shape 12"/>
          <p:cNvSpPr/>
          <p:nvPr/>
        </p:nvSpPr>
        <p:spPr>
          <a:xfrm>
            <a:off x="868680" y="4663440"/>
            <a:ext cx="2286000" cy="438912"/>
          </a:xfrm>
          <a:prstGeom prst="roundRect">
            <a:avLst>
              <a:gd name="adj" fmla="val 50000"/>
            </a:avLst>
          </a:prstGeom>
          <a:solidFill>
            <a:srgbClr val="121D33"/>
          </a:solidFill>
          <a:ln/>
        </p:spPr>
      </p:sp>
      <p:sp>
        <p:nvSpPr>
          <p:cNvPr id="16" name="Text 13"/>
          <p:cNvSpPr/>
          <p:nvPr/>
        </p:nvSpPr>
        <p:spPr>
          <a:xfrm>
            <a:off x="868680" y="4663440"/>
            <a:ext cx="2286000" cy="4389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Số phòng ngủ</a:t>
            </a:r>
            <a:endParaRPr lang="en-US" sz="1050" dirty="0"/>
          </a:p>
        </p:txBody>
      </p:sp>
      <p:sp>
        <p:nvSpPr>
          <p:cNvPr id="17" name="Shape 14"/>
          <p:cNvSpPr/>
          <p:nvPr/>
        </p:nvSpPr>
        <p:spPr>
          <a:xfrm>
            <a:off x="3337560" y="4663440"/>
            <a:ext cx="2286000" cy="438912"/>
          </a:xfrm>
          <a:prstGeom prst="roundRect">
            <a:avLst>
              <a:gd name="adj" fmla="val 50000"/>
            </a:avLst>
          </a:prstGeom>
          <a:solidFill>
            <a:srgbClr val="121D33"/>
          </a:solidFill>
          <a:ln/>
        </p:spPr>
      </p:sp>
      <p:sp>
        <p:nvSpPr>
          <p:cNvPr id="18" name="Text 15"/>
          <p:cNvSpPr/>
          <p:nvPr/>
        </p:nvSpPr>
        <p:spPr>
          <a:xfrm>
            <a:off x="3337560" y="4663440"/>
            <a:ext cx="2286000" cy="4389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Số nhà vệ sinh</a:t>
            </a:r>
            <a:endParaRPr lang="en-US" sz="1050" dirty="0"/>
          </a:p>
        </p:txBody>
      </p:sp>
      <p:sp>
        <p:nvSpPr>
          <p:cNvPr id="19" name="Shape 16"/>
          <p:cNvSpPr/>
          <p:nvPr/>
        </p:nvSpPr>
        <p:spPr>
          <a:xfrm>
            <a:off x="868680" y="5212080"/>
            <a:ext cx="2286000" cy="438912"/>
          </a:xfrm>
          <a:prstGeom prst="roundRect">
            <a:avLst>
              <a:gd name="adj" fmla="val 50000"/>
            </a:avLst>
          </a:prstGeom>
          <a:solidFill>
            <a:srgbClr val="121D33"/>
          </a:solidFill>
          <a:ln/>
        </p:spPr>
      </p:sp>
      <p:sp>
        <p:nvSpPr>
          <p:cNvPr id="20" name="Text 17"/>
          <p:cNvSpPr/>
          <p:nvPr/>
        </p:nvSpPr>
        <p:spPr>
          <a:xfrm>
            <a:off x="868680" y="5212080"/>
            <a:ext cx="2286000" cy="4389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Hướng nhà</a:t>
            </a:r>
            <a:endParaRPr lang="en-US" sz="1050" dirty="0"/>
          </a:p>
        </p:txBody>
      </p:sp>
      <p:sp>
        <p:nvSpPr>
          <p:cNvPr id="21" name="Shape 18"/>
          <p:cNvSpPr/>
          <p:nvPr/>
        </p:nvSpPr>
        <p:spPr>
          <a:xfrm>
            <a:off x="3337560" y="5212080"/>
            <a:ext cx="2286000" cy="438912"/>
          </a:xfrm>
          <a:prstGeom prst="roundRect">
            <a:avLst>
              <a:gd name="adj" fmla="val 50000"/>
            </a:avLst>
          </a:prstGeom>
          <a:solidFill>
            <a:srgbClr val="121D33"/>
          </a:solidFill>
          <a:ln/>
        </p:spPr>
      </p:sp>
      <p:sp>
        <p:nvSpPr>
          <p:cNvPr id="22" name="Text 19"/>
          <p:cNvSpPr/>
          <p:nvPr/>
        </p:nvSpPr>
        <p:spPr>
          <a:xfrm>
            <a:off x="3337560" y="5212080"/>
            <a:ext cx="2286000" cy="4389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Giá bán</a:t>
            </a:r>
            <a:endParaRPr lang="en-US" sz="1050" dirty="0"/>
          </a:p>
        </p:txBody>
      </p:sp>
      <p:sp>
        <p:nvSpPr>
          <p:cNvPr id="23" name="Shape 20"/>
          <p:cNvSpPr/>
          <p:nvPr/>
        </p:nvSpPr>
        <p:spPr>
          <a:xfrm>
            <a:off x="6199632" y="1645920"/>
            <a:ext cx="5440680" cy="4526280"/>
          </a:xfrm>
          <a:prstGeom prst="roundRect">
            <a:avLst>
              <a:gd name="adj" fmla="val 1616"/>
            </a:avLst>
          </a:prstGeom>
          <a:solidFill>
            <a:srgbClr val="FFFFFF"/>
          </a:solidFill>
          <a:ln/>
          <a:effectLst>
            <a:outerShdw sx="100000" sy="100000" kx="0" ky="0" algn="bl" rotWithShape="0" blurRad="101600" dist="25400" dir="5400000">
              <a:srgbClr val="000000">
                <a:alpha val="8000"/>
              </a:srgbClr>
            </a:outerShdw>
          </a:effectLst>
        </p:spPr>
      </p:sp>
      <p:sp>
        <p:nvSpPr>
          <p:cNvPr id="24" name="Shape 21"/>
          <p:cNvSpPr/>
          <p:nvPr/>
        </p:nvSpPr>
        <p:spPr>
          <a:xfrm>
            <a:off x="6519672" y="1874520"/>
            <a:ext cx="502920" cy="502920"/>
          </a:xfrm>
          <a:prstGeom prst="ellipse">
            <a:avLst/>
          </a:prstGeom>
          <a:solidFill>
            <a:srgbClr val="FBEFEA"/>
          </a:solidFill>
          <a:ln/>
        </p:spPr>
      </p:sp>
      <p:pic>
        <p:nvPicPr>
          <p:cNvPr id="25" name="Image 1" descr="preencoded.png">    </p:cNvPr>
          <p:cNvPicPr>
            <a:picLocks noChangeAspect="1"/>
          </p:cNvPicPr>
          <p:nvPr/>
        </p:nvPicPr>
        <p:blipFill>
          <a:blip r:embed="rId2"/>
          <a:stretch>
            <a:fillRect/>
          </a:stretch>
        </p:blipFill>
        <p:spPr>
          <a:xfrm>
            <a:off x="6595110" y="1949958"/>
            <a:ext cx="352044" cy="352044"/>
          </a:xfrm>
          <a:prstGeom prst="rect">
            <a:avLst/>
          </a:prstGeom>
        </p:spPr>
      </p:pic>
      <p:sp>
        <p:nvSpPr>
          <p:cNvPr id="26" name="Text 22"/>
          <p:cNvSpPr/>
          <p:nvPr/>
        </p:nvSpPr>
        <p:spPr>
          <a:xfrm>
            <a:off x="7159752" y="1920240"/>
            <a:ext cx="4297680" cy="457200"/>
          </a:xfrm>
          <a:prstGeom prst="rect">
            <a:avLst/>
          </a:prstGeom>
          <a:noFill/>
          <a:ln/>
        </p:spPr>
        <p:txBody>
          <a:bodyPr wrap="square" lIns="0" tIns="0" rIns="0" bIns="0" rtlCol="0" anchor="ctr"/>
          <a:lstStyle/>
          <a:p>
            <a:pPr indent="0" marL="0">
              <a:buNone/>
            </a:pPr>
            <a:r>
              <a:rPr lang="en-US" sz="1550" b="1" dirty="0">
                <a:solidFill>
                  <a:srgbClr val="1B2A4A"/>
                </a:solidFill>
                <a:latin typeface="Cambria" pitchFamily="34" charset="0"/>
                <a:ea typeface="Cambria" pitchFamily="34" charset="-122"/>
                <a:cs typeface="Cambria" pitchFamily="34" charset="-120"/>
              </a:rPr>
              <a:t>Đặc điểm dữ liệu thô ban đầu</a:t>
            </a:r>
            <a:endParaRPr lang="en-US" sz="1550" dirty="0"/>
          </a:p>
        </p:txBody>
      </p:sp>
      <p:sp>
        <p:nvSpPr>
          <p:cNvPr id="27" name="Text 23"/>
          <p:cNvSpPr/>
          <p:nvPr/>
        </p:nvSpPr>
        <p:spPr>
          <a:xfrm>
            <a:off x="6519672" y="2606040"/>
            <a:ext cx="4846320" cy="3291840"/>
          </a:xfrm>
          <a:prstGeom prst="rect">
            <a:avLst/>
          </a:prstGeom>
          <a:noFill/>
          <a:ln/>
        </p:spPr>
        <p:txBody>
          <a:bodyPr wrap="square" rtlCol="0" anchor="ctr"/>
          <a:lstStyle/>
          <a:p>
            <a:pPr marL="342900" indent="-342900">
              <a:lnSpc>
                <a:spcPts val="1800"/>
              </a:lnSpc>
              <a:spcAft>
                <a:spcPts val="1200"/>
              </a:spcAft>
              <a:buSzPct val="100000"/>
              <a:buChar char="•"/>
            </a:pPr>
            <a:r>
              <a:rPr lang="en-US" sz="1250" dirty="0">
                <a:solidFill>
                  <a:srgbClr val="5B6B85"/>
                </a:solidFill>
                <a:latin typeface="Calibri" pitchFamily="34" charset="0"/>
                <a:ea typeface="Calibri" pitchFamily="34" charset="-122"/>
                <a:cs typeface="Calibri" pitchFamily="34" charset="-120"/>
              </a:rPr>
              <a:t>Chứa nhiều ký tự rác, dấu ngoặc kép thừa trong các trường văn bản</a:t>
            </a:r>
            <a:endParaRPr lang="en-US" sz="1250" dirty="0"/>
          </a:p>
          <a:p>
            <a:pPr marL="342900" indent="-342900">
              <a:lnSpc>
                <a:spcPts val="1800"/>
              </a:lnSpc>
              <a:spcAft>
                <a:spcPts val="1200"/>
              </a:spcAft>
              <a:buSzPct val="100000"/>
              <a:buChar char="•"/>
            </a:pPr>
            <a:r>
              <a:rPr lang="en-US" sz="1250" dirty="0">
                <a:solidFill>
                  <a:srgbClr val="5B6B85"/>
                </a:solidFill>
                <a:latin typeface="Calibri" pitchFamily="34" charset="0"/>
                <a:ea typeface="Calibri" pitchFamily="34" charset="-122"/>
                <a:cs typeface="Calibri" pitchFamily="34" charset="-120"/>
              </a:rPr>
              <a:t>Địa chỉ là chuỗi gộp chưa phân cấp Tỉnh/Quận/Phường</a:t>
            </a:r>
            <a:endParaRPr lang="en-US" sz="1250" dirty="0"/>
          </a:p>
          <a:p>
            <a:pPr marL="342900" indent="-342900">
              <a:lnSpc>
                <a:spcPts val="1800"/>
              </a:lnSpc>
              <a:spcAft>
                <a:spcPts val="1200"/>
              </a:spcAft>
              <a:buSzPct val="100000"/>
              <a:buChar char="•"/>
            </a:pPr>
            <a:r>
              <a:rPr lang="en-US" sz="1250" dirty="0">
                <a:solidFill>
                  <a:srgbClr val="5B6B85"/>
                </a:solidFill>
                <a:latin typeface="Calibri" pitchFamily="34" charset="0"/>
                <a:ea typeface="Calibri" pitchFamily="34" charset="-122"/>
                <a:cs typeface="Calibri" pitchFamily="34" charset="-120"/>
              </a:rPr>
              <a:t>Giá bán ở dạng chuỗi lẫn đơn vị (vd: "22,5 tỷ")</a:t>
            </a:r>
            <a:endParaRPr lang="en-US" sz="1250" dirty="0"/>
          </a:p>
          <a:p>
            <a:pPr marL="342900" indent="-342900">
              <a:lnSpc>
                <a:spcPts val="1800"/>
              </a:lnSpc>
              <a:buSzPct val="100000"/>
              <a:buChar char="•"/>
            </a:pPr>
            <a:r>
              <a:rPr lang="en-US" sz="1250" dirty="0">
                <a:solidFill>
                  <a:srgbClr val="5B6B85"/>
                </a:solidFill>
                <a:latin typeface="Calibri" pitchFamily="34" charset="0"/>
                <a:ea typeface="Calibri" pitchFamily="34" charset="-122"/>
                <a:cs typeface="Calibri" pitchFamily="34" charset="-120"/>
              </a:rPr>
              <a:t>Có giá trị dị biệt (Outliers): giá quá ảo hoặc diện tích sai lệch</a:t>
            </a:r>
            <a:endParaRPr lang="en-US" sz="1250" dirty="0"/>
          </a:p>
        </p:txBody>
      </p:sp>
      <p:sp>
        <p:nvSpPr>
          <p:cNvPr id="28" name="Text 24"/>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C0654A"/>
                </a:solidFill>
                <a:latin typeface="Calibri" pitchFamily="34" charset="0"/>
                <a:ea typeface="Calibri" pitchFamily="34" charset="-122"/>
                <a:cs typeface="Calibri" pitchFamily="34" charset="-120"/>
              </a:rPr>
              <a:t>PHẦN 2 · HỆ THỐNG ĐÃ XÂY DỰNG</a:t>
            </a:r>
            <a:endParaRPr lang="en-US" sz="1200" dirty="0"/>
          </a:p>
        </p:txBody>
      </p:sp>
      <p:sp>
        <p:nvSpPr>
          <p:cNvPr id="3" name="Text 1"/>
          <p:cNvSpPr/>
          <p:nvPr/>
        </p:nvSpPr>
        <p:spPr>
          <a:xfrm>
            <a:off x="548640" y="658368"/>
            <a:ext cx="1078992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Đã làm gì (1): Tiền xử lý dữ liệu</a:t>
            </a:r>
            <a:endParaRPr lang="en-US" sz="3000" dirty="0"/>
          </a:p>
        </p:txBody>
      </p:sp>
      <p:sp>
        <p:nvSpPr>
          <p:cNvPr id="4" name="Shape 2"/>
          <p:cNvSpPr/>
          <p:nvPr/>
        </p:nvSpPr>
        <p:spPr>
          <a:xfrm>
            <a:off x="548640" y="1691640"/>
            <a:ext cx="11091672" cy="777240"/>
          </a:xfrm>
          <a:prstGeom prst="roundRect">
            <a:avLst>
              <a:gd name="adj" fmla="val 9412"/>
            </a:avLst>
          </a:prstGeom>
          <a:solidFill>
            <a:srgbClr val="EFE7DD"/>
          </a:solidFill>
          <a:ln/>
        </p:spPr>
      </p:sp>
      <p:sp>
        <p:nvSpPr>
          <p:cNvPr id="5" name="Shape 3"/>
          <p:cNvSpPr/>
          <p:nvPr/>
        </p:nvSpPr>
        <p:spPr>
          <a:xfrm>
            <a:off x="777240" y="1865376"/>
            <a:ext cx="438912" cy="438912"/>
          </a:xfrm>
          <a:prstGeom prst="ellipse">
            <a:avLst/>
          </a:prstGeom>
          <a:solidFill>
            <a:srgbClr val="1B2A4A"/>
          </a:solidFill>
          <a:ln/>
        </p:spPr>
      </p:sp>
      <p:pic>
        <p:nvPicPr>
          <p:cNvPr id="6" name="Image 0" descr="preencoded.png">    </p:cNvPr>
          <p:cNvPicPr>
            <a:picLocks noChangeAspect="1"/>
          </p:cNvPicPr>
          <p:nvPr/>
        </p:nvPicPr>
        <p:blipFill>
          <a:blip r:embed="rId1"/>
          <a:stretch>
            <a:fillRect/>
          </a:stretch>
        </p:blipFill>
        <p:spPr>
          <a:xfrm>
            <a:off x="843077" y="1931213"/>
            <a:ext cx="307238" cy="307238"/>
          </a:xfrm>
          <a:prstGeom prst="rect">
            <a:avLst/>
          </a:prstGeom>
        </p:spPr>
      </p:pic>
      <p:sp>
        <p:nvSpPr>
          <p:cNvPr id="7" name="Text 4"/>
          <p:cNvSpPr/>
          <p:nvPr/>
        </p:nvSpPr>
        <p:spPr>
          <a:xfrm>
            <a:off x="1417320" y="1691640"/>
            <a:ext cx="9966960" cy="7772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Mục tiêu: loại bỏ tạp chất dữ liệu thô gây lỗi lệch cột hoặc crash chương trình</a:t>
            </a:r>
            <a:endParaRPr lang="en-US" sz="1300" dirty="0"/>
          </a:p>
        </p:txBody>
      </p:sp>
      <p:sp>
        <p:nvSpPr>
          <p:cNvPr id="8" name="Shape 5"/>
          <p:cNvSpPr/>
          <p:nvPr/>
        </p:nvSpPr>
        <p:spPr>
          <a:xfrm>
            <a:off x="548640" y="2697480"/>
            <a:ext cx="5394960" cy="1691640"/>
          </a:xfrm>
          <a:prstGeom prst="roundRect">
            <a:avLst>
              <a:gd name="adj" fmla="val 4324"/>
            </a:avLst>
          </a:prstGeom>
          <a:solidFill>
            <a:srgbClr val="FFFFFF"/>
          </a:solidFill>
          <a:ln/>
          <a:effectLst>
            <a:outerShdw sx="100000" sy="100000" kx="0" ky="0" algn="bl" rotWithShape="0" blurRad="88900" dist="25400" dir="5400000">
              <a:srgbClr val="000000">
                <a:alpha val="8000"/>
              </a:srgbClr>
            </a:outerShdw>
          </a:effectLst>
        </p:spPr>
      </p:sp>
      <p:sp>
        <p:nvSpPr>
          <p:cNvPr id="9" name="Text 6"/>
          <p:cNvSpPr/>
          <p:nvPr/>
        </p:nvSpPr>
        <p:spPr>
          <a:xfrm>
            <a:off x="777240" y="2862072"/>
            <a:ext cx="914400" cy="365760"/>
          </a:xfrm>
          <a:prstGeom prst="rect">
            <a:avLst/>
          </a:prstGeom>
          <a:noFill/>
          <a:ln/>
        </p:spPr>
        <p:txBody>
          <a:bodyPr wrap="square" lIns="0" tIns="0" rIns="0" bIns="0" rtlCol="0" anchor="ctr"/>
          <a:lstStyle/>
          <a:p>
            <a:pPr indent="0" marL="0">
              <a:buNone/>
            </a:pPr>
            <a:r>
              <a:rPr lang="en-US" sz="1600" b="1" dirty="0">
                <a:solidFill>
                  <a:srgbClr val="C0654A"/>
                </a:solidFill>
                <a:latin typeface="Cambria" pitchFamily="34" charset="0"/>
                <a:ea typeface="Cambria" pitchFamily="34" charset="-122"/>
                <a:cs typeface="Cambria" pitchFamily="34" charset="-120"/>
              </a:rPr>
              <a:t>01</a:t>
            </a:r>
            <a:endParaRPr lang="en-US" sz="1600" dirty="0"/>
          </a:p>
        </p:txBody>
      </p:sp>
      <p:sp>
        <p:nvSpPr>
          <p:cNvPr id="10" name="Text 7"/>
          <p:cNvSpPr/>
          <p:nvPr/>
        </p:nvSpPr>
        <p:spPr>
          <a:xfrm>
            <a:off x="777240" y="3200400"/>
            <a:ext cx="4937760" cy="36576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Khử ký tự rác</a:t>
            </a:r>
            <a:endParaRPr lang="en-US" sz="1400" dirty="0"/>
          </a:p>
        </p:txBody>
      </p:sp>
      <p:sp>
        <p:nvSpPr>
          <p:cNvPr id="11" name="Text 8"/>
          <p:cNvSpPr/>
          <p:nvPr/>
        </p:nvSpPr>
        <p:spPr>
          <a:xfrm>
            <a:off x="777240" y="3584448"/>
            <a:ext cx="4937760" cy="731520"/>
          </a:xfrm>
          <a:prstGeom prst="rect">
            <a:avLst/>
          </a:prstGeom>
          <a:noFill/>
          <a:ln/>
        </p:spPr>
        <p:txBody>
          <a:bodyPr wrap="square" lIns="0" tIns="0" rIns="0" bIns="0" rtlCol="0" anchor="ctr"/>
          <a:lstStyle/>
          <a:p>
            <a:pPr indent="0" marL="0">
              <a:lnSpc>
                <a:spcPts val="1500"/>
              </a:lnSpc>
              <a:buNone/>
            </a:pPr>
            <a:r>
              <a:rPr lang="en-US" sz="1100" dirty="0">
                <a:solidFill>
                  <a:srgbClr val="5B6B85"/>
                </a:solidFill>
                <a:latin typeface="Calibri" pitchFamily="34" charset="0"/>
                <a:ea typeface="Calibri" pitchFamily="34" charset="-122"/>
                <a:cs typeface="Calibri" pitchFamily="34" charset="-120"/>
              </a:rPr>
              <a:t>Dùng .str.replace() và .str.strip() để xóa dấu ngoặc kép, khoảng trắng thừa ở cuối chuỗi địa chỉ và giá bán.</a:t>
            </a:r>
            <a:endParaRPr lang="en-US" sz="1100" dirty="0"/>
          </a:p>
        </p:txBody>
      </p:sp>
      <p:sp>
        <p:nvSpPr>
          <p:cNvPr id="12" name="Shape 9"/>
          <p:cNvSpPr/>
          <p:nvPr/>
        </p:nvSpPr>
        <p:spPr>
          <a:xfrm>
            <a:off x="6217920" y="2697480"/>
            <a:ext cx="5394960" cy="1691640"/>
          </a:xfrm>
          <a:prstGeom prst="roundRect">
            <a:avLst>
              <a:gd name="adj" fmla="val 4324"/>
            </a:avLst>
          </a:prstGeom>
          <a:solidFill>
            <a:srgbClr val="FFFFFF"/>
          </a:solidFill>
          <a:ln/>
          <a:effectLst>
            <a:outerShdw sx="100000" sy="100000" kx="0" ky="0" algn="bl" rotWithShape="0" blurRad="88900" dist="25400" dir="5400000">
              <a:srgbClr val="000000">
                <a:alpha val="8000"/>
              </a:srgbClr>
            </a:outerShdw>
          </a:effectLst>
        </p:spPr>
      </p:sp>
      <p:sp>
        <p:nvSpPr>
          <p:cNvPr id="13" name="Text 10"/>
          <p:cNvSpPr/>
          <p:nvPr/>
        </p:nvSpPr>
        <p:spPr>
          <a:xfrm>
            <a:off x="6446520" y="2862072"/>
            <a:ext cx="914400" cy="365760"/>
          </a:xfrm>
          <a:prstGeom prst="rect">
            <a:avLst/>
          </a:prstGeom>
          <a:noFill/>
          <a:ln/>
        </p:spPr>
        <p:txBody>
          <a:bodyPr wrap="square" lIns="0" tIns="0" rIns="0" bIns="0" rtlCol="0" anchor="ctr"/>
          <a:lstStyle/>
          <a:p>
            <a:pPr indent="0" marL="0">
              <a:buNone/>
            </a:pPr>
            <a:r>
              <a:rPr lang="en-US" sz="1600" b="1" dirty="0">
                <a:solidFill>
                  <a:srgbClr val="C0654A"/>
                </a:solidFill>
                <a:latin typeface="Cambria" pitchFamily="34" charset="0"/>
                <a:ea typeface="Cambria" pitchFamily="34" charset="-122"/>
                <a:cs typeface="Cambria" pitchFamily="34" charset="-120"/>
              </a:rPr>
              <a:t>02</a:t>
            </a:r>
            <a:endParaRPr lang="en-US" sz="1600" dirty="0"/>
          </a:p>
        </p:txBody>
      </p:sp>
      <p:sp>
        <p:nvSpPr>
          <p:cNvPr id="14" name="Text 11"/>
          <p:cNvSpPr/>
          <p:nvPr/>
        </p:nvSpPr>
        <p:spPr>
          <a:xfrm>
            <a:off x="6446520" y="3200400"/>
            <a:ext cx="4937760" cy="36576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Chuẩn hóa số liệu</a:t>
            </a:r>
            <a:endParaRPr lang="en-US" sz="1400" dirty="0"/>
          </a:p>
        </p:txBody>
      </p:sp>
      <p:sp>
        <p:nvSpPr>
          <p:cNvPr id="15" name="Text 12"/>
          <p:cNvSpPr/>
          <p:nvPr/>
        </p:nvSpPr>
        <p:spPr>
          <a:xfrm>
            <a:off x="6446520" y="3584448"/>
            <a:ext cx="4937760" cy="731520"/>
          </a:xfrm>
          <a:prstGeom prst="rect">
            <a:avLst/>
          </a:prstGeom>
          <a:noFill/>
          <a:ln/>
        </p:spPr>
        <p:txBody>
          <a:bodyPr wrap="square" lIns="0" tIns="0" rIns="0" bIns="0" rtlCol="0" anchor="ctr"/>
          <a:lstStyle/>
          <a:p>
            <a:pPr indent="0" marL="0">
              <a:lnSpc>
                <a:spcPts val="1500"/>
              </a:lnSpc>
              <a:buNone/>
            </a:pPr>
            <a:r>
              <a:rPr lang="en-US" sz="1100" dirty="0">
                <a:solidFill>
                  <a:srgbClr val="5B6B85"/>
                </a:solidFill>
                <a:latin typeface="Calibri" pitchFamily="34" charset="0"/>
                <a:ea typeface="Calibri" pitchFamily="34" charset="-122"/>
                <a:cs typeface="Calibri" pitchFamily="34" charset="-120"/>
              </a:rPr>
              <a:t>Dùng re.search() bóc tách phần số từ chuỗi hỗn hợp (vd: "22,5 tỷ" → 22.5), đổi dấu phẩy sang dấu chấm để ép kiểu số thực.</a:t>
            </a:r>
            <a:endParaRPr lang="en-US" sz="1100" dirty="0"/>
          </a:p>
        </p:txBody>
      </p:sp>
      <p:sp>
        <p:nvSpPr>
          <p:cNvPr id="16" name="Shape 13"/>
          <p:cNvSpPr/>
          <p:nvPr/>
        </p:nvSpPr>
        <p:spPr>
          <a:xfrm>
            <a:off x="548640" y="4617720"/>
            <a:ext cx="5394960" cy="1691640"/>
          </a:xfrm>
          <a:prstGeom prst="roundRect">
            <a:avLst>
              <a:gd name="adj" fmla="val 4324"/>
            </a:avLst>
          </a:prstGeom>
          <a:solidFill>
            <a:srgbClr val="FFFFFF"/>
          </a:solidFill>
          <a:ln/>
          <a:effectLst>
            <a:outerShdw sx="100000" sy="100000" kx="0" ky="0" algn="bl" rotWithShape="0" blurRad="88900" dist="25400" dir="5400000">
              <a:srgbClr val="000000">
                <a:alpha val="8000"/>
              </a:srgbClr>
            </a:outerShdw>
          </a:effectLst>
        </p:spPr>
      </p:sp>
      <p:sp>
        <p:nvSpPr>
          <p:cNvPr id="17" name="Text 14"/>
          <p:cNvSpPr/>
          <p:nvPr/>
        </p:nvSpPr>
        <p:spPr>
          <a:xfrm>
            <a:off x="777240" y="4782312"/>
            <a:ext cx="914400" cy="365760"/>
          </a:xfrm>
          <a:prstGeom prst="rect">
            <a:avLst/>
          </a:prstGeom>
          <a:noFill/>
          <a:ln/>
        </p:spPr>
        <p:txBody>
          <a:bodyPr wrap="square" lIns="0" tIns="0" rIns="0" bIns="0" rtlCol="0" anchor="ctr"/>
          <a:lstStyle/>
          <a:p>
            <a:pPr indent="0" marL="0">
              <a:buNone/>
            </a:pPr>
            <a:r>
              <a:rPr lang="en-US" sz="1600" b="1" dirty="0">
                <a:solidFill>
                  <a:srgbClr val="C0654A"/>
                </a:solidFill>
                <a:latin typeface="Cambria" pitchFamily="34" charset="0"/>
                <a:ea typeface="Cambria" pitchFamily="34" charset="-122"/>
                <a:cs typeface="Cambria" pitchFamily="34" charset="-120"/>
              </a:rPr>
              <a:t>03</a:t>
            </a:r>
            <a:endParaRPr lang="en-US" sz="1600" dirty="0"/>
          </a:p>
        </p:txBody>
      </p:sp>
      <p:sp>
        <p:nvSpPr>
          <p:cNvPr id="18" name="Text 15"/>
          <p:cNvSpPr/>
          <p:nvPr/>
        </p:nvSpPr>
        <p:spPr>
          <a:xfrm>
            <a:off x="777240" y="5120640"/>
            <a:ext cx="4937760" cy="36576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Bóc tách địa chỉ</a:t>
            </a:r>
            <a:endParaRPr lang="en-US" sz="1400" dirty="0"/>
          </a:p>
        </p:txBody>
      </p:sp>
      <p:sp>
        <p:nvSpPr>
          <p:cNvPr id="19" name="Text 16"/>
          <p:cNvSpPr/>
          <p:nvPr/>
        </p:nvSpPr>
        <p:spPr>
          <a:xfrm>
            <a:off x="777240" y="5504688"/>
            <a:ext cx="4937760" cy="731520"/>
          </a:xfrm>
          <a:prstGeom prst="rect">
            <a:avLst/>
          </a:prstGeom>
          <a:noFill/>
          <a:ln/>
        </p:spPr>
        <p:txBody>
          <a:bodyPr wrap="square" lIns="0" tIns="0" rIns="0" bIns="0" rtlCol="0" anchor="ctr"/>
          <a:lstStyle/>
          <a:p>
            <a:pPr indent="0" marL="0">
              <a:lnSpc>
                <a:spcPts val="1500"/>
              </a:lnSpc>
              <a:buNone/>
            </a:pPr>
            <a:r>
              <a:rPr lang="en-US" sz="1100" dirty="0">
                <a:solidFill>
                  <a:srgbClr val="5B6B85"/>
                </a:solidFill>
                <a:latin typeface="Calibri" pitchFamily="34" charset="0"/>
                <a:ea typeface="Calibri" pitchFamily="34" charset="-122"/>
                <a:cs typeface="Calibri" pitchFamily="34" charset="-120"/>
              </a:rPr>
              <a:t>Lập hàm .split(',') trích xuất ngược: phần tử cuối → tỉnh/thành, kế cuối → quận/huyện, trước đó → phường/xã.</a:t>
            </a:r>
            <a:endParaRPr lang="en-US" sz="1100" dirty="0"/>
          </a:p>
        </p:txBody>
      </p:sp>
      <p:sp>
        <p:nvSpPr>
          <p:cNvPr id="20" name="Shape 17"/>
          <p:cNvSpPr/>
          <p:nvPr/>
        </p:nvSpPr>
        <p:spPr>
          <a:xfrm>
            <a:off x="6217920" y="4617720"/>
            <a:ext cx="5394960" cy="1691640"/>
          </a:xfrm>
          <a:prstGeom prst="roundRect">
            <a:avLst>
              <a:gd name="adj" fmla="val 4324"/>
            </a:avLst>
          </a:prstGeom>
          <a:solidFill>
            <a:srgbClr val="FFFFFF"/>
          </a:solidFill>
          <a:ln/>
          <a:effectLst>
            <a:outerShdw sx="100000" sy="100000" kx="0" ky="0" algn="bl" rotWithShape="0" blurRad="88900" dist="25400" dir="5400000">
              <a:srgbClr val="000000">
                <a:alpha val="8000"/>
              </a:srgbClr>
            </a:outerShdw>
          </a:effectLst>
        </p:spPr>
      </p:sp>
      <p:sp>
        <p:nvSpPr>
          <p:cNvPr id="21" name="Text 18"/>
          <p:cNvSpPr/>
          <p:nvPr/>
        </p:nvSpPr>
        <p:spPr>
          <a:xfrm>
            <a:off x="6446520" y="4782312"/>
            <a:ext cx="914400" cy="365760"/>
          </a:xfrm>
          <a:prstGeom prst="rect">
            <a:avLst/>
          </a:prstGeom>
          <a:noFill/>
          <a:ln/>
        </p:spPr>
        <p:txBody>
          <a:bodyPr wrap="square" lIns="0" tIns="0" rIns="0" bIns="0" rtlCol="0" anchor="ctr"/>
          <a:lstStyle/>
          <a:p>
            <a:pPr indent="0" marL="0">
              <a:buNone/>
            </a:pPr>
            <a:r>
              <a:rPr lang="en-US" sz="1600" b="1" dirty="0">
                <a:solidFill>
                  <a:srgbClr val="C0654A"/>
                </a:solidFill>
                <a:latin typeface="Cambria" pitchFamily="34" charset="0"/>
                <a:ea typeface="Cambria" pitchFamily="34" charset="-122"/>
                <a:cs typeface="Cambria" pitchFamily="34" charset="-120"/>
              </a:rPr>
              <a:t>04</a:t>
            </a:r>
            <a:endParaRPr lang="en-US" sz="1600" dirty="0"/>
          </a:p>
        </p:txBody>
      </p:sp>
      <p:sp>
        <p:nvSpPr>
          <p:cNvPr id="22" name="Text 19"/>
          <p:cNvSpPr/>
          <p:nvPr/>
        </p:nvSpPr>
        <p:spPr>
          <a:xfrm>
            <a:off x="6446520" y="5120640"/>
            <a:ext cx="4937760" cy="36576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Loại bỏ Outliers</a:t>
            </a:r>
            <a:endParaRPr lang="en-US" sz="1400" dirty="0"/>
          </a:p>
        </p:txBody>
      </p:sp>
      <p:sp>
        <p:nvSpPr>
          <p:cNvPr id="23" name="Text 20"/>
          <p:cNvSpPr/>
          <p:nvPr/>
        </p:nvSpPr>
        <p:spPr>
          <a:xfrm>
            <a:off x="6446520" y="5504688"/>
            <a:ext cx="4937760" cy="731520"/>
          </a:xfrm>
          <a:prstGeom prst="rect">
            <a:avLst/>
          </a:prstGeom>
          <a:noFill/>
          <a:ln/>
        </p:spPr>
        <p:txBody>
          <a:bodyPr wrap="square" lIns="0" tIns="0" rIns="0" bIns="0" rtlCol="0" anchor="ctr"/>
          <a:lstStyle/>
          <a:p>
            <a:pPr indent="0" marL="0">
              <a:lnSpc>
                <a:spcPts val="1500"/>
              </a:lnSpc>
              <a:buNone/>
            </a:pPr>
            <a:r>
              <a:rPr lang="en-US" sz="1100" dirty="0">
                <a:solidFill>
                  <a:srgbClr val="5B6B85"/>
                </a:solidFill>
                <a:latin typeface="Calibri" pitchFamily="34" charset="0"/>
                <a:ea typeface="Calibri" pitchFamily="34" charset="-122"/>
                <a:cs typeface="Calibri" pitchFamily="34" charset="-120"/>
              </a:rPr>
              <a:t>Áp dụng phương pháp IQR để loại các bản ghi giá quá ảo hoặc diện tích sai lệch trước khi huấn luyện.</a:t>
            </a:r>
            <a:endParaRPr lang="en-US" sz="1100" dirty="0"/>
          </a:p>
        </p:txBody>
      </p:sp>
      <p:sp>
        <p:nvSpPr>
          <p:cNvPr id="24" name="Text 21"/>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E8A084"/>
                </a:solidFill>
                <a:latin typeface="Calibri" pitchFamily="34" charset="0"/>
                <a:ea typeface="Calibri" pitchFamily="34" charset="-122"/>
                <a:cs typeface="Calibri" pitchFamily="34" charset="-120"/>
              </a:rPr>
              <a:t>PHẦN 2 · HỆ THỐNG ĐÃ XÂY DỰNG</a:t>
            </a:r>
            <a:endParaRPr lang="en-US" sz="1200" dirty="0"/>
          </a:p>
        </p:txBody>
      </p:sp>
      <p:sp>
        <p:nvSpPr>
          <p:cNvPr id="3" name="Text 1"/>
          <p:cNvSpPr/>
          <p:nvPr/>
        </p:nvSpPr>
        <p:spPr>
          <a:xfrm>
            <a:off x="548640" y="658368"/>
            <a:ext cx="1078992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Đã làm gì (2): Phân tích &amp; Trực quan hóa</a:t>
            </a:r>
            <a:endParaRPr lang="en-US" sz="3000" dirty="0"/>
          </a:p>
        </p:txBody>
      </p:sp>
      <p:sp>
        <p:nvSpPr>
          <p:cNvPr id="4" name="Text 2"/>
          <p:cNvSpPr/>
          <p:nvPr/>
        </p:nvSpPr>
        <p:spPr>
          <a:xfrm>
            <a:off x="548640" y="1554480"/>
            <a:ext cx="10789920" cy="4114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Sau khi làm sạch, dữ liệu được tổng hợp thống kê và trực quan hóa bằng Pandas, Matplotlib, Seaborn:</a:t>
            </a:r>
            <a:endParaRPr lang="en-US" sz="1300" dirty="0"/>
          </a:p>
        </p:txBody>
      </p:sp>
      <p:sp>
        <p:nvSpPr>
          <p:cNvPr id="5" name="Shape 3"/>
          <p:cNvSpPr/>
          <p:nvPr/>
        </p:nvSpPr>
        <p:spPr>
          <a:xfrm>
            <a:off x="548640" y="2148840"/>
            <a:ext cx="3520440" cy="3520440"/>
          </a:xfrm>
          <a:prstGeom prst="roundRect">
            <a:avLst>
              <a:gd name="adj" fmla="val 2078"/>
            </a:avLst>
          </a:prstGeom>
          <a:solidFill>
            <a:srgbClr val="121D33"/>
          </a:solidFill>
          <a:ln/>
        </p:spPr>
      </p:sp>
      <p:sp>
        <p:nvSpPr>
          <p:cNvPr id="6" name="Text 4"/>
          <p:cNvSpPr/>
          <p:nvPr/>
        </p:nvSpPr>
        <p:spPr>
          <a:xfrm>
            <a:off x="822960" y="2423160"/>
            <a:ext cx="1097280" cy="457200"/>
          </a:xfrm>
          <a:prstGeom prst="rect">
            <a:avLst/>
          </a:prstGeom>
          <a:noFill/>
          <a:ln/>
        </p:spPr>
        <p:txBody>
          <a:bodyPr wrap="square" lIns="0" tIns="0" rIns="0" bIns="0" rtlCol="0" anchor="ctr"/>
          <a:lstStyle/>
          <a:p>
            <a:pPr indent="0" marL="0">
              <a:buNone/>
            </a:pPr>
            <a:r>
              <a:rPr lang="en-US" sz="2200" b="1" dirty="0">
                <a:solidFill>
                  <a:srgbClr val="C0654A"/>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822960" y="3017520"/>
            <a:ext cx="2971800" cy="502920"/>
          </a:xfrm>
          <a:prstGeom prst="rect">
            <a:avLst/>
          </a:prstGeom>
          <a:noFill/>
          <a:ln/>
        </p:spPr>
        <p:txBody>
          <a:bodyPr wrap="square" lIns="0" tIns="0" rIns="0" bIns="0" rtlCol="0" anchor="ctr"/>
          <a:lstStyle/>
          <a:p>
            <a:pPr indent="0" marL="0">
              <a:lnSpc>
                <a:spcPts val="1800"/>
              </a:lnSpc>
              <a:buNone/>
            </a:pPr>
            <a:r>
              <a:rPr lang="en-US" sz="1550" b="1" dirty="0">
                <a:solidFill>
                  <a:srgbClr val="FFFFFF"/>
                </a:solidFill>
                <a:latin typeface="Cambria" pitchFamily="34" charset="0"/>
                <a:ea typeface="Cambria" pitchFamily="34" charset="-122"/>
                <a:cs typeface="Cambria" pitchFamily="34" charset="-120"/>
              </a:rPr>
              <a:t>Gộp nhóm thống kê</a:t>
            </a:r>
            <a:endParaRPr lang="en-US" sz="1550" dirty="0"/>
          </a:p>
        </p:txBody>
      </p:sp>
      <p:sp>
        <p:nvSpPr>
          <p:cNvPr id="8" name="Text 6"/>
          <p:cNvSpPr/>
          <p:nvPr/>
        </p:nvSpPr>
        <p:spPr>
          <a:xfrm>
            <a:off x="822960" y="3611880"/>
            <a:ext cx="2971800" cy="1920240"/>
          </a:xfrm>
          <a:prstGeom prst="rect">
            <a:avLst/>
          </a:prstGeom>
          <a:noFill/>
          <a:ln/>
        </p:spPr>
        <p:txBody>
          <a:bodyPr wrap="square" lIns="0" tIns="0" rIns="0" bIns="0" rtlCol="0" anchor="ctr"/>
          <a:lstStyle/>
          <a:p>
            <a:pPr indent="0" marL="0">
              <a:lnSpc>
                <a:spcPts val="1600"/>
              </a:lnSpc>
              <a:buNone/>
            </a:pPr>
            <a:r>
              <a:rPr lang="en-US" sz="1150" dirty="0">
                <a:solidFill>
                  <a:srgbClr val="CADCFC"/>
                </a:solidFill>
                <a:latin typeface="Calibri" pitchFamily="34" charset="0"/>
                <a:ea typeface="Calibri" pitchFamily="34" charset="-122"/>
                <a:cs typeface="Calibri" pitchFamily="34" charset="-120"/>
              </a:rPr>
              <a:t>.groupby(['tinh_thanh','quan_huyen']) kết hợp .mean() để tính mật độ và giá trung bình theo từng khu vực hành chính.</a:t>
            </a:r>
            <a:endParaRPr lang="en-US" sz="1150" dirty="0"/>
          </a:p>
        </p:txBody>
      </p:sp>
      <p:sp>
        <p:nvSpPr>
          <p:cNvPr id="9" name="Shape 7"/>
          <p:cNvSpPr/>
          <p:nvPr/>
        </p:nvSpPr>
        <p:spPr>
          <a:xfrm>
            <a:off x="4343400" y="2148840"/>
            <a:ext cx="3520440" cy="3520440"/>
          </a:xfrm>
          <a:prstGeom prst="roundRect">
            <a:avLst>
              <a:gd name="adj" fmla="val 2078"/>
            </a:avLst>
          </a:prstGeom>
          <a:solidFill>
            <a:srgbClr val="121D33"/>
          </a:solidFill>
          <a:ln/>
        </p:spPr>
      </p:sp>
      <p:sp>
        <p:nvSpPr>
          <p:cNvPr id="10" name="Text 8"/>
          <p:cNvSpPr/>
          <p:nvPr/>
        </p:nvSpPr>
        <p:spPr>
          <a:xfrm>
            <a:off x="4617720" y="2423160"/>
            <a:ext cx="1097280" cy="457200"/>
          </a:xfrm>
          <a:prstGeom prst="rect">
            <a:avLst/>
          </a:prstGeom>
          <a:noFill/>
          <a:ln/>
        </p:spPr>
        <p:txBody>
          <a:bodyPr wrap="square" lIns="0" tIns="0" rIns="0" bIns="0" rtlCol="0" anchor="ctr"/>
          <a:lstStyle/>
          <a:p>
            <a:pPr indent="0" marL="0">
              <a:buNone/>
            </a:pPr>
            <a:r>
              <a:rPr lang="en-US" sz="2200" b="1" dirty="0">
                <a:solidFill>
                  <a:srgbClr val="C0654A"/>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4617720" y="3017520"/>
            <a:ext cx="2971800" cy="502920"/>
          </a:xfrm>
          <a:prstGeom prst="rect">
            <a:avLst/>
          </a:prstGeom>
          <a:noFill/>
          <a:ln/>
        </p:spPr>
        <p:txBody>
          <a:bodyPr wrap="square" lIns="0" tIns="0" rIns="0" bIns="0" rtlCol="0" anchor="ctr"/>
          <a:lstStyle/>
          <a:p>
            <a:pPr indent="0" marL="0">
              <a:lnSpc>
                <a:spcPts val="1800"/>
              </a:lnSpc>
              <a:buNone/>
            </a:pPr>
            <a:r>
              <a:rPr lang="en-US" sz="1550" b="1" dirty="0">
                <a:solidFill>
                  <a:srgbClr val="FFFFFF"/>
                </a:solidFill>
                <a:latin typeface="Cambria" pitchFamily="34" charset="0"/>
                <a:ea typeface="Cambria" pitchFamily="34" charset="-122"/>
                <a:cs typeface="Cambria" pitchFamily="34" charset="-120"/>
              </a:rPr>
              <a:t>Tính hệ số tương quan</a:t>
            </a:r>
            <a:endParaRPr lang="en-US" sz="1550" dirty="0"/>
          </a:p>
        </p:txBody>
      </p:sp>
      <p:sp>
        <p:nvSpPr>
          <p:cNvPr id="12" name="Text 10"/>
          <p:cNvSpPr/>
          <p:nvPr/>
        </p:nvSpPr>
        <p:spPr>
          <a:xfrm>
            <a:off x="4617720" y="3611880"/>
            <a:ext cx="2971800" cy="1920240"/>
          </a:xfrm>
          <a:prstGeom prst="rect">
            <a:avLst/>
          </a:prstGeom>
          <a:noFill/>
          <a:ln/>
        </p:spPr>
        <p:txBody>
          <a:bodyPr wrap="square" lIns="0" tIns="0" rIns="0" bIns="0" rtlCol="0" anchor="ctr"/>
          <a:lstStyle/>
          <a:p>
            <a:pPr indent="0" marL="0">
              <a:lnSpc>
                <a:spcPts val="1600"/>
              </a:lnSpc>
              <a:buNone/>
            </a:pPr>
            <a:r>
              <a:rPr lang="en-US" sz="1150" dirty="0">
                <a:solidFill>
                  <a:srgbClr val="CADCFC"/>
                </a:solidFill>
                <a:latin typeface="Calibri" pitchFamily="34" charset="0"/>
                <a:ea typeface="Calibri" pitchFamily="34" charset="-122"/>
                <a:cs typeface="Calibri" pitchFamily="34" charset="-120"/>
              </a:rPr>
              <a:t>Dùng hàm .corr() của Pandas để xuất hệ số Pearson, so sánh mức ảnh hưởng của diện tích &amp; số phòng ngủ lên giá.</a:t>
            </a:r>
            <a:endParaRPr lang="en-US" sz="1150" dirty="0"/>
          </a:p>
        </p:txBody>
      </p:sp>
      <p:sp>
        <p:nvSpPr>
          <p:cNvPr id="13" name="Shape 11"/>
          <p:cNvSpPr/>
          <p:nvPr/>
        </p:nvSpPr>
        <p:spPr>
          <a:xfrm>
            <a:off x="8138160" y="2148840"/>
            <a:ext cx="3520440" cy="3520440"/>
          </a:xfrm>
          <a:prstGeom prst="roundRect">
            <a:avLst>
              <a:gd name="adj" fmla="val 2078"/>
            </a:avLst>
          </a:prstGeom>
          <a:solidFill>
            <a:srgbClr val="121D33"/>
          </a:solidFill>
          <a:ln/>
        </p:spPr>
      </p:sp>
      <p:sp>
        <p:nvSpPr>
          <p:cNvPr id="14" name="Text 12"/>
          <p:cNvSpPr/>
          <p:nvPr/>
        </p:nvSpPr>
        <p:spPr>
          <a:xfrm>
            <a:off x="8412480" y="2423160"/>
            <a:ext cx="1097280" cy="457200"/>
          </a:xfrm>
          <a:prstGeom prst="rect">
            <a:avLst/>
          </a:prstGeom>
          <a:noFill/>
          <a:ln/>
        </p:spPr>
        <p:txBody>
          <a:bodyPr wrap="square" lIns="0" tIns="0" rIns="0" bIns="0" rtlCol="0" anchor="ctr"/>
          <a:lstStyle/>
          <a:p>
            <a:pPr indent="0" marL="0">
              <a:buNone/>
            </a:pPr>
            <a:r>
              <a:rPr lang="en-US" sz="2200" b="1" dirty="0">
                <a:solidFill>
                  <a:srgbClr val="C0654A"/>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8412480" y="3017520"/>
            <a:ext cx="2971800" cy="502920"/>
          </a:xfrm>
          <a:prstGeom prst="rect">
            <a:avLst/>
          </a:prstGeom>
          <a:noFill/>
          <a:ln/>
        </p:spPr>
        <p:txBody>
          <a:bodyPr wrap="square" lIns="0" tIns="0" rIns="0" bIns="0" rtlCol="0" anchor="ctr"/>
          <a:lstStyle/>
          <a:p>
            <a:pPr indent="0" marL="0">
              <a:lnSpc>
                <a:spcPts val="1800"/>
              </a:lnSpc>
              <a:buNone/>
            </a:pPr>
            <a:r>
              <a:rPr lang="en-US" sz="1550" b="1" dirty="0">
                <a:solidFill>
                  <a:srgbClr val="FFFFFF"/>
                </a:solidFill>
                <a:latin typeface="Cambria" pitchFamily="34" charset="0"/>
                <a:ea typeface="Cambria" pitchFamily="34" charset="-122"/>
                <a:cs typeface="Cambria" pitchFamily="34" charset="-120"/>
              </a:rPr>
              <a:t>Vẽ biểu đồ phân tích</a:t>
            </a:r>
            <a:endParaRPr lang="en-US" sz="1550" dirty="0"/>
          </a:p>
        </p:txBody>
      </p:sp>
      <p:sp>
        <p:nvSpPr>
          <p:cNvPr id="16" name="Text 14"/>
          <p:cNvSpPr/>
          <p:nvPr/>
        </p:nvSpPr>
        <p:spPr>
          <a:xfrm>
            <a:off x="8412480" y="3611880"/>
            <a:ext cx="2971800" cy="1920240"/>
          </a:xfrm>
          <a:prstGeom prst="rect">
            <a:avLst/>
          </a:prstGeom>
          <a:noFill/>
          <a:ln/>
        </p:spPr>
        <p:txBody>
          <a:bodyPr wrap="square" lIns="0" tIns="0" rIns="0" bIns="0" rtlCol="0" anchor="ctr"/>
          <a:lstStyle/>
          <a:p>
            <a:pPr indent="0" marL="0">
              <a:lnSpc>
                <a:spcPts val="1600"/>
              </a:lnSpc>
              <a:buNone/>
            </a:pPr>
            <a:r>
              <a:rPr lang="en-US" sz="1150" dirty="0">
                <a:solidFill>
                  <a:srgbClr val="CADCFC"/>
                </a:solidFill>
                <a:latin typeface="Calibri" pitchFamily="34" charset="0"/>
                <a:ea typeface="Calibri" pitchFamily="34" charset="-122"/>
                <a:cs typeface="Calibri" pitchFamily="34" charset="-120"/>
              </a:rPr>
              <a:t>Biểu đồ phân tán (giá – diện tích), biểu đồ cột (giá theo khu vực, hướng nhà), biểu đồ nhiệt tương quan, Box Plot tìm Outliers.</a:t>
            </a:r>
            <a:endParaRPr lang="en-US" sz="1150" dirty="0"/>
          </a:p>
        </p:txBody>
      </p:sp>
      <p:sp>
        <p:nvSpPr>
          <p:cNvPr id="17" name="Text 15"/>
          <p:cNvSpPr/>
          <p:nvPr/>
        </p:nvSpPr>
        <p:spPr>
          <a:xfrm>
            <a:off x="548640" y="6400800"/>
            <a:ext cx="5486400" cy="274320"/>
          </a:xfrm>
          <a:prstGeom prst="rect">
            <a:avLst/>
          </a:prstGeom>
          <a:noFill/>
          <a:ln/>
        </p:spPr>
        <p:txBody>
          <a:bodyPr wrap="square" lIns="0" tIns="0" rIns="0" bIns="0" rtlCol="0" anchor="ctr"/>
          <a:lstStyle/>
          <a:p>
            <a:pPr indent="0" marL="0">
              <a:buNone/>
            </a:pPr>
            <a:r>
              <a:rPr lang="en-US" sz="900" spc="100" kern="0" dirty="0">
                <a:solidFill>
                  <a:srgbClr val="8A93A8"/>
                </a:solidFill>
                <a:latin typeface="Calibri" pitchFamily="34" charset="0"/>
                <a:ea typeface="Calibri" pitchFamily="34" charset="-122"/>
                <a:cs typeface="Calibri" pitchFamily="34" charset="-120"/>
              </a:rPr>
              <a:t>PHÂN TÍCH &amp; DỰ ĐOÁN BĐS VIỆT NAM</a:t>
            </a:r>
            <a:endParaRPr lang="en-US" sz="900" dirty="0"/>
          </a:p>
        </p:txBody>
      </p:sp>
      <p:sp>
        <p:nvSpPr>
          <p:cNvPr id="18" name="Text 16"/>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C0654A"/>
                </a:solidFill>
                <a:latin typeface="Calibri" pitchFamily="34" charset="0"/>
                <a:ea typeface="Calibri" pitchFamily="34" charset="-122"/>
                <a:cs typeface="Calibri" pitchFamily="34" charset="-120"/>
              </a:rPr>
              <a:t>PHẦN 2 · HỆ THỐNG ĐÃ XÂY DỰNG</a:t>
            </a:r>
            <a:endParaRPr lang="en-US" sz="1200" dirty="0"/>
          </a:p>
        </p:txBody>
      </p:sp>
      <p:sp>
        <p:nvSpPr>
          <p:cNvPr id="3" name="Text 1"/>
          <p:cNvSpPr/>
          <p:nvPr/>
        </p:nvSpPr>
        <p:spPr>
          <a:xfrm>
            <a:off x="548640" y="658368"/>
            <a:ext cx="1078992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Đã làm gì (3): Xây dựng mô hình dự báo</a:t>
            </a:r>
            <a:endParaRPr lang="en-US" sz="3000" dirty="0"/>
          </a:p>
        </p:txBody>
      </p:sp>
      <p:sp>
        <p:nvSpPr>
          <p:cNvPr id="4" name="Shape 2"/>
          <p:cNvSpPr/>
          <p:nvPr/>
        </p:nvSpPr>
        <p:spPr>
          <a:xfrm>
            <a:off x="548640" y="1691640"/>
            <a:ext cx="5440680" cy="4434840"/>
          </a:xfrm>
          <a:prstGeom prst="roundRect">
            <a:avLst>
              <a:gd name="adj" fmla="val 1649"/>
            </a:avLst>
          </a:prstGeom>
          <a:solidFill>
            <a:srgbClr val="FFFFFF"/>
          </a:solidFill>
          <a:ln/>
          <a:effectLst>
            <a:outerShdw sx="100000" sy="100000" kx="0" ky="0" algn="bl" rotWithShape="0" blurRad="101600" dist="25400" dir="5400000">
              <a:srgbClr val="000000">
                <a:alpha val="8000"/>
              </a:srgbClr>
            </a:outerShdw>
          </a:effectLst>
        </p:spPr>
      </p:sp>
      <p:sp>
        <p:nvSpPr>
          <p:cNvPr id="5" name="Text 3"/>
          <p:cNvSpPr/>
          <p:nvPr/>
        </p:nvSpPr>
        <p:spPr>
          <a:xfrm>
            <a:off x="868680" y="1920240"/>
            <a:ext cx="4846320" cy="411480"/>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Quy trình huấn luyện</a:t>
            </a:r>
            <a:endParaRPr lang="en-US" sz="1650" dirty="0"/>
          </a:p>
        </p:txBody>
      </p:sp>
      <p:sp>
        <p:nvSpPr>
          <p:cNvPr id="6" name="Shape 4"/>
          <p:cNvSpPr/>
          <p:nvPr/>
        </p:nvSpPr>
        <p:spPr>
          <a:xfrm>
            <a:off x="868680" y="2514600"/>
            <a:ext cx="365760" cy="365760"/>
          </a:xfrm>
          <a:prstGeom prst="ellipse">
            <a:avLst/>
          </a:prstGeom>
          <a:solidFill>
            <a:srgbClr val="FBEFEA"/>
          </a:solidFill>
          <a:ln/>
        </p:spPr>
      </p:sp>
      <p:pic>
        <p:nvPicPr>
          <p:cNvPr id="7" name="Image 0" descr="preencoded.png">    </p:cNvPr>
          <p:cNvPicPr>
            <a:picLocks noChangeAspect="1"/>
          </p:cNvPicPr>
          <p:nvPr/>
        </p:nvPicPr>
        <p:blipFill>
          <a:blip r:embed="rId1"/>
          <a:stretch>
            <a:fillRect/>
          </a:stretch>
        </p:blipFill>
        <p:spPr>
          <a:xfrm>
            <a:off x="868680" y="2514600"/>
            <a:ext cx="365760" cy="365760"/>
          </a:xfrm>
          <a:prstGeom prst="rect">
            <a:avLst/>
          </a:prstGeom>
        </p:spPr>
      </p:pic>
      <p:sp>
        <p:nvSpPr>
          <p:cNvPr id="8" name="Text 5"/>
          <p:cNvSpPr/>
          <p:nvPr/>
        </p:nvSpPr>
        <p:spPr>
          <a:xfrm>
            <a:off x="868680" y="2514600"/>
            <a:ext cx="365760" cy="365760"/>
          </a:xfrm>
          <a:prstGeom prst="rect">
            <a:avLst/>
          </a:prstGeom>
          <a:noFill/>
          <a:ln/>
        </p:spPr>
        <p:txBody>
          <a:bodyPr wrap="square" lIns="0" tIns="0" rIns="0" bIns="0" rtlCol="0" anchor="ctr"/>
          <a:lstStyle/>
          <a:p>
            <a:pPr algn="ctr" indent="0" marL="0">
              <a:buNone/>
            </a:pPr>
            <a:r>
              <a:rPr lang="en-US" sz="1300" b="1" dirty="0">
                <a:solidFill>
                  <a:srgbClr val="C0654A"/>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371600" y="2496312"/>
            <a:ext cx="4343400" cy="64008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Mã hóa biến định tính (Vị trí, Loại hình, Hướng nhà) bằng LabelEncoder</a:t>
            </a:r>
            <a:endParaRPr lang="en-US" sz="1180" dirty="0"/>
          </a:p>
        </p:txBody>
      </p:sp>
      <p:sp>
        <p:nvSpPr>
          <p:cNvPr id="10" name="Shape 7"/>
          <p:cNvSpPr/>
          <p:nvPr/>
        </p:nvSpPr>
        <p:spPr>
          <a:xfrm>
            <a:off x="868680" y="3291840"/>
            <a:ext cx="365760" cy="365760"/>
          </a:xfrm>
          <a:prstGeom prst="ellipse">
            <a:avLst/>
          </a:prstGeom>
          <a:solidFill>
            <a:srgbClr val="FBEFEA"/>
          </a:solidFill>
          <a:ln/>
        </p:spPr>
      </p:sp>
      <p:pic>
        <p:nvPicPr>
          <p:cNvPr id="11" name="Image 1" descr="preencoded.png">    </p:cNvPr>
          <p:cNvPicPr>
            <a:picLocks noChangeAspect="1"/>
          </p:cNvPicPr>
          <p:nvPr/>
        </p:nvPicPr>
        <p:blipFill>
          <a:blip r:embed="rId2"/>
          <a:stretch>
            <a:fillRect/>
          </a:stretch>
        </p:blipFill>
        <p:spPr>
          <a:xfrm>
            <a:off x="868680" y="3291840"/>
            <a:ext cx="365760" cy="365760"/>
          </a:xfrm>
          <a:prstGeom prst="rect">
            <a:avLst/>
          </a:prstGeom>
        </p:spPr>
      </p:pic>
      <p:sp>
        <p:nvSpPr>
          <p:cNvPr id="12" name="Text 8"/>
          <p:cNvSpPr/>
          <p:nvPr/>
        </p:nvSpPr>
        <p:spPr>
          <a:xfrm>
            <a:off x="868680" y="3291840"/>
            <a:ext cx="365760" cy="365760"/>
          </a:xfrm>
          <a:prstGeom prst="rect">
            <a:avLst/>
          </a:prstGeom>
          <a:noFill/>
          <a:ln/>
        </p:spPr>
        <p:txBody>
          <a:bodyPr wrap="square" lIns="0" tIns="0" rIns="0" bIns="0" rtlCol="0" anchor="ctr"/>
          <a:lstStyle/>
          <a:p>
            <a:pPr algn="ctr" indent="0" marL="0">
              <a:buNone/>
            </a:pPr>
            <a:r>
              <a:rPr lang="en-US" sz="1300" b="1" dirty="0">
                <a:solidFill>
                  <a:srgbClr val="C0654A"/>
                </a:solidFill>
                <a:latin typeface="Calibri" pitchFamily="34" charset="0"/>
                <a:ea typeface="Calibri" pitchFamily="34" charset="-122"/>
                <a:cs typeface="Calibri" pitchFamily="34" charset="-120"/>
              </a:rPr>
              <a:t>2</a:t>
            </a:r>
            <a:endParaRPr lang="en-US" sz="1300" dirty="0"/>
          </a:p>
        </p:txBody>
      </p:sp>
      <p:sp>
        <p:nvSpPr>
          <p:cNvPr id="13" name="Text 9"/>
          <p:cNvSpPr/>
          <p:nvPr/>
        </p:nvSpPr>
        <p:spPr>
          <a:xfrm>
            <a:off x="1371600" y="3273552"/>
            <a:ext cx="4343400" cy="64008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Chia dữ liệu bằng train_test_split: Tập huấn luyện / Tập kiểm thử</a:t>
            </a:r>
            <a:endParaRPr lang="en-US" sz="1180" dirty="0"/>
          </a:p>
        </p:txBody>
      </p:sp>
      <p:sp>
        <p:nvSpPr>
          <p:cNvPr id="14" name="Shape 10"/>
          <p:cNvSpPr/>
          <p:nvPr/>
        </p:nvSpPr>
        <p:spPr>
          <a:xfrm>
            <a:off x="868680" y="4069080"/>
            <a:ext cx="365760" cy="365760"/>
          </a:xfrm>
          <a:prstGeom prst="ellipse">
            <a:avLst/>
          </a:prstGeom>
          <a:solidFill>
            <a:srgbClr val="FBEFEA"/>
          </a:solidFill>
          <a:ln/>
        </p:spPr>
      </p:sp>
      <p:pic>
        <p:nvPicPr>
          <p:cNvPr id="15" name="Image 2" descr="preencoded.png">    </p:cNvPr>
          <p:cNvPicPr>
            <a:picLocks noChangeAspect="1"/>
          </p:cNvPicPr>
          <p:nvPr/>
        </p:nvPicPr>
        <p:blipFill>
          <a:blip r:embed="rId3"/>
          <a:stretch>
            <a:fillRect/>
          </a:stretch>
        </p:blipFill>
        <p:spPr>
          <a:xfrm>
            <a:off x="868680" y="4069080"/>
            <a:ext cx="365760" cy="365760"/>
          </a:xfrm>
          <a:prstGeom prst="rect">
            <a:avLst/>
          </a:prstGeom>
        </p:spPr>
      </p:pic>
      <p:sp>
        <p:nvSpPr>
          <p:cNvPr id="16" name="Text 11"/>
          <p:cNvSpPr/>
          <p:nvPr/>
        </p:nvSpPr>
        <p:spPr>
          <a:xfrm>
            <a:off x="868680" y="4069080"/>
            <a:ext cx="365760" cy="365760"/>
          </a:xfrm>
          <a:prstGeom prst="rect">
            <a:avLst/>
          </a:prstGeom>
          <a:noFill/>
          <a:ln/>
        </p:spPr>
        <p:txBody>
          <a:bodyPr wrap="square" lIns="0" tIns="0" rIns="0" bIns="0" rtlCol="0" anchor="ctr"/>
          <a:lstStyle/>
          <a:p>
            <a:pPr algn="ctr" indent="0" marL="0">
              <a:buNone/>
            </a:pPr>
            <a:r>
              <a:rPr lang="en-US" sz="1300" b="1" dirty="0">
                <a:solidFill>
                  <a:srgbClr val="C0654A"/>
                </a:solidFill>
                <a:latin typeface="Calibri" pitchFamily="34" charset="0"/>
                <a:ea typeface="Calibri" pitchFamily="34" charset="-122"/>
                <a:cs typeface="Calibri" pitchFamily="34" charset="-120"/>
              </a:rPr>
              <a:t>3</a:t>
            </a:r>
            <a:endParaRPr lang="en-US" sz="1300" dirty="0"/>
          </a:p>
        </p:txBody>
      </p:sp>
      <p:sp>
        <p:nvSpPr>
          <p:cNvPr id="17" name="Text 12"/>
          <p:cNvSpPr/>
          <p:nvPr/>
        </p:nvSpPr>
        <p:spPr>
          <a:xfrm>
            <a:off x="1371600" y="4050792"/>
            <a:ext cx="4343400" cy="64008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Huấn luyện song song 3 thuật toán hồi quy trên cùng tập dữ liệu</a:t>
            </a:r>
            <a:endParaRPr lang="en-US" sz="1180" dirty="0"/>
          </a:p>
        </p:txBody>
      </p:sp>
      <p:sp>
        <p:nvSpPr>
          <p:cNvPr id="18" name="Shape 13"/>
          <p:cNvSpPr/>
          <p:nvPr/>
        </p:nvSpPr>
        <p:spPr>
          <a:xfrm>
            <a:off x="868680" y="4846320"/>
            <a:ext cx="365760" cy="365760"/>
          </a:xfrm>
          <a:prstGeom prst="ellipse">
            <a:avLst/>
          </a:prstGeom>
          <a:solidFill>
            <a:srgbClr val="FBEFEA"/>
          </a:solidFill>
          <a:ln/>
        </p:spPr>
      </p:sp>
      <p:pic>
        <p:nvPicPr>
          <p:cNvPr id="19" name="Image 3" descr="preencoded.png">    </p:cNvPr>
          <p:cNvPicPr>
            <a:picLocks noChangeAspect="1"/>
          </p:cNvPicPr>
          <p:nvPr/>
        </p:nvPicPr>
        <p:blipFill>
          <a:blip r:embed="rId4"/>
          <a:stretch>
            <a:fillRect/>
          </a:stretch>
        </p:blipFill>
        <p:spPr>
          <a:xfrm>
            <a:off x="868680" y="4846320"/>
            <a:ext cx="365760" cy="365760"/>
          </a:xfrm>
          <a:prstGeom prst="rect">
            <a:avLst/>
          </a:prstGeom>
        </p:spPr>
      </p:pic>
      <p:sp>
        <p:nvSpPr>
          <p:cNvPr id="20" name="Text 14"/>
          <p:cNvSpPr/>
          <p:nvPr/>
        </p:nvSpPr>
        <p:spPr>
          <a:xfrm>
            <a:off x="868680" y="4846320"/>
            <a:ext cx="365760" cy="365760"/>
          </a:xfrm>
          <a:prstGeom prst="rect">
            <a:avLst/>
          </a:prstGeom>
          <a:noFill/>
          <a:ln/>
        </p:spPr>
        <p:txBody>
          <a:bodyPr wrap="square" lIns="0" tIns="0" rIns="0" bIns="0" rtlCol="0" anchor="ctr"/>
          <a:lstStyle/>
          <a:p>
            <a:pPr algn="ctr" indent="0" marL="0">
              <a:buNone/>
            </a:pPr>
            <a:r>
              <a:rPr lang="en-US" sz="1300" b="1" dirty="0">
                <a:solidFill>
                  <a:srgbClr val="C0654A"/>
                </a:solidFill>
                <a:latin typeface="Calibri" pitchFamily="34" charset="0"/>
                <a:ea typeface="Calibri" pitchFamily="34" charset="-122"/>
                <a:cs typeface="Calibri" pitchFamily="34" charset="-120"/>
              </a:rPr>
              <a:t>4</a:t>
            </a:r>
            <a:endParaRPr lang="en-US" sz="1300" dirty="0"/>
          </a:p>
        </p:txBody>
      </p:sp>
      <p:sp>
        <p:nvSpPr>
          <p:cNvPr id="21" name="Text 15"/>
          <p:cNvSpPr/>
          <p:nvPr/>
        </p:nvSpPr>
        <p:spPr>
          <a:xfrm>
            <a:off x="1371600" y="4828032"/>
            <a:ext cx="4343400" cy="640080"/>
          </a:xfrm>
          <a:prstGeom prst="rect">
            <a:avLst/>
          </a:prstGeom>
          <a:noFill/>
          <a:ln/>
        </p:spPr>
        <p:txBody>
          <a:bodyPr wrap="square" lIns="0" tIns="0" rIns="0" bIns="0" rtlCol="0" anchor="ctr"/>
          <a:lstStyle/>
          <a:p>
            <a:pPr indent="0" marL="0">
              <a:lnSpc>
                <a:spcPts val="1500"/>
              </a:lnSpc>
              <a:buNone/>
            </a:pPr>
            <a:r>
              <a:rPr lang="en-US" sz="1180" dirty="0">
                <a:solidFill>
                  <a:srgbClr val="1F2430"/>
                </a:solidFill>
                <a:latin typeface="Calibri" pitchFamily="34" charset="0"/>
                <a:ea typeface="Calibri" pitchFamily="34" charset="-122"/>
                <a:cs typeface="Calibri" pitchFamily="34" charset="-120"/>
              </a:rPr>
              <a:t>Đo lường sai số bằng RMSE và hệ số xác định R² trên tập kiểm thử</a:t>
            </a:r>
            <a:endParaRPr lang="en-US" sz="1180" dirty="0"/>
          </a:p>
        </p:txBody>
      </p:sp>
      <p:sp>
        <p:nvSpPr>
          <p:cNvPr id="22" name="Shape 16"/>
          <p:cNvSpPr/>
          <p:nvPr/>
        </p:nvSpPr>
        <p:spPr>
          <a:xfrm>
            <a:off x="6199632" y="1691640"/>
            <a:ext cx="5440680" cy="4434840"/>
          </a:xfrm>
          <a:prstGeom prst="roundRect">
            <a:avLst>
              <a:gd name="adj" fmla="val 1649"/>
            </a:avLst>
          </a:prstGeom>
          <a:solidFill>
            <a:srgbClr val="1B2A4A"/>
          </a:solidFill>
          <a:ln/>
          <a:effectLst>
            <a:outerShdw sx="100000" sy="100000" kx="0" ky="0" algn="bl" rotWithShape="0" blurRad="127000" dist="38100" dir="5400000">
              <a:srgbClr val="000000">
                <a:alpha val="18000"/>
              </a:srgbClr>
            </a:outerShdw>
          </a:effectLst>
        </p:spPr>
      </p:sp>
      <p:sp>
        <p:nvSpPr>
          <p:cNvPr id="23" name="Shape 17"/>
          <p:cNvSpPr/>
          <p:nvPr/>
        </p:nvSpPr>
        <p:spPr>
          <a:xfrm>
            <a:off x="6519672" y="1920240"/>
            <a:ext cx="502920" cy="502920"/>
          </a:xfrm>
          <a:prstGeom prst="ellipse">
            <a:avLst/>
          </a:prstGeom>
          <a:solidFill>
            <a:srgbClr val="C0654A"/>
          </a:solidFill>
          <a:ln/>
        </p:spPr>
      </p:sp>
      <p:pic>
        <p:nvPicPr>
          <p:cNvPr id="24" name="Image 4" descr="preencoded.png">    </p:cNvPr>
          <p:cNvPicPr>
            <a:picLocks noChangeAspect="1"/>
          </p:cNvPicPr>
          <p:nvPr/>
        </p:nvPicPr>
        <p:blipFill>
          <a:blip r:embed="rId5"/>
          <a:stretch>
            <a:fillRect/>
          </a:stretch>
        </p:blipFill>
        <p:spPr>
          <a:xfrm>
            <a:off x="6595110" y="1995678"/>
            <a:ext cx="352044" cy="352044"/>
          </a:xfrm>
          <a:prstGeom prst="rect">
            <a:avLst/>
          </a:prstGeom>
        </p:spPr>
      </p:pic>
      <p:sp>
        <p:nvSpPr>
          <p:cNvPr id="25" name="Text 18"/>
          <p:cNvSpPr/>
          <p:nvPr/>
        </p:nvSpPr>
        <p:spPr>
          <a:xfrm>
            <a:off x="7159752" y="1965960"/>
            <a:ext cx="4297680" cy="45720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3 thuật toán đã thử nghiệm</a:t>
            </a:r>
            <a:endParaRPr lang="en-US" sz="1550" dirty="0"/>
          </a:p>
        </p:txBody>
      </p:sp>
      <p:sp>
        <p:nvSpPr>
          <p:cNvPr id="26" name="Shape 19"/>
          <p:cNvSpPr/>
          <p:nvPr/>
        </p:nvSpPr>
        <p:spPr>
          <a:xfrm>
            <a:off x="6519672" y="2606040"/>
            <a:ext cx="4846320" cy="960120"/>
          </a:xfrm>
          <a:prstGeom prst="roundRect">
            <a:avLst>
              <a:gd name="adj" fmla="val 5714"/>
            </a:avLst>
          </a:prstGeom>
          <a:solidFill>
            <a:srgbClr val="121D33"/>
          </a:solidFill>
          <a:ln/>
        </p:spPr>
      </p:sp>
      <p:sp>
        <p:nvSpPr>
          <p:cNvPr id="27" name="Text 20"/>
          <p:cNvSpPr/>
          <p:nvPr/>
        </p:nvSpPr>
        <p:spPr>
          <a:xfrm>
            <a:off x="6720840" y="2697480"/>
            <a:ext cx="4480560" cy="320040"/>
          </a:xfrm>
          <a:prstGeom prst="rect">
            <a:avLst/>
          </a:prstGeom>
          <a:noFill/>
          <a:ln/>
        </p:spPr>
        <p:txBody>
          <a:bodyPr wrap="square" lIns="0" tIns="0" rIns="0" bIns="0" rtlCol="0" anchor="ctr"/>
          <a:lstStyle/>
          <a:p>
            <a:pPr indent="0" marL="0">
              <a:buNone/>
            </a:pPr>
            <a:r>
              <a:rPr lang="en-US" sz="1300" b="1" dirty="0">
                <a:solidFill>
                  <a:srgbClr val="C0654A"/>
                </a:solidFill>
                <a:latin typeface="Cambria" pitchFamily="34" charset="0"/>
                <a:ea typeface="Cambria" pitchFamily="34" charset="-122"/>
                <a:cs typeface="Cambria" pitchFamily="34" charset="-120"/>
              </a:rPr>
              <a:t>Linear Regression</a:t>
            </a:r>
            <a:endParaRPr lang="en-US" sz="1300" dirty="0"/>
          </a:p>
        </p:txBody>
      </p:sp>
      <p:sp>
        <p:nvSpPr>
          <p:cNvPr id="28" name="Text 21"/>
          <p:cNvSpPr/>
          <p:nvPr/>
        </p:nvSpPr>
        <p:spPr>
          <a:xfrm>
            <a:off x="6720840" y="3017520"/>
            <a:ext cx="4480560" cy="502920"/>
          </a:xfrm>
          <a:prstGeom prst="rect">
            <a:avLst/>
          </a:prstGeom>
          <a:noFill/>
          <a:ln/>
        </p:spPr>
        <p:txBody>
          <a:bodyPr wrap="square" lIns="0" tIns="0" rIns="0" bIns="0" rtlCol="0" anchor="ctr"/>
          <a:lstStyle/>
          <a:p>
            <a:pPr indent="0" marL="0">
              <a:lnSpc>
                <a:spcPts val="1400"/>
              </a:lnSpc>
              <a:buNone/>
            </a:pPr>
            <a:r>
              <a:rPr lang="en-US" sz="1080" dirty="0">
                <a:solidFill>
                  <a:srgbClr val="E8ECF7"/>
                </a:solidFill>
                <a:latin typeface="Calibri" pitchFamily="34" charset="0"/>
                <a:ea typeface="Calibri" pitchFamily="34" charset="-122"/>
                <a:cs typeface="Calibri" pitchFamily="34" charset="-120"/>
              </a:rPr>
              <a:t>Mô hình nền tảng (baseline) — quan hệ tuyến tính giữa thuộc tính đầu vào và giá.</a:t>
            </a:r>
            <a:endParaRPr lang="en-US" sz="1080" dirty="0"/>
          </a:p>
        </p:txBody>
      </p:sp>
      <p:sp>
        <p:nvSpPr>
          <p:cNvPr id="29" name="Shape 22"/>
          <p:cNvSpPr/>
          <p:nvPr/>
        </p:nvSpPr>
        <p:spPr>
          <a:xfrm>
            <a:off x="6519672" y="3749040"/>
            <a:ext cx="4846320" cy="960120"/>
          </a:xfrm>
          <a:prstGeom prst="roundRect">
            <a:avLst>
              <a:gd name="adj" fmla="val 5714"/>
            </a:avLst>
          </a:prstGeom>
          <a:solidFill>
            <a:srgbClr val="121D33"/>
          </a:solidFill>
          <a:ln/>
        </p:spPr>
      </p:sp>
      <p:sp>
        <p:nvSpPr>
          <p:cNvPr id="30" name="Text 23"/>
          <p:cNvSpPr/>
          <p:nvPr/>
        </p:nvSpPr>
        <p:spPr>
          <a:xfrm>
            <a:off x="6720840" y="3840480"/>
            <a:ext cx="4480560" cy="320040"/>
          </a:xfrm>
          <a:prstGeom prst="rect">
            <a:avLst/>
          </a:prstGeom>
          <a:noFill/>
          <a:ln/>
        </p:spPr>
        <p:txBody>
          <a:bodyPr wrap="square" lIns="0" tIns="0" rIns="0" bIns="0" rtlCol="0" anchor="ctr"/>
          <a:lstStyle/>
          <a:p>
            <a:pPr indent="0" marL="0">
              <a:buNone/>
            </a:pPr>
            <a:r>
              <a:rPr lang="en-US" sz="1300" b="1" dirty="0">
                <a:solidFill>
                  <a:srgbClr val="C0654A"/>
                </a:solidFill>
                <a:latin typeface="Cambria" pitchFamily="34" charset="0"/>
                <a:ea typeface="Cambria" pitchFamily="34" charset="-122"/>
                <a:cs typeface="Cambria" pitchFamily="34" charset="-120"/>
              </a:rPr>
              <a:t>Random Forest</a:t>
            </a:r>
            <a:endParaRPr lang="en-US" sz="1300" dirty="0"/>
          </a:p>
        </p:txBody>
      </p:sp>
      <p:sp>
        <p:nvSpPr>
          <p:cNvPr id="31" name="Text 24"/>
          <p:cNvSpPr/>
          <p:nvPr/>
        </p:nvSpPr>
        <p:spPr>
          <a:xfrm>
            <a:off x="6720840" y="4160520"/>
            <a:ext cx="4480560" cy="502920"/>
          </a:xfrm>
          <a:prstGeom prst="rect">
            <a:avLst/>
          </a:prstGeom>
          <a:noFill/>
          <a:ln/>
        </p:spPr>
        <p:txBody>
          <a:bodyPr wrap="square" lIns="0" tIns="0" rIns="0" bIns="0" rtlCol="0" anchor="ctr"/>
          <a:lstStyle/>
          <a:p>
            <a:pPr indent="0" marL="0">
              <a:lnSpc>
                <a:spcPts val="1400"/>
              </a:lnSpc>
              <a:buNone/>
            </a:pPr>
            <a:r>
              <a:rPr lang="en-US" sz="1080" dirty="0">
                <a:solidFill>
                  <a:srgbClr val="E8ECF7"/>
                </a:solidFill>
                <a:latin typeface="Calibri" pitchFamily="34" charset="0"/>
                <a:ea typeface="Calibri" pitchFamily="34" charset="-122"/>
                <a:cs typeface="Calibri" pitchFamily="34" charset="-120"/>
              </a:rPr>
              <a:t>Tập hợp nhiều cây quyết định, lấy trung bình dự đoán — giảm overfitting.</a:t>
            </a:r>
            <a:endParaRPr lang="en-US" sz="1080" dirty="0"/>
          </a:p>
        </p:txBody>
      </p:sp>
      <p:sp>
        <p:nvSpPr>
          <p:cNvPr id="32" name="Shape 25"/>
          <p:cNvSpPr/>
          <p:nvPr/>
        </p:nvSpPr>
        <p:spPr>
          <a:xfrm>
            <a:off x="6519672" y="4892040"/>
            <a:ext cx="4846320" cy="960120"/>
          </a:xfrm>
          <a:prstGeom prst="roundRect">
            <a:avLst>
              <a:gd name="adj" fmla="val 5714"/>
            </a:avLst>
          </a:prstGeom>
          <a:solidFill>
            <a:srgbClr val="121D33"/>
          </a:solidFill>
          <a:ln/>
        </p:spPr>
      </p:sp>
      <p:sp>
        <p:nvSpPr>
          <p:cNvPr id="33" name="Text 26"/>
          <p:cNvSpPr/>
          <p:nvPr/>
        </p:nvSpPr>
        <p:spPr>
          <a:xfrm>
            <a:off x="6720840" y="4983480"/>
            <a:ext cx="4480560" cy="320040"/>
          </a:xfrm>
          <a:prstGeom prst="rect">
            <a:avLst/>
          </a:prstGeom>
          <a:noFill/>
          <a:ln/>
        </p:spPr>
        <p:txBody>
          <a:bodyPr wrap="square" lIns="0" tIns="0" rIns="0" bIns="0" rtlCol="0" anchor="ctr"/>
          <a:lstStyle/>
          <a:p>
            <a:pPr indent="0" marL="0">
              <a:buNone/>
            </a:pPr>
            <a:r>
              <a:rPr lang="en-US" sz="1300" b="1" dirty="0">
                <a:solidFill>
                  <a:srgbClr val="C0654A"/>
                </a:solidFill>
                <a:latin typeface="Cambria" pitchFamily="34" charset="0"/>
                <a:ea typeface="Cambria" pitchFamily="34" charset="-122"/>
                <a:cs typeface="Cambria" pitchFamily="34" charset="-120"/>
              </a:rPr>
              <a:t>XGBoost Regressor</a:t>
            </a:r>
            <a:endParaRPr lang="en-US" sz="1300" dirty="0"/>
          </a:p>
        </p:txBody>
      </p:sp>
      <p:sp>
        <p:nvSpPr>
          <p:cNvPr id="34" name="Text 27"/>
          <p:cNvSpPr/>
          <p:nvPr/>
        </p:nvSpPr>
        <p:spPr>
          <a:xfrm>
            <a:off x="6720840" y="5303520"/>
            <a:ext cx="4480560" cy="502920"/>
          </a:xfrm>
          <a:prstGeom prst="rect">
            <a:avLst/>
          </a:prstGeom>
          <a:noFill/>
          <a:ln/>
        </p:spPr>
        <p:txBody>
          <a:bodyPr wrap="square" lIns="0" tIns="0" rIns="0" bIns="0" rtlCol="0" anchor="ctr"/>
          <a:lstStyle/>
          <a:p>
            <a:pPr indent="0" marL="0">
              <a:lnSpc>
                <a:spcPts val="1400"/>
              </a:lnSpc>
              <a:buNone/>
            </a:pPr>
            <a:r>
              <a:rPr lang="en-US" sz="1080" dirty="0">
                <a:solidFill>
                  <a:srgbClr val="E8ECF7"/>
                </a:solidFill>
                <a:latin typeface="Calibri" pitchFamily="34" charset="0"/>
                <a:ea typeface="Calibri" pitchFamily="34" charset="-122"/>
                <a:cs typeface="Calibri" pitchFamily="34" charset="-120"/>
              </a:rPr>
              <a:t>Gradient Boosting tuần tự, sửa sai liên tục — hiệu năng cao nhất trên dữ liệu bảng.</a:t>
            </a:r>
            <a:endParaRPr lang="en-US" sz="1080" dirty="0"/>
          </a:p>
        </p:txBody>
      </p:sp>
      <p:sp>
        <p:nvSpPr>
          <p:cNvPr id="35" name="Text 28"/>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C0654A"/>
                </a:solidFill>
                <a:latin typeface="Calibri" pitchFamily="34" charset="0"/>
                <a:ea typeface="Calibri" pitchFamily="34" charset="-122"/>
                <a:cs typeface="Calibri" pitchFamily="34" charset="-120"/>
              </a:rPr>
              <a:t>PHẦN 2 · HỆ THỐNG ĐÃ XÂY DỰNG</a:t>
            </a:r>
            <a:endParaRPr lang="en-US" sz="1200" dirty="0"/>
          </a:p>
        </p:txBody>
      </p:sp>
      <p:sp>
        <p:nvSpPr>
          <p:cNvPr id="3" name="Text 1"/>
          <p:cNvSpPr/>
          <p:nvPr/>
        </p:nvSpPr>
        <p:spPr>
          <a:xfrm>
            <a:off x="548640" y="658368"/>
            <a:ext cx="1078992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Đã làm gì (4): Giao diện ứng dụng Web</a:t>
            </a:r>
            <a:endParaRPr lang="en-US" sz="3000" dirty="0"/>
          </a:p>
        </p:txBody>
      </p:sp>
      <p:sp>
        <p:nvSpPr>
          <p:cNvPr id="4" name="Text 2"/>
          <p:cNvSpPr/>
          <p:nvPr/>
        </p:nvSpPr>
        <p:spPr>
          <a:xfrm>
            <a:off x="548640" y="1600200"/>
            <a:ext cx="10607040" cy="365760"/>
          </a:xfrm>
          <a:prstGeom prst="rect">
            <a:avLst/>
          </a:prstGeom>
          <a:noFill/>
          <a:ln/>
        </p:spPr>
        <p:txBody>
          <a:bodyPr wrap="square" lIns="0" tIns="0" rIns="0" bIns="0" rtlCol="0" anchor="ctr"/>
          <a:lstStyle/>
          <a:p>
            <a:pPr indent="0" marL="0">
              <a:buNone/>
            </a:pPr>
            <a:r>
              <a:rPr lang="en-US" sz="1300" dirty="0">
                <a:solidFill>
                  <a:srgbClr val="5B6B85"/>
                </a:solidFill>
                <a:latin typeface="Calibri" pitchFamily="34" charset="0"/>
                <a:ea typeface="Calibri" pitchFamily="34" charset="-122"/>
                <a:cs typeface="Calibri" pitchFamily="34" charset="-120"/>
              </a:rPr>
              <a:t>Tích hợp toàn bộ mô hình vào ứng dụng web tương tác bằng framework Streamlit:</a:t>
            </a:r>
            <a:endParaRPr lang="en-US" sz="1300" dirty="0"/>
          </a:p>
        </p:txBody>
      </p:sp>
      <p:sp>
        <p:nvSpPr>
          <p:cNvPr id="5" name="Shape 3"/>
          <p:cNvSpPr/>
          <p:nvPr/>
        </p:nvSpPr>
        <p:spPr>
          <a:xfrm>
            <a:off x="548640" y="2148840"/>
            <a:ext cx="3520440" cy="3520440"/>
          </a:xfrm>
          <a:prstGeom prst="roundRect">
            <a:avLst>
              <a:gd name="adj" fmla="val 2078"/>
            </a:avLst>
          </a:prstGeom>
          <a:solidFill>
            <a:srgbClr val="FFFFFF"/>
          </a:solidFill>
          <a:ln/>
          <a:effectLst>
            <a:outerShdw sx="100000" sy="100000" kx="0" ky="0" algn="bl" rotWithShape="0" blurRad="101600" dist="25400" dir="5400000">
              <a:srgbClr val="000000">
                <a:alpha val="8000"/>
              </a:srgbClr>
            </a:outerShdw>
          </a:effectLst>
        </p:spPr>
      </p:sp>
      <p:sp>
        <p:nvSpPr>
          <p:cNvPr id="6" name="Shape 4"/>
          <p:cNvSpPr/>
          <p:nvPr/>
        </p:nvSpPr>
        <p:spPr>
          <a:xfrm>
            <a:off x="868680" y="2468880"/>
            <a:ext cx="640080" cy="640080"/>
          </a:xfrm>
          <a:prstGeom prst="ellipse">
            <a:avLst/>
          </a:prstGeom>
          <a:solidFill>
            <a:srgbClr val="FBEFEA"/>
          </a:solidFill>
          <a:ln/>
        </p:spPr>
      </p:sp>
      <p:pic>
        <p:nvPicPr>
          <p:cNvPr id="7" name="Image 0" descr="preencoded.png">    </p:cNvPr>
          <p:cNvPicPr>
            <a:picLocks noChangeAspect="1"/>
          </p:cNvPicPr>
          <p:nvPr/>
        </p:nvPicPr>
        <p:blipFill>
          <a:blip r:embed="rId1"/>
          <a:stretch>
            <a:fillRect/>
          </a:stretch>
        </p:blipFill>
        <p:spPr>
          <a:xfrm>
            <a:off x="971093" y="2571293"/>
            <a:ext cx="435254" cy="435254"/>
          </a:xfrm>
          <a:prstGeom prst="rect">
            <a:avLst/>
          </a:prstGeom>
        </p:spPr>
      </p:pic>
      <p:sp>
        <p:nvSpPr>
          <p:cNvPr id="8" name="Text 5"/>
          <p:cNvSpPr/>
          <p:nvPr/>
        </p:nvSpPr>
        <p:spPr>
          <a:xfrm>
            <a:off x="868680" y="3291840"/>
            <a:ext cx="2880360" cy="457200"/>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Bộ lọc địa lý 3 cấp</a:t>
            </a:r>
            <a:endParaRPr lang="en-US" sz="1450" dirty="0"/>
          </a:p>
        </p:txBody>
      </p:sp>
      <p:sp>
        <p:nvSpPr>
          <p:cNvPr id="9" name="Text 6"/>
          <p:cNvSpPr/>
          <p:nvPr/>
        </p:nvSpPr>
        <p:spPr>
          <a:xfrm>
            <a:off x="868680" y="3794760"/>
            <a:ext cx="2880360" cy="1691640"/>
          </a:xfrm>
          <a:prstGeom prst="rect">
            <a:avLst/>
          </a:prstGeom>
          <a:noFill/>
          <a:ln/>
        </p:spPr>
        <p:txBody>
          <a:bodyPr wrap="square" lIns="0" tIns="0" rIns="0" bIns="0" rtlCol="0" anchor="ctr"/>
          <a:lstStyle/>
          <a:p>
            <a:pPr indent="0" marL="0">
              <a:lnSpc>
                <a:spcPts val="1600"/>
              </a:lnSpc>
              <a:buNone/>
            </a:pPr>
            <a:r>
              <a:rPr lang="en-US" sz="1150" dirty="0">
                <a:solidFill>
                  <a:srgbClr val="5B6B85"/>
                </a:solidFill>
                <a:latin typeface="Calibri" pitchFamily="34" charset="0"/>
                <a:ea typeface="Calibri" pitchFamily="34" charset="-122"/>
                <a:cs typeface="Calibri" pitchFamily="34" charset="-120"/>
              </a:rPr>
              <a:t>Dropdown lồng nhau: chọn Tỉnh/Thành → tự động cập nhật Quận/Huyện → Phường/Xã tương ứng.</a:t>
            </a:r>
            <a:endParaRPr lang="en-US" sz="1150" dirty="0"/>
          </a:p>
        </p:txBody>
      </p:sp>
      <p:sp>
        <p:nvSpPr>
          <p:cNvPr id="10" name="Shape 7"/>
          <p:cNvSpPr/>
          <p:nvPr/>
        </p:nvSpPr>
        <p:spPr>
          <a:xfrm>
            <a:off x="4343400" y="2148840"/>
            <a:ext cx="3520440" cy="3520440"/>
          </a:xfrm>
          <a:prstGeom prst="roundRect">
            <a:avLst>
              <a:gd name="adj" fmla="val 2078"/>
            </a:avLst>
          </a:prstGeom>
          <a:solidFill>
            <a:srgbClr val="FFFFFF"/>
          </a:solidFill>
          <a:ln/>
          <a:effectLst>
            <a:outerShdw sx="100000" sy="100000" kx="0" ky="0" algn="bl" rotWithShape="0" blurRad="101600" dist="25400" dir="5400000">
              <a:srgbClr val="000000">
                <a:alpha val="8000"/>
              </a:srgbClr>
            </a:outerShdw>
          </a:effectLst>
        </p:spPr>
      </p:sp>
      <p:sp>
        <p:nvSpPr>
          <p:cNvPr id="11" name="Shape 8"/>
          <p:cNvSpPr/>
          <p:nvPr/>
        </p:nvSpPr>
        <p:spPr>
          <a:xfrm>
            <a:off x="4663440" y="2468880"/>
            <a:ext cx="640080" cy="640080"/>
          </a:xfrm>
          <a:prstGeom prst="ellipse">
            <a:avLst/>
          </a:prstGeom>
          <a:solidFill>
            <a:srgbClr val="FBEFEA"/>
          </a:solidFill>
          <a:ln/>
        </p:spPr>
      </p:sp>
      <p:pic>
        <p:nvPicPr>
          <p:cNvPr id="12" name="Image 1" descr="preencoded.png">    </p:cNvPr>
          <p:cNvPicPr>
            <a:picLocks noChangeAspect="1"/>
          </p:cNvPicPr>
          <p:nvPr/>
        </p:nvPicPr>
        <p:blipFill>
          <a:blip r:embed="rId2"/>
          <a:stretch>
            <a:fillRect/>
          </a:stretch>
        </p:blipFill>
        <p:spPr>
          <a:xfrm>
            <a:off x="4765853" y="2571293"/>
            <a:ext cx="435254" cy="435254"/>
          </a:xfrm>
          <a:prstGeom prst="rect">
            <a:avLst/>
          </a:prstGeom>
        </p:spPr>
      </p:pic>
      <p:sp>
        <p:nvSpPr>
          <p:cNvPr id="13" name="Text 9"/>
          <p:cNvSpPr/>
          <p:nvPr/>
        </p:nvSpPr>
        <p:spPr>
          <a:xfrm>
            <a:off x="4663440" y="3291840"/>
            <a:ext cx="2880360" cy="457200"/>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Thiết lập thông số</a:t>
            </a:r>
            <a:endParaRPr lang="en-US" sz="1450" dirty="0"/>
          </a:p>
        </p:txBody>
      </p:sp>
      <p:sp>
        <p:nvSpPr>
          <p:cNvPr id="14" name="Text 10"/>
          <p:cNvSpPr/>
          <p:nvPr/>
        </p:nvSpPr>
        <p:spPr>
          <a:xfrm>
            <a:off x="4663440" y="3794760"/>
            <a:ext cx="2880360" cy="1691640"/>
          </a:xfrm>
          <a:prstGeom prst="rect">
            <a:avLst/>
          </a:prstGeom>
          <a:noFill/>
          <a:ln/>
        </p:spPr>
        <p:txBody>
          <a:bodyPr wrap="square" lIns="0" tIns="0" rIns="0" bIns="0" rtlCol="0" anchor="ctr"/>
          <a:lstStyle/>
          <a:p>
            <a:pPr indent="0" marL="0">
              <a:lnSpc>
                <a:spcPts val="1600"/>
              </a:lnSpc>
              <a:buNone/>
            </a:pPr>
            <a:r>
              <a:rPr lang="en-US" sz="1150" dirty="0">
                <a:solidFill>
                  <a:srgbClr val="5B6B85"/>
                </a:solidFill>
                <a:latin typeface="Calibri" pitchFamily="34" charset="0"/>
                <a:ea typeface="Calibri" pitchFamily="34" charset="-122"/>
                <a:cs typeface="Calibri" pitchFamily="34" charset="-120"/>
              </a:rPr>
              <a:t>Slider điều chỉnh diện tích, số phòng ngủ, số vệ sinh và lựa chọn hướng nhà phong thủy.</a:t>
            </a:r>
            <a:endParaRPr lang="en-US" sz="1150" dirty="0"/>
          </a:p>
        </p:txBody>
      </p:sp>
      <p:sp>
        <p:nvSpPr>
          <p:cNvPr id="15" name="Shape 11"/>
          <p:cNvSpPr/>
          <p:nvPr/>
        </p:nvSpPr>
        <p:spPr>
          <a:xfrm>
            <a:off x="8138160" y="2148840"/>
            <a:ext cx="3520440" cy="3520440"/>
          </a:xfrm>
          <a:prstGeom prst="roundRect">
            <a:avLst>
              <a:gd name="adj" fmla="val 2078"/>
            </a:avLst>
          </a:prstGeom>
          <a:solidFill>
            <a:srgbClr val="FFFFFF"/>
          </a:solidFill>
          <a:ln/>
          <a:effectLst>
            <a:outerShdw sx="100000" sy="100000" kx="0" ky="0" algn="bl" rotWithShape="0" blurRad="101600" dist="25400" dir="5400000">
              <a:srgbClr val="000000">
                <a:alpha val="8000"/>
              </a:srgbClr>
            </a:outerShdw>
          </a:effectLst>
        </p:spPr>
      </p:sp>
      <p:sp>
        <p:nvSpPr>
          <p:cNvPr id="16" name="Shape 12"/>
          <p:cNvSpPr/>
          <p:nvPr/>
        </p:nvSpPr>
        <p:spPr>
          <a:xfrm>
            <a:off x="8458200" y="2468880"/>
            <a:ext cx="640080" cy="640080"/>
          </a:xfrm>
          <a:prstGeom prst="ellipse">
            <a:avLst/>
          </a:prstGeom>
          <a:solidFill>
            <a:srgbClr val="FBEFEA"/>
          </a:solidFill>
          <a:ln/>
        </p:spPr>
      </p:sp>
      <p:pic>
        <p:nvPicPr>
          <p:cNvPr id="17" name="Image 2" descr="preencoded.png">    </p:cNvPr>
          <p:cNvPicPr>
            <a:picLocks noChangeAspect="1"/>
          </p:cNvPicPr>
          <p:nvPr/>
        </p:nvPicPr>
        <p:blipFill>
          <a:blip r:embed="rId3"/>
          <a:stretch>
            <a:fillRect/>
          </a:stretch>
        </p:blipFill>
        <p:spPr>
          <a:xfrm>
            <a:off x="8560613" y="2571293"/>
            <a:ext cx="435254" cy="435254"/>
          </a:xfrm>
          <a:prstGeom prst="rect">
            <a:avLst/>
          </a:prstGeom>
        </p:spPr>
      </p:pic>
      <p:sp>
        <p:nvSpPr>
          <p:cNvPr id="18" name="Text 13"/>
          <p:cNvSpPr/>
          <p:nvPr/>
        </p:nvSpPr>
        <p:spPr>
          <a:xfrm>
            <a:off x="8458200" y="3291840"/>
            <a:ext cx="2880360" cy="457200"/>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Dự báo thời gian thực</a:t>
            </a:r>
            <a:endParaRPr lang="en-US" sz="1450" dirty="0"/>
          </a:p>
        </p:txBody>
      </p:sp>
      <p:sp>
        <p:nvSpPr>
          <p:cNvPr id="19" name="Text 14"/>
          <p:cNvSpPr/>
          <p:nvPr/>
        </p:nvSpPr>
        <p:spPr>
          <a:xfrm>
            <a:off x="8458200" y="3794760"/>
            <a:ext cx="2880360" cy="1691640"/>
          </a:xfrm>
          <a:prstGeom prst="rect">
            <a:avLst/>
          </a:prstGeom>
          <a:noFill/>
          <a:ln/>
        </p:spPr>
        <p:txBody>
          <a:bodyPr wrap="square" lIns="0" tIns="0" rIns="0" bIns="0" rtlCol="0" anchor="ctr"/>
          <a:lstStyle/>
          <a:p>
            <a:pPr indent="0" marL="0">
              <a:lnSpc>
                <a:spcPts val="1600"/>
              </a:lnSpc>
              <a:buNone/>
            </a:pPr>
            <a:r>
              <a:rPr lang="en-US" sz="1150" dirty="0">
                <a:solidFill>
                  <a:srgbClr val="5B6B85"/>
                </a:solidFill>
                <a:latin typeface="Calibri" pitchFamily="34" charset="0"/>
                <a:ea typeface="Calibri" pitchFamily="34" charset="-122"/>
                <a:cs typeface="Calibri" pitchFamily="34" charset="-120"/>
              </a:rPr>
              <a:t>Mã hóa an toàn dữ liệu đầu vào, đưa vào mô hình .pkl đã huấn luyện để trả về giá dự đoán ngay lập tức.</a:t>
            </a:r>
            <a:endParaRPr lang="en-US" sz="1150" dirty="0"/>
          </a:p>
        </p:txBody>
      </p:sp>
      <p:sp>
        <p:nvSpPr>
          <p:cNvPr id="20" name="Shape 15"/>
          <p:cNvSpPr/>
          <p:nvPr/>
        </p:nvSpPr>
        <p:spPr>
          <a:xfrm>
            <a:off x="548640" y="5852160"/>
            <a:ext cx="11091672" cy="548640"/>
          </a:xfrm>
          <a:prstGeom prst="roundRect">
            <a:avLst>
              <a:gd name="adj" fmla="val 10000"/>
            </a:avLst>
          </a:prstGeom>
          <a:solidFill>
            <a:srgbClr val="EFE7DD"/>
          </a:solidFill>
          <a:ln/>
        </p:spPr>
      </p:sp>
      <p:sp>
        <p:nvSpPr>
          <p:cNvPr id="21" name="Text 16"/>
          <p:cNvSpPr/>
          <p:nvPr/>
        </p:nvSpPr>
        <p:spPr>
          <a:xfrm>
            <a:off x="777240" y="5852160"/>
            <a:ext cx="10607040" cy="54864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Tích hợp cơ chế dự phòng try...except — nội suy giá theo đơn giá m² khu vực nếu mô hình gặp lỗi, đảm bảo ứng dụng luôn vận hành ổn định.</a:t>
            </a:r>
            <a:endParaRPr lang="en-US" sz="1150" dirty="0"/>
          </a:p>
        </p:txBody>
      </p:sp>
      <p:sp>
        <p:nvSpPr>
          <p:cNvPr id="22" name="Text 1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C0654A"/>
                </a:solidFill>
                <a:latin typeface="Calibri" pitchFamily="34" charset="0"/>
                <a:ea typeface="Calibri" pitchFamily="34" charset="-122"/>
                <a:cs typeface="Calibri" pitchFamily="34" charset="-120"/>
              </a:rPr>
              <a:t>PHẦN 3 · KẾT QUẢ THỰC NGHIỆM</a:t>
            </a:r>
            <a:endParaRPr lang="en-US" sz="1200" dirty="0"/>
          </a:p>
        </p:txBody>
      </p:sp>
      <p:sp>
        <p:nvSpPr>
          <p:cNvPr id="3" name="Text 1"/>
          <p:cNvSpPr/>
          <p:nvPr/>
        </p:nvSpPr>
        <p:spPr>
          <a:xfrm>
            <a:off x="548640" y="658368"/>
            <a:ext cx="1078992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Kết quả phân tích dữ liệu (1/2)</a:t>
            </a:r>
            <a:endParaRPr lang="en-US" sz="3000" dirty="0"/>
          </a:p>
        </p:txBody>
      </p:sp>
      <p:sp>
        <p:nvSpPr>
          <p:cNvPr id="4" name="Shape 2"/>
          <p:cNvSpPr/>
          <p:nvPr/>
        </p:nvSpPr>
        <p:spPr>
          <a:xfrm>
            <a:off x="548640" y="1691640"/>
            <a:ext cx="3520440" cy="3246120"/>
          </a:xfrm>
          <a:prstGeom prst="roundRect">
            <a:avLst>
              <a:gd name="adj" fmla="val 2254"/>
            </a:avLst>
          </a:prstGeom>
          <a:solidFill>
            <a:srgbClr val="FFFFFF"/>
          </a:solidFill>
          <a:ln/>
          <a:effectLst>
            <a:outerShdw sx="100000" sy="100000" kx="0" ky="0" algn="bl" rotWithShape="0" blurRad="101600" dist="25400" dir="5400000">
              <a:srgbClr val="000000">
                <a:alpha val="8000"/>
              </a:srgbClr>
            </a:outerShdw>
          </a:effectLst>
        </p:spPr>
      </p:sp>
      <p:sp>
        <p:nvSpPr>
          <p:cNvPr id="5" name="Text 3"/>
          <p:cNvSpPr/>
          <p:nvPr/>
        </p:nvSpPr>
        <p:spPr>
          <a:xfrm>
            <a:off x="777240" y="1874520"/>
            <a:ext cx="1188720" cy="502920"/>
          </a:xfrm>
          <a:prstGeom prst="rect">
            <a:avLst/>
          </a:prstGeom>
          <a:noFill/>
          <a:ln/>
        </p:spPr>
        <p:txBody>
          <a:bodyPr wrap="square" lIns="0" tIns="0" rIns="0" bIns="0" rtlCol="0" anchor="ctr"/>
          <a:lstStyle/>
          <a:p>
            <a:pPr indent="0" marL="0">
              <a:buNone/>
            </a:pPr>
            <a:r>
              <a:rPr lang="en-US" sz="2200" b="1" dirty="0">
                <a:solidFill>
                  <a:srgbClr val="E3DCD2"/>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777240" y="2350008"/>
            <a:ext cx="3063240" cy="822960"/>
          </a:xfrm>
          <a:prstGeom prst="rect">
            <a:avLst/>
          </a:prstGeom>
          <a:noFill/>
          <a:ln/>
        </p:spPr>
        <p:txBody>
          <a:bodyPr wrap="square" lIns="0" tIns="0" rIns="0" bIns="0" rtlCol="0" anchor="ctr"/>
          <a:lstStyle/>
          <a:p>
            <a:pPr indent="0" marL="0">
              <a:lnSpc>
                <a:spcPts val="1600"/>
              </a:lnSpc>
              <a:buNone/>
            </a:pPr>
            <a:r>
              <a:rPr lang="en-US" sz="1350" b="1" dirty="0">
                <a:solidFill>
                  <a:srgbClr val="1B2A4A"/>
                </a:solidFill>
                <a:latin typeface="Cambria" pitchFamily="34" charset="0"/>
                <a:ea typeface="Cambria" pitchFamily="34" charset="-122"/>
                <a:cs typeface="Cambria" pitchFamily="34" charset="-120"/>
              </a:rPr>
              <a:t>Mật độ giá theo Quận/Huyện</a:t>
            </a:r>
            <a:endParaRPr lang="en-US" sz="1350" dirty="0"/>
          </a:p>
        </p:txBody>
      </p:sp>
      <p:sp>
        <p:nvSpPr>
          <p:cNvPr id="7" name="Shape 5"/>
          <p:cNvSpPr/>
          <p:nvPr/>
        </p:nvSpPr>
        <p:spPr>
          <a:xfrm>
            <a:off x="777240" y="3200400"/>
            <a:ext cx="3063240" cy="0"/>
          </a:xfrm>
          <a:prstGeom prst="line">
            <a:avLst/>
          </a:prstGeom>
          <a:noFill/>
          <a:ln w="12700">
            <a:solidFill>
              <a:srgbClr val="ECE5D8"/>
            </a:solidFill>
            <a:prstDash val="solid"/>
          </a:ln>
        </p:spPr>
      </p:sp>
      <p:sp>
        <p:nvSpPr>
          <p:cNvPr id="8" name="Text 6"/>
          <p:cNvSpPr/>
          <p:nvPr/>
        </p:nvSpPr>
        <p:spPr>
          <a:xfrm>
            <a:off x="777240" y="3337560"/>
            <a:ext cx="3063240" cy="1508760"/>
          </a:xfrm>
          <a:prstGeom prst="rect">
            <a:avLst/>
          </a:prstGeom>
          <a:noFill/>
          <a:ln/>
        </p:spPr>
        <p:txBody>
          <a:bodyPr wrap="square" lIns="0" tIns="0" rIns="0" bIns="0" rtlCol="0" anchor="ctr"/>
          <a:lstStyle/>
          <a:p>
            <a:pPr indent="0" marL="0">
              <a:lnSpc>
                <a:spcPts val="1550"/>
              </a:lnSpc>
              <a:buNone/>
            </a:pPr>
            <a:r>
              <a:rPr lang="en-US" sz="1120" dirty="0">
                <a:solidFill>
                  <a:srgbClr val="5B6B85"/>
                </a:solidFill>
                <a:latin typeface="Calibri" pitchFamily="34" charset="0"/>
                <a:ea typeface="Calibri" pitchFamily="34" charset="-122"/>
                <a:cs typeface="Calibri" pitchFamily="34" charset="-120"/>
              </a:rPr>
              <a:t>Quận trung tâm: mật độ tin đăng dày, giá trung bình cao vượt trội. Huyện ngoại thành: mật độ thưa, giá ổn định và mềm hơn.</a:t>
            </a:r>
            <a:endParaRPr lang="en-US" sz="1120" dirty="0"/>
          </a:p>
        </p:txBody>
      </p:sp>
      <p:sp>
        <p:nvSpPr>
          <p:cNvPr id="9" name="Shape 7"/>
          <p:cNvSpPr/>
          <p:nvPr/>
        </p:nvSpPr>
        <p:spPr>
          <a:xfrm>
            <a:off x="4343400" y="1691640"/>
            <a:ext cx="3520440" cy="3246120"/>
          </a:xfrm>
          <a:prstGeom prst="roundRect">
            <a:avLst>
              <a:gd name="adj" fmla="val 2254"/>
            </a:avLst>
          </a:prstGeom>
          <a:solidFill>
            <a:srgbClr val="FFFFFF"/>
          </a:solidFill>
          <a:ln/>
          <a:effectLst>
            <a:outerShdw sx="100000" sy="100000" kx="0" ky="0" algn="bl" rotWithShape="0" blurRad="101600" dist="25400" dir="5400000">
              <a:srgbClr val="000000">
                <a:alpha val="8000"/>
              </a:srgbClr>
            </a:outerShdw>
          </a:effectLst>
        </p:spPr>
      </p:sp>
      <p:sp>
        <p:nvSpPr>
          <p:cNvPr id="10" name="Text 8"/>
          <p:cNvSpPr/>
          <p:nvPr/>
        </p:nvSpPr>
        <p:spPr>
          <a:xfrm>
            <a:off x="4572000" y="1874520"/>
            <a:ext cx="1188720" cy="502920"/>
          </a:xfrm>
          <a:prstGeom prst="rect">
            <a:avLst/>
          </a:prstGeom>
          <a:noFill/>
          <a:ln/>
        </p:spPr>
        <p:txBody>
          <a:bodyPr wrap="square" lIns="0" tIns="0" rIns="0" bIns="0" rtlCol="0" anchor="ctr"/>
          <a:lstStyle/>
          <a:p>
            <a:pPr indent="0" marL="0">
              <a:buNone/>
            </a:pPr>
            <a:r>
              <a:rPr lang="en-US" sz="2200" b="1" dirty="0">
                <a:solidFill>
                  <a:srgbClr val="E3DCD2"/>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4572000" y="2350008"/>
            <a:ext cx="3063240" cy="822960"/>
          </a:xfrm>
          <a:prstGeom prst="rect">
            <a:avLst/>
          </a:prstGeom>
          <a:noFill/>
          <a:ln/>
        </p:spPr>
        <p:txBody>
          <a:bodyPr wrap="square" lIns="0" tIns="0" rIns="0" bIns="0" rtlCol="0" anchor="ctr"/>
          <a:lstStyle/>
          <a:p>
            <a:pPr indent="0" marL="0">
              <a:lnSpc>
                <a:spcPts val="1600"/>
              </a:lnSpc>
              <a:buNone/>
            </a:pPr>
            <a:r>
              <a:rPr lang="en-US" sz="1350" b="1" dirty="0">
                <a:solidFill>
                  <a:srgbClr val="1B2A4A"/>
                </a:solidFill>
                <a:latin typeface="Cambria" pitchFamily="34" charset="0"/>
                <a:ea typeface="Cambria" pitchFamily="34" charset="-122"/>
                <a:cs typeface="Cambria" pitchFamily="34" charset="-120"/>
              </a:rPr>
              <a:t>Yếu tố ảnh hưởng mạnh nhất đến giá</a:t>
            </a:r>
            <a:endParaRPr lang="en-US" sz="1350" dirty="0"/>
          </a:p>
        </p:txBody>
      </p:sp>
      <p:sp>
        <p:nvSpPr>
          <p:cNvPr id="12" name="Shape 10"/>
          <p:cNvSpPr/>
          <p:nvPr/>
        </p:nvSpPr>
        <p:spPr>
          <a:xfrm>
            <a:off x="4572000" y="3200400"/>
            <a:ext cx="3063240" cy="0"/>
          </a:xfrm>
          <a:prstGeom prst="line">
            <a:avLst/>
          </a:prstGeom>
          <a:noFill/>
          <a:ln w="12700">
            <a:solidFill>
              <a:srgbClr val="ECE5D8"/>
            </a:solidFill>
            <a:prstDash val="solid"/>
          </a:ln>
        </p:spPr>
      </p:sp>
      <p:sp>
        <p:nvSpPr>
          <p:cNvPr id="13" name="Text 11"/>
          <p:cNvSpPr/>
          <p:nvPr/>
        </p:nvSpPr>
        <p:spPr>
          <a:xfrm>
            <a:off x="4572000" y="3337560"/>
            <a:ext cx="3063240" cy="1508760"/>
          </a:xfrm>
          <a:prstGeom prst="rect">
            <a:avLst/>
          </a:prstGeom>
          <a:noFill/>
          <a:ln/>
        </p:spPr>
        <p:txBody>
          <a:bodyPr wrap="square" lIns="0" tIns="0" rIns="0" bIns="0" rtlCol="0" anchor="ctr"/>
          <a:lstStyle/>
          <a:p>
            <a:pPr indent="0" marL="0">
              <a:lnSpc>
                <a:spcPts val="1550"/>
              </a:lnSpc>
              <a:buNone/>
            </a:pPr>
            <a:r>
              <a:rPr lang="en-US" sz="1120" dirty="0">
                <a:solidFill>
                  <a:srgbClr val="5B6B85"/>
                </a:solidFill>
                <a:latin typeface="Calibri" pitchFamily="34" charset="0"/>
                <a:ea typeface="Calibri" pitchFamily="34" charset="-122"/>
                <a:cs typeface="Calibri" pitchFamily="34" charset="-120"/>
              </a:rPr>
              <a:t>Hệ số tương quan: Diện tích đạt r = 0.75, cao hơn hẳn Số phòng ngủ (r = 0.42) → Diện tích là yếu tố tác động mạnh nhất.</a:t>
            </a:r>
            <a:endParaRPr lang="en-US" sz="1120" dirty="0"/>
          </a:p>
        </p:txBody>
      </p:sp>
      <p:sp>
        <p:nvSpPr>
          <p:cNvPr id="14" name="Shape 12"/>
          <p:cNvSpPr/>
          <p:nvPr/>
        </p:nvSpPr>
        <p:spPr>
          <a:xfrm>
            <a:off x="8138160" y="1691640"/>
            <a:ext cx="3520440" cy="3246120"/>
          </a:xfrm>
          <a:prstGeom prst="roundRect">
            <a:avLst>
              <a:gd name="adj" fmla="val 2254"/>
            </a:avLst>
          </a:prstGeom>
          <a:solidFill>
            <a:srgbClr val="FFFFFF"/>
          </a:solidFill>
          <a:ln/>
          <a:effectLst>
            <a:outerShdw sx="100000" sy="100000" kx="0" ky="0" algn="bl" rotWithShape="0" blurRad="101600" dist="25400" dir="5400000">
              <a:srgbClr val="000000">
                <a:alpha val="8000"/>
              </a:srgbClr>
            </a:outerShdw>
          </a:effectLst>
        </p:spPr>
      </p:sp>
      <p:sp>
        <p:nvSpPr>
          <p:cNvPr id="15" name="Text 13"/>
          <p:cNvSpPr/>
          <p:nvPr/>
        </p:nvSpPr>
        <p:spPr>
          <a:xfrm>
            <a:off x="8366760" y="1874520"/>
            <a:ext cx="1188720" cy="502920"/>
          </a:xfrm>
          <a:prstGeom prst="rect">
            <a:avLst/>
          </a:prstGeom>
          <a:noFill/>
          <a:ln/>
        </p:spPr>
        <p:txBody>
          <a:bodyPr wrap="square" lIns="0" tIns="0" rIns="0" bIns="0" rtlCol="0" anchor="ctr"/>
          <a:lstStyle/>
          <a:p>
            <a:pPr indent="0" marL="0">
              <a:buNone/>
            </a:pPr>
            <a:r>
              <a:rPr lang="en-US" sz="2200" b="1" dirty="0">
                <a:solidFill>
                  <a:srgbClr val="E3DCD2"/>
                </a:solidFill>
                <a:latin typeface="Cambria" pitchFamily="34" charset="0"/>
                <a:ea typeface="Cambria" pitchFamily="34" charset="-122"/>
                <a:cs typeface="Cambria" pitchFamily="34" charset="-120"/>
              </a:rPr>
              <a:t>03</a:t>
            </a:r>
            <a:endParaRPr lang="en-US" sz="2200" dirty="0"/>
          </a:p>
        </p:txBody>
      </p:sp>
      <p:sp>
        <p:nvSpPr>
          <p:cNvPr id="16" name="Text 14"/>
          <p:cNvSpPr/>
          <p:nvPr/>
        </p:nvSpPr>
        <p:spPr>
          <a:xfrm>
            <a:off x="8366760" y="2350008"/>
            <a:ext cx="3063240" cy="822960"/>
          </a:xfrm>
          <a:prstGeom prst="rect">
            <a:avLst/>
          </a:prstGeom>
          <a:noFill/>
          <a:ln/>
        </p:spPr>
        <p:txBody>
          <a:bodyPr wrap="square" lIns="0" tIns="0" rIns="0" bIns="0" rtlCol="0" anchor="ctr"/>
          <a:lstStyle/>
          <a:p>
            <a:pPr indent="0" marL="0">
              <a:lnSpc>
                <a:spcPts val="1600"/>
              </a:lnSpc>
              <a:buNone/>
            </a:pPr>
            <a:r>
              <a:rPr lang="en-US" sz="1350" b="1" dirty="0">
                <a:solidFill>
                  <a:srgbClr val="1B2A4A"/>
                </a:solidFill>
                <a:latin typeface="Cambria" pitchFamily="34" charset="0"/>
                <a:ea typeface="Cambria" pitchFamily="34" charset="-122"/>
                <a:cs typeface="Cambria" pitchFamily="34" charset="-120"/>
              </a:rPr>
              <a:t>Tỷ trọng loại hình BĐS</a:t>
            </a:r>
            <a:endParaRPr lang="en-US" sz="1350" dirty="0"/>
          </a:p>
        </p:txBody>
      </p:sp>
      <p:sp>
        <p:nvSpPr>
          <p:cNvPr id="17" name="Shape 15"/>
          <p:cNvSpPr/>
          <p:nvPr/>
        </p:nvSpPr>
        <p:spPr>
          <a:xfrm>
            <a:off x="8366760" y="3200400"/>
            <a:ext cx="3063240" cy="0"/>
          </a:xfrm>
          <a:prstGeom prst="line">
            <a:avLst/>
          </a:prstGeom>
          <a:noFill/>
          <a:ln w="12700">
            <a:solidFill>
              <a:srgbClr val="ECE5D8"/>
            </a:solidFill>
            <a:prstDash val="solid"/>
          </a:ln>
        </p:spPr>
      </p:sp>
      <p:sp>
        <p:nvSpPr>
          <p:cNvPr id="18" name="Text 16"/>
          <p:cNvSpPr/>
          <p:nvPr/>
        </p:nvSpPr>
        <p:spPr>
          <a:xfrm>
            <a:off x="8366760" y="3337560"/>
            <a:ext cx="3063240" cy="1508760"/>
          </a:xfrm>
          <a:prstGeom prst="rect">
            <a:avLst/>
          </a:prstGeom>
          <a:noFill/>
          <a:ln/>
        </p:spPr>
        <p:txBody>
          <a:bodyPr wrap="square" lIns="0" tIns="0" rIns="0" bIns="0" rtlCol="0" anchor="ctr"/>
          <a:lstStyle/>
          <a:p>
            <a:pPr indent="0" marL="0">
              <a:lnSpc>
                <a:spcPts val="1550"/>
              </a:lnSpc>
              <a:buNone/>
            </a:pPr>
            <a:r>
              <a:rPr lang="en-US" sz="1120" dirty="0">
                <a:solidFill>
                  <a:srgbClr val="5B6B85"/>
                </a:solidFill>
                <a:latin typeface="Calibri" pitchFamily="34" charset="0"/>
                <a:ea typeface="Calibri" pitchFamily="34" charset="-122"/>
                <a:cs typeface="Calibri" pitchFamily="34" charset="-120"/>
              </a:rPr>
              <a:t>Nhà đất thổ cư / Chung cư chiếm tỷ trọng áp đảo; Nhà mặt phố chiếm tỷ lệ nhỏ do khan hiếm và giá trị cao.</a:t>
            </a:r>
            <a:endParaRPr lang="en-US" sz="1120" dirty="0"/>
          </a:p>
        </p:txBody>
      </p:sp>
      <p:sp>
        <p:nvSpPr>
          <p:cNvPr id="19" name="Shape 17"/>
          <p:cNvSpPr/>
          <p:nvPr/>
        </p:nvSpPr>
        <p:spPr>
          <a:xfrm>
            <a:off x="548640" y="5166360"/>
            <a:ext cx="11091672" cy="960120"/>
          </a:xfrm>
          <a:prstGeom prst="roundRect">
            <a:avLst>
              <a:gd name="adj" fmla="val 7619"/>
            </a:avLst>
          </a:prstGeom>
          <a:solidFill>
            <a:srgbClr val="1B2A4A"/>
          </a:solidFill>
          <a:ln/>
        </p:spPr>
      </p:sp>
      <p:sp>
        <p:nvSpPr>
          <p:cNvPr id="20" name="Text 18"/>
          <p:cNvSpPr/>
          <p:nvPr/>
        </p:nvSpPr>
        <p:spPr>
          <a:xfrm>
            <a:off x="777240" y="5303520"/>
            <a:ext cx="2743200" cy="320040"/>
          </a:xfrm>
          <a:prstGeom prst="rect">
            <a:avLst/>
          </a:prstGeom>
          <a:noFill/>
          <a:ln/>
        </p:spPr>
        <p:txBody>
          <a:bodyPr wrap="square" lIns="0" tIns="0" rIns="0" bIns="0" rtlCol="0" anchor="ctr"/>
          <a:lstStyle/>
          <a:p>
            <a:pPr indent="0" marL="0">
              <a:buNone/>
            </a:pPr>
            <a:r>
              <a:rPr lang="en-US" sz="1150" b="1" dirty="0">
                <a:solidFill>
                  <a:srgbClr val="C0654A"/>
                </a:solidFill>
                <a:latin typeface="Calibri" pitchFamily="34" charset="0"/>
                <a:ea typeface="Calibri" pitchFamily="34" charset="-122"/>
                <a:cs typeface="Calibri" pitchFamily="34" charset="-120"/>
              </a:rPr>
              <a:t>Môi trường thực nghiệm:</a:t>
            </a:r>
            <a:endParaRPr lang="en-US" sz="1150" dirty="0"/>
          </a:p>
        </p:txBody>
      </p:sp>
      <p:sp>
        <p:nvSpPr>
          <p:cNvPr id="21" name="Text 19"/>
          <p:cNvSpPr/>
          <p:nvPr/>
        </p:nvSpPr>
        <p:spPr>
          <a:xfrm>
            <a:off x="777240" y="5577840"/>
            <a:ext cx="10607040" cy="411480"/>
          </a:xfrm>
          <a:prstGeom prst="rect">
            <a:avLst/>
          </a:prstGeom>
          <a:noFill/>
          <a:ln/>
        </p:spPr>
        <p:txBody>
          <a:bodyPr wrap="square" lIns="0" tIns="0" rIns="0" bIns="0" rtlCol="0" anchor="ctr"/>
          <a:lstStyle/>
          <a:p>
            <a:pPr indent="0" marL="0">
              <a:buNone/>
            </a:pPr>
            <a:r>
              <a:rPr lang="en-US" sz="1200" dirty="0">
                <a:solidFill>
                  <a:srgbClr val="E8ECF7"/>
                </a:solidFill>
                <a:latin typeface="Calibri" pitchFamily="34" charset="0"/>
                <a:ea typeface="Calibri" pitchFamily="34" charset="-122"/>
                <a:cs typeface="Calibri" pitchFamily="34" charset="-120"/>
              </a:rPr>
              <a:t>Python 3.x · Jupyter Notebook · Pandas · NumPy · Matplotlib · Seaborn · Scikit-learn · XGBoost</a:t>
            </a:r>
            <a:endParaRPr lang="en-US" sz="1200" dirty="0"/>
          </a:p>
        </p:txBody>
      </p:sp>
      <p:sp>
        <p:nvSpPr>
          <p:cNvPr id="22" name="Text 20"/>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C0654A"/>
                </a:solidFill>
                <a:latin typeface="Calibri" pitchFamily="34" charset="0"/>
                <a:ea typeface="Calibri" pitchFamily="34" charset="-122"/>
                <a:cs typeface="Calibri" pitchFamily="34" charset="-120"/>
              </a:rPr>
              <a:t>PHẦN 3 · KẾT QUẢ THỰC NGHIỆM</a:t>
            </a:r>
            <a:endParaRPr lang="en-US" sz="1200" dirty="0"/>
          </a:p>
        </p:txBody>
      </p:sp>
      <p:sp>
        <p:nvSpPr>
          <p:cNvPr id="3" name="Text 1"/>
          <p:cNvSpPr/>
          <p:nvPr/>
        </p:nvSpPr>
        <p:spPr>
          <a:xfrm>
            <a:off x="548640" y="658368"/>
            <a:ext cx="1078992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Kết quả phân tích dữ liệu (2/2)</a:t>
            </a:r>
            <a:endParaRPr lang="en-US" sz="3000" dirty="0"/>
          </a:p>
        </p:txBody>
      </p:sp>
      <p:sp>
        <p:nvSpPr>
          <p:cNvPr id="4" name="Shape 2"/>
          <p:cNvSpPr/>
          <p:nvPr/>
        </p:nvSpPr>
        <p:spPr>
          <a:xfrm>
            <a:off x="548640" y="1691640"/>
            <a:ext cx="5440680" cy="4434840"/>
          </a:xfrm>
          <a:prstGeom prst="roundRect">
            <a:avLst>
              <a:gd name="adj" fmla="val 1649"/>
            </a:avLst>
          </a:prstGeom>
          <a:solidFill>
            <a:srgbClr val="1B2A4A"/>
          </a:solidFill>
          <a:ln/>
          <a:effectLst>
            <a:outerShdw sx="100000" sy="100000" kx="0" ky="0" algn="bl" rotWithShape="0" blurRad="127000" dist="38100" dir="5400000">
              <a:srgbClr val="000000">
                <a:alpha val="18000"/>
              </a:srgbClr>
            </a:outerShdw>
          </a:effectLst>
        </p:spPr>
      </p:sp>
      <p:sp>
        <p:nvSpPr>
          <p:cNvPr id="5" name="Shape 3"/>
          <p:cNvSpPr/>
          <p:nvPr/>
        </p:nvSpPr>
        <p:spPr>
          <a:xfrm>
            <a:off x="868680" y="1965960"/>
            <a:ext cx="548640" cy="548640"/>
          </a:xfrm>
          <a:prstGeom prst="ellipse">
            <a:avLst/>
          </a:prstGeom>
          <a:solidFill>
            <a:srgbClr val="C0654A"/>
          </a:solidFill>
          <a:ln/>
        </p:spPr>
      </p:sp>
      <p:pic>
        <p:nvPicPr>
          <p:cNvPr id="6" name="Image 0" descr="preencoded.png">    </p:cNvPr>
          <p:cNvPicPr>
            <a:picLocks noChangeAspect="1"/>
          </p:cNvPicPr>
          <p:nvPr/>
        </p:nvPicPr>
        <p:blipFill>
          <a:blip r:embed="rId1"/>
          <a:stretch>
            <a:fillRect/>
          </a:stretch>
        </p:blipFill>
        <p:spPr>
          <a:xfrm>
            <a:off x="950976" y="2048256"/>
            <a:ext cx="384048" cy="384048"/>
          </a:xfrm>
          <a:prstGeom prst="rect">
            <a:avLst/>
          </a:prstGeom>
        </p:spPr>
      </p:pic>
      <p:sp>
        <p:nvSpPr>
          <p:cNvPr id="7" name="Text 4"/>
          <p:cNvSpPr/>
          <p:nvPr/>
        </p:nvSpPr>
        <p:spPr>
          <a:xfrm>
            <a:off x="1554480" y="2029968"/>
            <a:ext cx="4297680" cy="548640"/>
          </a:xfrm>
          <a:prstGeom prst="rect">
            <a:avLst/>
          </a:prstGeom>
          <a:noFill/>
          <a:ln/>
        </p:spPr>
        <p:txBody>
          <a:bodyPr wrap="square" lIns="0" tIns="0" rIns="0" bIns="0" rtlCol="0" anchor="ctr"/>
          <a:lstStyle/>
          <a:p>
            <a:pPr indent="0" marL="0">
              <a:lnSpc>
                <a:spcPts val="1700"/>
              </a:lnSpc>
              <a:buNone/>
            </a:pPr>
            <a:r>
              <a:rPr lang="en-US" sz="1550" b="1" dirty="0">
                <a:solidFill>
                  <a:srgbClr val="FFFFFF"/>
                </a:solidFill>
                <a:latin typeface="Cambria" pitchFamily="34" charset="0"/>
                <a:ea typeface="Cambria" pitchFamily="34" charset="-122"/>
                <a:cs typeface="Cambria" pitchFamily="34" charset="-120"/>
              </a:rPr>
              <a:t>Ảnh hưởng của Hướng nhà</a:t>
            </a:r>
            <a:endParaRPr lang="en-US" sz="1550" dirty="0"/>
          </a:p>
        </p:txBody>
      </p:sp>
      <p:sp>
        <p:nvSpPr>
          <p:cNvPr id="8" name="Text 5"/>
          <p:cNvSpPr/>
          <p:nvPr/>
        </p:nvSpPr>
        <p:spPr>
          <a:xfrm>
            <a:off x="868680" y="2697480"/>
            <a:ext cx="4846320" cy="1737360"/>
          </a:xfrm>
          <a:prstGeom prst="rect">
            <a:avLst/>
          </a:prstGeom>
          <a:noFill/>
          <a:ln/>
        </p:spPr>
        <p:txBody>
          <a:bodyPr wrap="square" lIns="0" tIns="0" rIns="0" bIns="0" rtlCol="0" anchor="ctr"/>
          <a:lstStyle/>
          <a:p>
            <a:pPr indent="0" marL="0">
              <a:lnSpc>
                <a:spcPts val="1700"/>
              </a:lnSpc>
              <a:buNone/>
            </a:pPr>
            <a:r>
              <a:rPr lang="en-US" sz="1250" dirty="0">
                <a:solidFill>
                  <a:srgbClr val="E8ECF7"/>
                </a:solidFill>
                <a:latin typeface="Calibri" pitchFamily="34" charset="0"/>
                <a:ea typeface="Calibri" pitchFamily="34" charset="-122"/>
                <a:cs typeface="Calibri" pitchFamily="34" charset="-120"/>
              </a:rPr>
              <a:t>Hướng nhà tạo ra chênh lệch rõ rệt về giá và lượt tương tác. BĐS hướng Nam và Đông Nam — mát mẻ, hợp khí hậu Việt Nam — ghi nhận mức giá nhỉnh hơn và được quan tâm vượt trội từ người dùng.</a:t>
            </a:r>
            <a:endParaRPr lang="en-US" sz="1250" dirty="0"/>
          </a:p>
        </p:txBody>
      </p:sp>
      <p:sp>
        <p:nvSpPr>
          <p:cNvPr id="9" name="Shape 6"/>
          <p:cNvSpPr/>
          <p:nvPr/>
        </p:nvSpPr>
        <p:spPr>
          <a:xfrm>
            <a:off x="868680" y="5120640"/>
            <a:ext cx="868680" cy="457200"/>
          </a:xfrm>
          <a:prstGeom prst="roundRect">
            <a:avLst>
              <a:gd name="adj" fmla="val 50000"/>
            </a:avLst>
          </a:prstGeom>
          <a:solidFill>
            <a:srgbClr val="121D33"/>
          </a:solidFill>
          <a:ln/>
        </p:spPr>
      </p:sp>
      <p:sp>
        <p:nvSpPr>
          <p:cNvPr id="10" name="Text 7"/>
          <p:cNvSpPr/>
          <p:nvPr/>
        </p:nvSpPr>
        <p:spPr>
          <a:xfrm>
            <a:off x="868680" y="5120640"/>
            <a:ext cx="868680"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Đông</a:t>
            </a:r>
            <a:endParaRPr lang="en-US" sz="950" dirty="0"/>
          </a:p>
        </p:txBody>
      </p:sp>
      <p:sp>
        <p:nvSpPr>
          <p:cNvPr id="11" name="Shape 8"/>
          <p:cNvSpPr/>
          <p:nvPr/>
        </p:nvSpPr>
        <p:spPr>
          <a:xfrm>
            <a:off x="1828800" y="5120640"/>
            <a:ext cx="868680" cy="457200"/>
          </a:xfrm>
          <a:prstGeom prst="roundRect">
            <a:avLst>
              <a:gd name="adj" fmla="val 50000"/>
            </a:avLst>
          </a:prstGeom>
          <a:solidFill>
            <a:srgbClr val="121D33"/>
          </a:solidFill>
          <a:ln/>
        </p:spPr>
      </p:sp>
      <p:sp>
        <p:nvSpPr>
          <p:cNvPr id="12" name="Text 9"/>
          <p:cNvSpPr/>
          <p:nvPr/>
        </p:nvSpPr>
        <p:spPr>
          <a:xfrm>
            <a:off x="1828800" y="5120640"/>
            <a:ext cx="868680"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Tây</a:t>
            </a:r>
            <a:endParaRPr lang="en-US" sz="950" dirty="0"/>
          </a:p>
        </p:txBody>
      </p:sp>
      <p:sp>
        <p:nvSpPr>
          <p:cNvPr id="13" name="Shape 10"/>
          <p:cNvSpPr/>
          <p:nvPr/>
        </p:nvSpPr>
        <p:spPr>
          <a:xfrm>
            <a:off x="2788920" y="5120640"/>
            <a:ext cx="868680" cy="457200"/>
          </a:xfrm>
          <a:prstGeom prst="roundRect">
            <a:avLst>
              <a:gd name="adj" fmla="val 50000"/>
            </a:avLst>
          </a:prstGeom>
          <a:solidFill>
            <a:srgbClr val="C0654A"/>
          </a:solidFill>
          <a:ln/>
        </p:spPr>
      </p:sp>
      <p:sp>
        <p:nvSpPr>
          <p:cNvPr id="14" name="Text 11"/>
          <p:cNvSpPr/>
          <p:nvPr/>
        </p:nvSpPr>
        <p:spPr>
          <a:xfrm>
            <a:off x="2788920" y="5120640"/>
            <a:ext cx="86868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Nam</a:t>
            </a:r>
            <a:endParaRPr lang="en-US" sz="950" dirty="0"/>
          </a:p>
        </p:txBody>
      </p:sp>
      <p:sp>
        <p:nvSpPr>
          <p:cNvPr id="15" name="Shape 12"/>
          <p:cNvSpPr/>
          <p:nvPr/>
        </p:nvSpPr>
        <p:spPr>
          <a:xfrm>
            <a:off x="3749040" y="5120640"/>
            <a:ext cx="868680" cy="457200"/>
          </a:xfrm>
          <a:prstGeom prst="roundRect">
            <a:avLst>
              <a:gd name="adj" fmla="val 50000"/>
            </a:avLst>
          </a:prstGeom>
          <a:solidFill>
            <a:srgbClr val="121D33"/>
          </a:solidFill>
          <a:ln/>
        </p:spPr>
      </p:sp>
      <p:sp>
        <p:nvSpPr>
          <p:cNvPr id="16" name="Text 13"/>
          <p:cNvSpPr/>
          <p:nvPr/>
        </p:nvSpPr>
        <p:spPr>
          <a:xfrm>
            <a:off x="3749040" y="5120640"/>
            <a:ext cx="868680"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Bắc</a:t>
            </a:r>
            <a:endParaRPr lang="en-US" sz="950" dirty="0"/>
          </a:p>
        </p:txBody>
      </p:sp>
      <p:sp>
        <p:nvSpPr>
          <p:cNvPr id="17" name="Shape 14"/>
          <p:cNvSpPr/>
          <p:nvPr/>
        </p:nvSpPr>
        <p:spPr>
          <a:xfrm>
            <a:off x="4709160" y="5120640"/>
            <a:ext cx="868680" cy="457200"/>
          </a:xfrm>
          <a:prstGeom prst="roundRect">
            <a:avLst>
              <a:gd name="adj" fmla="val 50000"/>
            </a:avLst>
          </a:prstGeom>
          <a:solidFill>
            <a:srgbClr val="C0654A"/>
          </a:solidFill>
          <a:ln/>
        </p:spPr>
      </p:sp>
      <p:sp>
        <p:nvSpPr>
          <p:cNvPr id="18" name="Text 15"/>
          <p:cNvSpPr/>
          <p:nvPr/>
        </p:nvSpPr>
        <p:spPr>
          <a:xfrm>
            <a:off x="4709160" y="5120640"/>
            <a:ext cx="86868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Đông Nam</a:t>
            </a:r>
            <a:endParaRPr lang="en-US" sz="950" dirty="0"/>
          </a:p>
        </p:txBody>
      </p:sp>
      <p:sp>
        <p:nvSpPr>
          <p:cNvPr id="19" name="Shape 16"/>
          <p:cNvSpPr/>
          <p:nvPr/>
        </p:nvSpPr>
        <p:spPr>
          <a:xfrm>
            <a:off x="6199632" y="1691640"/>
            <a:ext cx="5440680" cy="4434840"/>
          </a:xfrm>
          <a:prstGeom prst="roundRect">
            <a:avLst>
              <a:gd name="adj" fmla="val 1649"/>
            </a:avLst>
          </a:prstGeom>
          <a:solidFill>
            <a:srgbClr val="FFFFFF"/>
          </a:solidFill>
          <a:ln/>
          <a:effectLst>
            <a:outerShdw sx="100000" sy="100000" kx="0" ky="0" algn="bl" rotWithShape="0" blurRad="101600" dist="25400" dir="5400000">
              <a:srgbClr val="000000">
                <a:alpha val="8000"/>
              </a:srgbClr>
            </a:outerShdw>
          </a:effectLst>
        </p:spPr>
      </p:sp>
      <p:sp>
        <p:nvSpPr>
          <p:cNvPr id="20" name="Shape 17"/>
          <p:cNvSpPr/>
          <p:nvPr/>
        </p:nvSpPr>
        <p:spPr>
          <a:xfrm>
            <a:off x="6519672" y="1965960"/>
            <a:ext cx="548640" cy="548640"/>
          </a:xfrm>
          <a:prstGeom prst="ellipse">
            <a:avLst/>
          </a:prstGeom>
          <a:solidFill>
            <a:srgbClr val="FBEFEA"/>
          </a:solidFill>
          <a:ln/>
        </p:spPr>
      </p:sp>
      <p:pic>
        <p:nvPicPr>
          <p:cNvPr id="21" name="Image 1" descr="preencoded.png">    </p:cNvPr>
          <p:cNvPicPr>
            <a:picLocks noChangeAspect="1"/>
          </p:cNvPicPr>
          <p:nvPr/>
        </p:nvPicPr>
        <p:blipFill>
          <a:blip r:embed="rId2"/>
          <a:stretch>
            <a:fillRect/>
          </a:stretch>
        </p:blipFill>
        <p:spPr>
          <a:xfrm>
            <a:off x="6601968" y="2048256"/>
            <a:ext cx="384048" cy="384048"/>
          </a:xfrm>
          <a:prstGeom prst="rect">
            <a:avLst/>
          </a:prstGeom>
        </p:spPr>
      </p:pic>
      <p:sp>
        <p:nvSpPr>
          <p:cNvPr id="22" name="Text 18"/>
          <p:cNvSpPr/>
          <p:nvPr/>
        </p:nvSpPr>
        <p:spPr>
          <a:xfrm>
            <a:off x="7205472" y="2029968"/>
            <a:ext cx="4297680" cy="548640"/>
          </a:xfrm>
          <a:prstGeom prst="rect">
            <a:avLst/>
          </a:prstGeom>
          <a:noFill/>
          <a:ln/>
        </p:spPr>
        <p:txBody>
          <a:bodyPr wrap="square" lIns="0" tIns="0" rIns="0" bIns="0" rtlCol="0" anchor="ctr"/>
          <a:lstStyle/>
          <a:p>
            <a:pPr indent="0" marL="0">
              <a:lnSpc>
                <a:spcPts val="1700"/>
              </a:lnSpc>
              <a:buNone/>
            </a:pPr>
            <a:r>
              <a:rPr lang="en-US" sz="1450" b="1" dirty="0">
                <a:solidFill>
                  <a:srgbClr val="1B2A4A"/>
                </a:solidFill>
                <a:latin typeface="Cambria" pitchFamily="34" charset="0"/>
                <a:ea typeface="Cambria" pitchFamily="34" charset="-122"/>
                <a:cs typeface="Cambria" pitchFamily="34" charset="-120"/>
              </a:rPr>
              <a:t>Nhận diện giá trị dị biệt (Outliers)</a:t>
            </a:r>
            <a:endParaRPr lang="en-US" sz="1450" dirty="0"/>
          </a:p>
        </p:txBody>
      </p:sp>
      <p:sp>
        <p:nvSpPr>
          <p:cNvPr id="23" name="Text 19"/>
          <p:cNvSpPr/>
          <p:nvPr/>
        </p:nvSpPr>
        <p:spPr>
          <a:xfrm>
            <a:off x="6519672" y="2697480"/>
            <a:ext cx="4846320" cy="45720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Dữ liệu thô chứa khá nhiều giá trị dị biệt, tập trung chủ yếu ở hai nhóm:</a:t>
            </a:r>
            <a:endParaRPr lang="en-US" sz="1250" dirty="0"/>
          </a:p>
        </p:txBody>
      </p:sp>
      <p:sp>
        <p:nvSpPr>
          <p:cNvPr id="24" name="Text 20"/>
          <p:cNvSpPr/>
          <p:nvPr/>
        </p:nvSpPr>
        <p:spPr>
          <a:xfrm>
            <a:off x="6519672" y="3200400"/>
            <a:ext cx="4846320" cy="1463040"/>
          </a:xfrm>
          <a:prstGeom prst="rect">
            <a:avLst/>
          </a:prstGeom>
          <a:noFill/>
          <a:ln/>
        </p:spPr>
        <p:txBody>
          <a:bodyPr wrap="square" rtlCol="0" anchor="ctr"/>
          <a:lstStyle/>
          <a:p>
            <a:pPr marL="342900" indent="-342900">
              <a:lnSpc>
                <a:spcPts val="1600"/>
              </a:lnSpc>
              <a:spcAft>
                <a:spcPts val="1000"/>
              </a:spcAft>
              <a:buSzPct val="100000"/>
              <a:buChar char="•"/>
            </a:pPr>
            <a:r>
              <a:rPr lang="en-US" sz="1200" dirty="0">
                <a:solidFill>
                  <a:srgbClr val="5B6B85"/>
                </a:solidFill>
                <a:latin typeface="Calibri" pitchFamily="34" charset="0"/>
                <a:ea typeface="Calibri" pitchFamily="34" charset="-122"/>
                <a:cs typeface="Calibri" pitchFamily="34" charset="-120"/>
              </a:rPr>
              <a:t>Phân khúc Cao cấp: siêu biệt thự, nhà mặt phố lõi trung tâm — giá ảo lên đến hàng trăm tỷ</a:t>
            </a:r>
            <a:endParaRPr lang="en-US" sz="1200" dirty="0"/>
          </a:p>
          <a:p>
            <a:pPr marL="342900" indent="-342900">
              <a:lnSpc>
                <a:spcPts val="1600"/>
              </a:lnSpc>
              <a:buSzPct val="100000"/>
              <a:buChar char="•"/>
            </a:pPr>
            <a:r>
              <a:rPr lang="en-US" sz="1200" dirty="0">
                <a:solidFill>
                  <a:srgbClr val="5B6B85"/>
                </a:solidFill>
                <a:latin typeface="Calibri" pitchFamily="34" charset="0"/>
                <a:ea typeface="Calibri" pitchFamily="34" charset="-122"/>
                <a:cs typeface="Calibri" pitchFamily="34" charset="-120"/>
              </a:rPr>
              <a:t>Phân khúc lỗi nhập liệu: diện tích bằng 0 hoặc giá quá thấp</a:t>
            </a:r>
            <a:endParaRPr lang="en-US" sz="1200" dirty="0"/>
          </a:p>
        </p:txBody>
      </p:sp>
      <p:sp>
        <p:nvSpPr>
          <p:cNvPr id="25" name="Shape 21"/>
          <p:cNvSpPr/>
          <p:nvPr/>
        </p:nvSpPr>
        <p:spPr>
          <a:xfrm>
            <a:off x="6519672" y="4937760"/>
            <a:ext cx="4846320" cy="731520"/>
          </a:xfrm>
          <a:prstGeom prst="roundRect">
            <a:avLst>
              <a:gd name="adj" fmla="val 7500"/>
            </a:avLst>
          </a:prstGeom>
          <a:solidFill>
            <a:srgbClr val="EFE7DD"/>
          </a:solidFill>
          <a:ln/>
        </p:spPr>
      </p:sp>
      <p:sp>
        <p:nvSpPr>
          <p:cNvPr id="26" name="Text 22"/>
          <p:cNvSpPr/>
          <p:nvPr/>
        </p:nvSpPr>
        <p:spPr>
          <a:xfrm>
            <a:off x="6720840" y="4937760"/>
            <a:ext cx="4480560" cy="73152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Đã loại bỏ nhiễu bằng phương pháp IQR trước khi huấn luyện mô hình.</a:t>
            </a:r>
            <a:endParaRPr lang="en-US" sz="1150" dirty="0"/>
          </a:p>
        </p:txBody>
      </p:sp>
      <p:sp>
        <p:nvSpPr>
          <p:cNvPr id="27" name="Text 23"/>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C0654A"/>
                </a:solidFill>
                <a:latin typeface="Calibri" pitchFamily="34" charset="0"/>
                <a:ea typeface="Calibri" pitchFamily="34" charset="-122"/>
                <a:cs typeface="Calibri" pitchFamily="34" charset="-120"/>
              </a:rPr>
              <a:t>PHẦN 3 · KẾT QUẢ THỰC NGHIỆM</a:t>
            </a:r>
            <a:endParaRPr lang="en-US" sz="1200" dirty="0"/>
          </a:p>
        </p:txBody>
      </p:sp>
      <p:sp>
        <p:nvSpPr>
          <p:cNvPr id="3" name="Text 1"/>
          <p:cNvSpPr/>
          <p:nvPr/>
        </p:nvSpPr>
        <p:spPr>
          <a:xfrm>
            <a:off x="548640" y="658368"/>
            <a:ext cx="1078992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Kết quả huấn luyện mô hình dự báo giá</a:t>
            </a:r>
            <a:endParaRPr lang="en-US" sz="3000" dirty="0"/>
          </a:p>
        </p:txBody>
      </p:sp>
      <p:sp>
        <p:nvSpPr>
          <p:cNvPr id="4" name="Shape 2"/>
          <p:cNvSpPr/>
          <p:nvPr/>
        </p:nvSpPr>
        <p:spPr>
          <a:xfrm>
            <a:off x="548640" y="1691640"/>
            <a:ext cx="3383280" cy="1417320"/>
          </a:xfrm>
          <a:prstGeom prst="roundRect">
            <a:avLst>
              <a:gd name="adj" fmla="val 5161"/>
            </a:avLst>
          </a:prstGeom>
          <a:solidFill>
            <a:srgbClr val="1B2A4A"/>
          </a:solidFill>
          <a:ln/>
          <a:effectLst>
            <a:outerShdw sx="100000" sy="100000" kx="0" ky="0" algn="bl" rotWithShape="0" blurRad="101600" dist="25400" dir="5400000">
              <a:srgbClr val="000000">
                <a:alpha val="15000"/>
              </a:srgbClr>
            </a:outerShdw>
          </a:effectLst>
        </p:spPr>
      </p:sp>
      <p:sp>
        <p:nvSpPr>
          <p:cNvPr id="5" name="Text 3"/>
          <p:cNvSpPr/>
          <p:nvPr/>
        </p:nvSpPr>
        <p:spPr>
          <a:xfrm>
            <a:off x="777240" y="1828800"/>
            <a:ext cx="2743200" cy="320040"/>
          </a:xfrm>
          <a:prstGeom prst="rect">
            <a:avLst/>
          </a:prstGeom>
          <a:noFill/>
          <a:ln/>
        </p:spPr>
        <p:txBody>
          <a:bodyPr wrap="square" lIns="0" tIns="0" rIns="0" bIns="0" rtlCol="0" anchor="ctr"/>
          <a:lstStyle/>
          <a:p>
            <a:pPr indent="0" marL="0">
              <a:buNone/>
            </a:pPr>
            <a:r>
              <a:rPr lang="en-US" sz="1150" b="1" spc="150" kern="0" dirty="0">
                <a:solidFill>
                  <a:srgbClr val="8A93A8"/>
                </a:solidFill>
                <a:latin typeface="Calibri" pitchFamily="34" charset="0"/>
                <a:ea typeface="Calibri" pitchFamily="34" charset="-122"/>
                <a:cs typeface="Calibri" pitchFamily="34" charset="-120"/>
              </a:rPr>
              <a:t>RMSE</a:t>
            </a:r>
            <a:endParaRPr lang="en-US" sz="1150" dirty="0"/>
          </a:p>
        </p:txBody>
      </p:sp>
      <p:sp>
        <p:nvSpPr>
          <p:cNvPr id="6" name="Text 4"/>
          <p:cNvSpPr/>
          <p:nvPr/>
        </p:nvSpPr>
        <p:spPr>
          <a:xfrm>
            <a:off x="777240" y="2084832"/>
            <a:ext cx="2286000" cy="8229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0.78</a:t>
            </a:r>
            <a:endParaRPr lang="en-US" sz="4800" dirty="0"/>
          </a:p>
        </p:txBody>
      </p:sp>
      <p:sp>
        <p:nvSpPr>
          <p:cNvPr id="7" name="Text 5"/>
          <p:cNvSpPr/>
          <p:nvPr/>
        </p:nvSpPr>
        <p:spPr>
          <a:xfrm>
            <a:off x="777240" y="2788920"/>
            <a:ext cx="3017520" cy="27432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Tỷ VNĐ — sai số mô hình tối ưu</a:t>
            </a:r>
            <a:endParaRPr lang="en-US" sz="1000" dirty="0"/>
          </a:p>
        </p:txBody>
      </p:sp>
      <p:sp>
        <p:nvSpPr>
          <p:cNvPr id="8" name="Shape 6"/>
          <p:cNvSpPr/>
          <p:nvPr/>
        </p:nvSpPr>
        <p:spPr>
          <a:xfrm>
            <a:off x="4114800" y="1691640"/>
            <a:ext cx="3383280" cy="1417320"/>
          </a:xfrm>
          <a:prstGeom prst="roundRect">
            <a:avLst>
              <a:gd name="adj" fmla="val 5161"/>
            </a:avLst>
          </a:prstGeom>
          <a:solidFill>
            <a:srgbClr val="C0654A"/>
          </a:solidFill>
          <a:ln/>
          <a:effectLst>
            <a:outerShdw sx="100000" sy="100000" kx="0" ky="0" algn="bl" rotWithShape="0" blurRad="101600" dist="25400" dir="5400000">
              <a:srgbClr val="000000">
                <a:alpha val="15000"/>
              </a:srgbClr>
            </a:outerShdw>
          </a:effectLst>
        </p:spPr>
      </p:sp>
      <p:sp>
        <p:nvSpPr>
          <p:cNvPr id="9" name="Text 7"/>
          <p:cNvSpPr/>
          <p:nvPr/>
        </p:nvSpPr>
        <p:spPr>
          <a:xfrm>
            <a:off x="4343400" y="1828800"/>
            <a:ext cx="2743200" cy="320040"/>
          </a:xfrm>
          <a:prstGeom prst="rect">
            <a:avLst/>
          </a:prstGeom>
          <a:noFill/>
          <a:ln/>
        </p:spPr>
        <p:txBody>
          <a:bodyPr wrap="square" lIns="0" tIns="0" rIns="0" bIns="0" rtlCol="0" anchor="ctr"/>
          <a:lstStyle/>
          <a:p>
            <a:pPr indent="0" marL="0">
              <a:buNone/>
            </a:pPr>
            <a:r>
              <a:rPr lang="en-US" sz="1150" b="1" spc="150" kern="0" dirty="0">
                <a:solidFill>
                  <a:srgbClr val="FBEFEA"/>
                </a:solidFill>
                <a:latin typeface="Calibri" pitchFamily="34" charset="0"/>
                <a:ea typeface="Calibri" pitchFamily="34" charset="-122"/>
                <a:cs typeface="Calibri" pitchFamily="34" charset="-120"/>
              </a:rPr>
              <a:t>R² SCORE</a:t>
            </a:r>
            <a:endParaRPr lang="en-US" sz="1150" dirty="0"/>
          </a:p>
        </p:txBody>
      </p:sp>
      <p:sp>
        <p:nvSpPr>
          <p:cNvPr id="10" name="Text 8"/>
          <p:cNvSpPr/>
          <p:nvPr/>
        </p:nvSpPr>
        <p:spPr>
          <a:xfrm>
            <a:off x="4343400" y="2084832"/>
            <a:ext cx="301752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84.6%</a:t>
            </a:r>
            <a:endParaRPr lang="en-US" sz="4400" dirty="0"/>
          </a:p>
        </p:txBody>
      </p:sp>
      <p:sp>
        <p:nvSpPr>
          <p:cNvPr id="11" name="Text 9"/>
          <p:cNvSpPr/>
          <p:nvPr/>
        </p:nvSpPr>
        <p:spPr>
          <a:xfrm>
            <a:off x="4343400" y="2788920"/>
            <a:ext cx="3017520" cy="274320"/>
          </a:xfrm>
          <a:prstGeom prst="rect">
            <a:avLst/>
          </a:prstGeom>
          <a:noFill/>
          <a:ln/>
        </p:spPr>
        <p:txBody>
          <a:bodyPr wrap="square" lIns="0" tIns="0" rIns="0" bIns="0" rtlCol="0" anchor="ctr"/>
          <a:lstStyle/>
          <a:p>
            <a:pPr indent="0" marL="0">
              <a:buNone/>
            </a:pPr>
            <a:r>
              <a:rPr lang="en-US" sz="1000" dirty="0">
                <a:solidFill>
                  <a:srgbClr val="FBEFEA"/>
                </a:solidFill>
                <a:latin typeface="Calibri" pitchFamily="34" charset="0"/>
                <a:ea typeface="Calibri" pitchFamily="34" charset="-122"/>
                <a:cs typeface="Calibri" pitchFamily="34" charset="-120"/>
              </a:rPr>
              <a:t>Đạt được bởi XGBoost Regressor</a:t>
            </a:r>
            <a:endParaRPr lang="en-US" sz="1000" dirty="0"/>
          </a:p>
        </p:txBody>
      </p:sp>
      <p:sp>
        <p:nvSpPr>
          <p:cNvPr id="12" name="Shape 10"/>
          <p:cNvSpPr/>
          <p:nvPr/>
        </p:nvSpPr>
        <p:spPr>
          <a:xfrm>
            <a:off x="7680960" y="1691640"/>
            <a:ext cx="3959352" cy="1417320"/>
          </a:xfrm>
          <a:prstGeom prst="roundRect">
            <a:avLst>
              <a:gd name="adj" fmla="val 5161"/>
            </a:avLst>
          </a:prstGeom>
          <a:solidFill>
            <a:srgbClr val="FFFFFF"/>
          </a:solidFill>
          <a:ln/>
          <a:effectLst>
            <a:outerShdw sx="100000" sy="100000" kx="0" ky="0" algn="bl" rotWithShape="0" blurRad="88900" dist="25400" dir="5400000">
              <a:srgbClr val="000000">
                <a:alpha val="8000"/>
              </a:srgbClr>
            </a:outerShdw>
          </a:effectLst>
        </p:spPr>
      </p:sp>
      <p:sp>
        <p:nvSpPr>
          <p:cNvPr id="13" name="Shape 11"/>
          <p:cNvSpPr/>
          <p:nvPr/>
        </p:nvSpPr>
        <p:spPr>
          <a:xfrm>
            <a:off x="7863840" y="1874520"/>
            <a:ext cx="640080" cy="640080"/>
          </a:xfrm>
          <a:prstGeom prst="ellipse">
            <a:avLst/>
          </a:prstGeom>
          <a:solidFill>
            <a:srgbClr val="1B2A4A"/>
          </a:solidFill>
          <a:ln/>
        </p:spPr>
      </p:sp>
      <p:pic>
        <p:nvPicPr>
          <p:cNvPr id="14" name="Image 0" descr="preencoded.png">    </p:cNvPr>
          <p:cNvPicPr>
            <a:picLocks noChangeAspect="1"/>
          </p:cNvPicPr>
          <p:nvPr/>
        </p:nvPicPr>
        <p:blipFill>
          <a:blip r:embed="rId1"/>
          <a:stretch>
            <a:fillRect/>
          </a:stretch>
        </p:blipFill>
        <p:spPr>
          <a:xfrm>
            <a:off x="7959852" y="1970532"/>
            <a:ext cx="448056" cy="448056"/>
          </a:xfrm>
          <a:prstGeom prst="rect">
            <a:avLst/>
          </a:prstGeom>
        </p:spPr>
      </p:pic>
      <p:sp>
        <p:nvSpPr>
          <p:cNvPr id="15" name="Text 12"/>
          <p:cNvSpPr/>
          <p:nvPr/>
        </p:nvSpPr>
        <p:spPr>
          <a:xfrm>
            <a:off x="8686800" y="1874520"/>
            <a:ext cx="2834640" cy="640080"/>
          </a:xfrm>
          <a:prstGeom prst="rect">
            <a:avLst/>
          </a:prstGeom>
          <a:noFill/>
          <a:ln/>
        </p:spPr>
        <p:txBody>
          <a:bodyPr wrap="square" lIns="0" tIns="0" rIns="0" bIns="0" rtlCol="0" anchor="ctr"/>
          <a:lstStyle/>
          <a:p>
            <a:pPr indent="0" marL="0">
              <a:lnSpc>
                <a:spcPts val="1400"/>
              </a:lnSpc>
              <a:buNone/>
            </a:pPr>
            <a:r>
              <a:rPr lang="en-US" sz="1100" dirty="0">
                <a:solidFill>
                  <a:srgbClr val="5B6B85"/>
                </a:solidFill>
                <a:latin typeface="Calibri" pitchFamily="34" charset="0"/>
                <a:ea typeface="Calibri" pitchFamily="34" charset="-122"/>
                <a:cs typeface="Calibri" pitchFamily="34" charset="-120"/>
              </a:rPr>
              <a:t>Thuật toán</a:t>
            </a:r>
            <a:endParaRPr lang="en-US" sz="1100" dirty="0"/>
          </a:p>
          <a:p>
            <a:pPr indent="0" marL="0">
              <a:lnSpc>
                <a:spcPts val="1400"/>
              </a:lnSpc>
              <a:buNone/>
            </a:pPr>
            <a:r>
              <a:rPr lang="en-US" sz="1100" dirty="0">
                <a:solidFill>
                  <a:srgbClr val="5B6B85"/>
                </a:solidFill>
                <a:latin typeface="Calibri" pitchFamily="34" charset="0"/>
                <a:ea typeface="Calibri" pitchFamily="34" charset="-122"/>
                <a:cs typeface="Calibri" pitchFamily="34" charset="-120"/>
              </a:rPr>
              <a:t>tối ưu nhất</a:t>
            </a:r>
            <a:endParaRPr lang="en-US" sz="1100" dirty="0"/>
          </a:p>
        </p:txBody>
      </p:sp>
      <p:sp>
        <p:nvSpPr>
          <p:cNvPr id="16" name="Text 13"/>
          <p:cNvSpPr/>
          <p:nvPr/>
        </p:nvSpPr>
        <p:spPr>
          <a:xfrm>
            <a:off x="8686800" y="2377440"/>
            <a:ext cx="2834640" cy="50292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XGBoost</a:t>
            </a:r>
            <a:endParaRPr lang="en-US" sz="2200" dirty="0"/>
          </a:p>
        </p:txBody>
      </p:sp>
      <p:sp>
        <p:nvSpPr>
          <p:cNvPr id="17" name="Text 14"/>
          <p:cNvSpPr/>
          <p:nvPr/>
        </p:nvSpPr>
        <p:spPr>
          <a:xfrm>
            <a:off x="548640" y="3383280"/>
            <a:ext cx="7315200" cy="36576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So sánh hệ số xác định (R²) giữa các thuật toán đã thử nghiệm</a:t>
            </a:r>
            <a:endParaRPr lang="en-US" sz="1400" dirty="0"/>
          </a:p>
        </p:txBody>
      </p:sp>
      <p:graphicFrame>
        <p:nvGraphicFramePr>
          <p:cNvPr id="18" name="Chart 0" descr=""/>
          <p:cNvGraphicFramePr/>
          <p:nvPr/>
        </p:nvGraphicFramePr>
        <p:xfrm>
          <a:off x="548640" y="3794760"/>
          <a:ext cx="6949440" cy="2697480"/>
        </p:xfrm>
        <a:graphic xmlns:a="http://schemas.openxmlformats.org/drawingml/2006/main">
          <a:graphicData uri="http://schemas.openxmlformats.org/drawingml/2006/chart">
            <c:chart xmlns:c="http://schemas.openxmlformats.org/drawingml/2006/chart" r:id="rId2"/>
          </a:graphicData>
        </a:graphic>
      </p:graphicFrame>
      <p:sp>
        <p:nvSpPr>
          <p:cNvPr id="19" name="Shape 15"/>
          <p:cNvSpPr/>
          <p:nvPr/>
        </p:nvSpPr>
        <p:spPr>
          <a:xfrm>
            <a:off x="7726680" y="3794760"/>
            <a:ext cx="3913632" cy="2697480"/>
          </a:xfrm>
          <a:prstGeom prst="roundRect">
            <a:avLst>
              <a:gd name="adj" fmla="val 2712"/>
            </a:avLst>
          </a:prstGeom>
          <a:solidFill>
            <a:srgbClr val="EFE7DD"/>
          </a:solidFill>
          <a:ln/>
        </p:spPr>
      </p:sp>
      <p:sp>
        <p:nvSpPr>
          <p:cNvPr id="20" name="Text 16"/>
          <p:cNvSpPr/>
          <p:nvPr/>
        </p:nvSpPr>
        <p:spPr>
          <a:xfrm>
            <a:off x="7955280" y="3977640"/>
            <a:ext cx="3474720" cy="2377440"/>
          </a:xfrm>
          <a:prstGeom prst="rect">
            <a:avLst/>
          </a:prstGeom>
          <a:noFill/>
          <a:ln/>
        </p:spPr>
        <p:txBody>
          <a:bodyPr wrap="square" rtlCol="0" anchor="ctr"/>
          <a:lstStyle/>
          <a:p>
            <a:pPr marL="342900" indent="-342900">
              <a:lnSpc>
                <a:spcPts val="1500"/>
              </a:lnSpc>
              <a:spcAft>
                <a:spcPts val="1200"/>
              </a:spcAft>
              <a:buSzPct val="100000"/>
              <a:buChar char="•"/>
            </a:pPr>
            <a:r>
              <a:rPr lang="en-US" sz="1100" dirty="0">
                <a:solidFill>
                  <a:srgbClr val="1B2A4A"/>
                </a:solidFill>
                <a:latin typeface="Calibri" pitchFamily="34" charset="0"/>
                <a:ea typeface="Calibri" pitchFamily="34" charset="-122"/>
                <a:cs typeface="Calibri" pitchFamily="34" charset="-120"/>
              </a:rPr>
              <a:t>Linear Regression: thấp nhất — quan hệ giá thực tế mang tính phi tuyến phức tạp</a:t>
            </a:r>
            <a:endParaRPr lang="en-US" sz="1100" dirty="0"/>
          </a:p>
          <a:p>
            <a:pPr marL="342900" indent="-342900">
              <a:lnSpc>
                <a:spcPts val="1500"/>
              </a:lnSpc>
              <a:spcAft>
                <a:spcPts val="1200"/>
              </a:spcAft>
              <a:buSzPct val="100000"/>
              <a:buChar char="•"/>
            </a:pPr>
            <a:r>
              <a:rPr lang="en-US" sz="1100" dirty="0">
                <a:solidFill>
                  <a:srgbClr val="1B2A4A"/>
                </a:solidFill>
                <a:latin typeface="Calibri" pitchFamily="34" charset="0"/>
                <a:ea typeface="Calibri" pitchFamily="34" charset="-122"/>
                <a:cs typeface="Calibri" pitchFamily="34" charset="-120"/>
              </a:rPr>
              <a:t>Random Forest: cải thiện đáng kể nhờ cơ chế nhiều cây quyết định</a:t>
            </a:r>
            <a:endParaRPr lang="en-US" sz="1100" dirty="0"/>
          </a:p>
          <a:p>
            <a:pPr marL="342900" indent="-342900">
              <a:lnSpc>
                <a:spcPts val="1500"/>
              </a:lnSpc>
              <a:buSzPct val="100000"/>
              <a:buChar char="•"/>
            </a:pPr>
            <a:r>
              <a:rPr lang="en-US" sz="1100" dirty="0">
                <a:solidFill>
                  <a:srgbClr val="1B2A4A"/>
                </a:solidFill>
                <a:latin typeface="Calibri" pitchFamily="34" charset="0"/>
                <a:ea typeface="Calibri" pitchFamily="34" charset="-122"/>
                <a:cs typeface="Calibri" pitchFamily="34" charset="-120"/>
              </a:rPr>
              <a:t>XGBoost: tối ưu nhất, được chọn làm lõi xử lý cho giao diện Web Streamlit</a:t>
            </a:r>
            <a:endParaRPr lang="en-US" sz="1100" dirty="0"/>
          </a:p>
        </p:txBody>
      </p:sp>
      <p:sp>
        <p:nvSpPr>
          <p:cNvPr id="21" name="Text 1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E8A084"/>
                </a:solidFill>
                <a:latin typeface="Calibri" pitchFamily="34" charset="0"/>
                <a:ea typeface="Calibri" pitchFamily="34" charset="-122"/>
                <a:cs typeface="Calibri" pitchFamily="34" charset="-120"/>
              </a:rPr>
              <a:t>PHẦN 3 · KẾT QUẢ THỰC NGHIỆM</a:t>
            </a:r>
            <a:endParaRPr lang="en-US" sz="1200" dirty="0"/>
          </a:p>
        </p:txBody>
      </p:sp>
      <p:sp>
        <p:nvSpPr>
          <p:cNvPr id="3" name="Text 1"/>
          <p:cNvSpPr/>
          <p:nvPr/>
        </p:nvSpPr>
        <p:spPr>
          <a:xfrm>
            <a:off x="548640" y="658368"/>
            <a:ext cx="1078992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Kết luận</a:t>
            </a:r>
            <a:endParaRPr lang="en-US" sz="3000" dirty="0"/>
          </a:p>
        </p:txBody>
      </p:sp>
      <p:sp>
        <p:nvSpPr>
          <p:cNvPr id="4" name="Shape 2"/>
          <p:cNvSpPr/>
          <p:nvPr/>
        </p:nvSpPr>
        <p:spPr>
          <a:xfrm>
            <a:off x="548640" y="1783080"/>
            <a:ext cx="3520440" cy="3017520"/>
          </a:xfrm>
          <a:prstGeom prst="roundRect">
            <a:avLst>
              <a:gd name="adj" fmla="val 2424"/>
            </a:avLst>
          </a:prstGeom>
          <a:solidFill>
            <a:srgbClr val="121D33"/>
          </a:solidFill>
          <a:ln/>
        </p:spPr>
      </p:sp>
      <p:sp>
        <p:nvSpPr>
          <p:cNvPr id="5" name="Shape 3"/>
          <p:cNvSpPr/>
          <p:nvPr/>
        </p:nvSpPr>
        <p:spPr>
          <a:xfrm>
            <a:off x="822960" y="2057400"/>
            <a:ext cx="594360" cy="594360"/>
          </a:xfrm>
          <a:prstGeom prst="ellipse">
            <a:avLst/>
          </a:prstGeom>
          <a:solidFill>
            <a:srgbClr val="C0654A"/>
          </a:solidFill>
          <a:ln/>
        </p:spPr>
      </p:sp>
      <p:pic>
        <p:nvPicPr>
          <p:cNvPr id="6" name="Image 0" descr="preencoded.png">    </p:cNvPr>
          <p:cNvPicPr>
            <a:picLocks noChangeAspect="1"/>
          </p:cNvPicPr>
          <p:nvPr/>
        </p:nvPicPr>
        <p:blipFill>
          <a:blip r:embed="rId1"/>
          <a:stretch>
            <a:fillRect/>
          </a:stretch>
        </p:blipFill>
        <p:spPr>
          <a:xfrm>
            <a:off x="918058" y="2152498"/>
            <a:ext cx="404165" cy="404165"/>
          </a:xfrm>
          <a:prstGeom prst="rect">
            <a:avLst/>
          </a:prstGeom>
        </p:spPr>
      </p:pic>
      <p:sp>
        <p:nvSpPr>
          <p:cNvPr id="7" name="Text 4"/>
          <p:cNvSpPr/>
          <p:nvPr/>
        </p:nvSpPr>
        <p:spPr>
          <a:xfrm>
            <a:off x="822960" y="2788920"/>
            <a:ext cx="2971800" cy="411480"/>
          </a:xfrm>
          <a:prstGeom prst="rect">
            <a:avLst/>
          </a:prstGeom>
          <a:noFill/>
          <a:ln/>
        </p:spPr>
        <p:txBody>
          <a:bodyPr wrap="square" lIns="0" tIns="0" rIns="0" bIns="0" rtlCol="0" anchor="ctr"/>
          <a:lstStyle/>
          <a:p>
            <a:pPr indent="0" marL="0">
              <a:lnSpc>
                <a:spcPts val="1700"/>
              </a:lnSpc>
              <a:buNone/>
            </a:pPr>
            <a:r>
              <a:rPr lang="en-US" sz="1450" b="1" dirty="0">
                <a:solidFill>
                  <a:srgbClr val="FFFFFF"/>
                </a:solidFill>
                <a:latin typeface="Cambria" pitchFamily="34" charset="0"/>
                <a:ea typeface="Cambria" pitchFamily="34" charset="-122"/>
                <a:cs typeface="Cambria" pitchFamily="34" charset="-120"/>
              </a:rPr>
              <a:t>Hệ thống hoàn chỉnh</a:t>
            </a:r>
            <a:endParaRPr lang="en-US" sz="1450" dirty="0"/>
          </a:p>
        </p:txBody>
      </p:sp>
      <p:sp>
        <p:nvSpPr>
          <p:cNvPr id="8" name="Text 5"/>
          <p:cNvSpPr/>
          <p:nvPr/>
        </p:nvSpPr>
        <p:spPr>
          <a:xfrm>
            <a:off x="822960" y="3246120"/>
            <a:ext cx="2971800" cy="1463040"/>
          </a:xfrm>
          <a:prstGeom prst="rect">
            <a:avLst/>
          </a:prstGeom>
          <a:noFill/>
          <a:ln/>
        </p:spPr>
        <p:txBody>
          <a:bodyPr wrap="square" lIns="0" tIns="0" rIns="0" bIns="0" rtlCol="0" anchor="ctr"/>
          <a:lstStyle/>
          <a:p>
            <a:pPr indent="0" marL="0">
              <a:lnSpc>
                <a:spcPts val="1600"/>
              </a:lnSpc>
              <a:buNone/>
            </a:pPr>
            <a:r>
              <a:rPr lang="en-US" sz="1150" dirty="0">
                <a:solidFill>
                  <a:srgbClr val="CADCFC"/>
                </a:solidFill>
                <a:latin typeface="Calibri" pitchFamily="34" charset="0"/>
                <a:ea typeface="Calibri" pitchFamily="34" charset="-122"/>
                <a:cs typeface="Calibri" pitchFamily="34" charset="-120"/>
              </a:rPr>
              <a:t>Xây dựng thành công quy trình từ thu thập, làm sạch, phân tích đến dự báo và triển khai Web app Streamlit.</a:t>
            </a:r>
            <a:endParaRPr lang="en-US" sz="1150" dirty="0"/>
          </a:p>
        </p:txBody>
      </p:sp>
      <p:sp>
        <p:nvSpPr>
          <p:cNvPr id="9" name="Shape 6"/>
          <p:cNvSpPr/>
          <p:nvPr/>
        </p:nvSpPr>
        <p:spPr>
          <a:xfrm>
            <a:off x="4343400" y="1783080"/>
            <a:ext cx="3520440" cy="3017520"/>
          </a:xfrm>
          <a:prstGeom prst="roundRect">
            <a:avLst>
              <a:gd name="adj" fmla="val 2424"/>
            </a:avLst>
          </a:prstGeom>
          <a:solidFill>
            <a:srgbClr val="121D33"/>
          </a:solidFill>
          <a:ln/>
        </p:spPr>
      </p:sp>
      <p:sp>
        <p:nvSpPr>
          <p:cNvPr id="10" name="Shape 7"/>
          <p:cNvSpPr/>
          <p:nvPr/>
        </p:nvSpPr>
        <p:spPr>
          <a:xfrm>
            <a:off x="4617720" y="2057400"/>
            <a:ext cx="594360" cy="594360"/>
          </a:xfrm>
          <a:prstGeom prst="ellipse">
            <a:avLst/>
          </a:prstGeom>
          <a:solidFill>
            <a:srgbClr val="C0654A"/>
          </a:solidFill>
          <a:ln/>
        </p:spPr>
      </p:sp>
      <p:pic>
        <p:nvPicPr>
          <p:cNvPr id="11" name="Image 1" descr="preencoded.png">    </p:cNvPr>
          <p:cNvPicPr>
            <a:picLocks noChangeAspect="1"/>
          </p:cNvPicPr>
          <p:nvPr/>
        </p:nvPicPr>
        <p:blipFill>
          <a:blip r:embed="rId2"/>
          <a:stretch>
            <a:fillRect/>
          </a:stretch>
        </p:blipFill>
        <p:spPr>
          <a:xfrm>
            <a:off x="4712818" y="2152498"/>
            <a:ext cx="404165" cy="404165"/>
          </a:xfrm>
          <a:prstGeom prst="rect">
            <a:avLst/>
          </a:prstGeom>
        </p:spPr>
      </p:pic>
      <p:sp>
        <p:nvSpPr>
          <p:cNvPr id="12" name="Text 8"/>
          <p:cNvSpPr/>
          <p:nvPr/>
        </p:nvSpPr>
        <p:spPr>
          <a:xfrm>
            <a:off x="4617720" y="2788920"/>
            <a:ext cx="2971800" cy="411480"/>
          </a:xfrm>
          <a:prstGeom prst="rect">
            <a:avLst/>
          </a:prstGeom>
          <a:noFill/>
          <a:ln/>
        </p:spPr>
        <p:txBody>
          <a:bodyPr wrap="square" lIns="0" tIns="0" rIns="0" bIns="0" rtlCol="0" anchor="ctr"/>
          <a:lstStyle/>
          <a:p>
            <a:pPr indent="0" marL="0">
              <a:lnSpc>
                <a:spcPts val="1700"/>
              </a:lnSpc>
              <a:buNone/>
            </a:pPr>
            <a:r>
              <a:rPr lang="en-US" sz="1450" b="1" dirty="0">
                <a:solidFill>
                  <a:srgbClr val="FFFFFF"/>
                </a:solidFill>
                <a:latin typeface="Cambria" pitchFamily="34" charset="0"/>
                <a:ea typeface="Cambria" pitchFamily="34" charset="-122"/>
                <a:cs typeface="Cambria" pitchFamily="34" charset="-120"/>
              </a:rPr>
              <a:t>Kết quả thực nghiệm tốt</a:t>
            </a:r>
            <a:endParaRPr lang="en-US" sz="1450" dirty="0"/>
          </a:p>
        </p:txBody>
      </p:sp>
      <p:sp>
        <p:nvSpPr>
          <p:cNvPr id="13" name="Text 9"/>
          <p:cNvSpPr/>
          <p:nvPr/>
        </p:nvSpPr>
        <p:spPr>
          <a:xfrm>
            <a:off x="4617720" y="3246120"/>
            <a:ext cx="2971800" cy="1463040"/>
          </a:xfrm>
          <a:prstGeom prst="rect">
            <a:avLst/>
          </a:prstGeom>
          <a:noFill/>
          <a:ln/>
        </p:spPr>
        <p:txBody>
          <a:bodyPr wrap="square" lIns="0" tIns="0" rIns="0" bIns="0" rtlCol="0" anchor="ctr"/>
          <a:lstStyle/>
          <a:p>
            <a:pPr indent="0" marL="0">
              <a:lnSpc>
                <a:spcPts val="1600"/>
              </a:lnSpc>
              <a:buNone/>
            </a:pPr>
            <a:r>
              <a:rPr lang="en-US" sz="1150" dirty="0">
                <a:solidFill>
                  <a:srgbClr val="CADCFC"/>
                </a:solidFill>
                <a:latin typeface="Calibri" pitchFamily="34" charset="0"/>
                <a:ea typeface="Calibri" pitchFamily="34" charset="-122"/>
                <a:cs typeface="Calibri" pitchFamily="34" charset="-120"/>
              </a:rPr>
              <a:t>XGBoost Regressor đạt R² = 84.6%, RMSE = 0.78 Tỷ VNĐ — sai số thấp, đáng tin cậy cho dự báo thực tế.</a:t>
            </a:r>
            <a:endParaRPr lang="en-US" sz="1150" dirty="0"/>
          </a:p>
        </p:txBody>
      </p:sp>
      <p:sp>
        <p:nvSpPr>
          <p:cNvPr id="14" name="Shape 10"/>
          <p:cNvSpPr/>
          <p:nvPr/>
        </p:nvSpPr>
        <p:spPr>
          <a:xfrm>
            <a:off x="8138160" y="1783080"/>
            <a:ext cx="3520440" cy="3017520"/>
          </a:xfrm>
          <a:prstGeom prst="roundRect">
            <a:avLst>
              <a:gd name="adj" fmla="val 2424"/>
            </a:avLst>
          </a:prstGeom>
          <a:solidFill>
            <a:srgbClr val="121D33"/>
          </a:solidFill>
          <a:ln/>
        </p:spPr>
      </p:sp>
      <p:sp>
        <p:nvSpPr>
          <p:cNvPr id="15" name="Shape 11"/>
          <p:cNvSpPr/>
          <p:nvPr/>
        </p:nvSpPr>
        <p:spPr>
          <a:xfrm>
            <a:off x="8412480" y="2057400"/>
            <a:ext cx="594360" cy="594360"/>
          </a:xfrm>
          <a:prstGeom prst="ellipse">
            <a:avLst/>
          </a:prstGeom>
          <a:solidFill>
            <a:srgbClr val="C0654A"/>
          </a:solidFill>
          <a:ln/>
        </p:spPr>
      </p:sp>
      <p:pic>
        <p:nvPicPr>
          <p:cNvPr id="16" name="Image 2" descr="preencoded.png">    </p:cNvPr>
          <p:cNvPicPr>
            <a:picLocks noChangeAspect="1"/>
          </p:cNvPicPr>
          <p:nvPr/>
        </p:nvPicPr>
        <p:blipFill>
          <a:blip r:embed="rId3"/>
          <a:stretch>
            <a:fillRect/>
          </a:stretch>
        </p:blipFill>
        <p:spPr>
          <a:xfrm>
            <a:off x="8507578" y="2152498"/>
            <a:ext cx="404165" cy="404165"/>
          </a:xfrm>
          <a:prstGeom prst="rect">
            <a:avLst/>
          </a:prstGeom>
        </p:spPr>
      </p:pic>
      <p:sp>
        <p:nvSpPr>
          <p:cNvPr id="17" name="Text 12"/>
          <p:cNvSpPr/>
          <p:nvPr/>
        </p:nvSpPr>
        <p:spPr>
          <a:xfrm>
            <a:off x="8412480" y="2788920"/>
            <a:ext cx="2971800" cy="411480"/>
          </a:xfrm>
          <a:prstGeom prst="rect">
            <a:avLst/>
          </a:prstGeom>
          <a:noFill/>
          <a:ln/>
        </p:spPr>
        <p:txBody>
          <a:bodyPr wrap="square" lIns="0" tIns="0" rIns="0" bIns="0" rtlCol="0" anchor="ctr"/>
          <a:lstStyle/>
          <a:p>
            <a:pPr indent="0" marL="0">
              <a:lnSpc>
                <a:spcPts val="1700"/>
              </a:lnSpc>
              <a:buNone/>
            </a:pPr>
            <a:r>
              <a:rPr lang="en-US" sz="1450" b="1" dirty="0">
                <a:solidFill>
                  <a:srgbClr val="FFFFFF"/>
                </a:solidFill>
                <a:latin typeface="Cambria" pitchFamily="34" charset="0"/>
                <a:ea typeface="Cambria" pitchFamily="34" charset="-122"/>
                <a:cs typeface="Cambria" pitchFamily="34" charset="-120"/>
              </a:rPr>
              <a:t>Ứng dụng ổn định 100%</a:t>
            </a:r>
            <a:endParaRPr lang="en-US" sz="1450" dirty="0"/>
          </a:p>
        </p:txBody>
      </p:sp>
      <p:sp>
        <p:nvSpPr>
          <p:cNvPr id="18" name="Text 13"/>
          <p:cNvSpPr/>
          <p:nvPr/>
        </p:nvSpPr>
        <p:spPr>
          <a:xfrm>
            <a:off x="8412480" y="3246120"/>
            <a:ext cx="2971800" cy="1463040"/>
          </a:xfrm>
          <a:prstGeom prst="rect">
            <a:avLst/>
          </a:prstGeom>
          <a:noFill/>
          <a:ln/>
        </p:spPr>
        <p:txBody>
          <a:bodyPr wrap="square" lIns="0" tIns="0" rIns="0" bIns="0" rtlCol="0" anchor="ctr"/>
          <a:lstStyle/>
          <a:p>
            <a:pPr indent="0" marL="0">
              <a:lnSpc>
                <a:spcPts val="1600"/>
              </a:lnSpc>
              <a:buNone/>
            </a:pPr>
            <a:r>
              <a:rPr lang="en-US" sz="1150" dirty="0">
                <a:solidFill>
                  <a:srgbClr val="CADCFC"/>
                </a:solidFill>
                <a:latin typeface="Calibri" pitchFamily="34" charset="0"/>
                <a:ea typeface="Calibri" pitchFamily="34" charset="-122"/>
                <a:cs typeface="Calibri" pitchFamily="34" charset="-120"/>
              </a:rPr>
              <a:t>Bộ lọc địa lý động, slider thông số và cơ chế xử lý lỗi an toàn giúp ứng dụng vận hành trơn tru, không crash.</a:t>
            </a:r>
            <a:endParaRPr lang="en-US" sz="1150" dirty="0"/>
          </a:p>
        </p:txBody>
      </p:sp>
      <p:sp>
        <p:nvSpPr>
          <p:cNvPr id="19" name="Shape 14"/>
          <p:cNvSpPr/>
          <p:nvPr/>
        </p:nvSpPr>
        <p:spPr>
          <a:xfrm>
            <a:off x="548640" y="5074920"/>
            <a:ext cx="11091672" cy="1143000"/>
          </a:xfrm>
          <a:prstGeom prst="roundRect">
            <a:avLst>
              <a:gd name="adj" fmla="val 6400"/>
            </a:avLst>
          </a:prstGeom>
          <a:solidFill>
            <a:srgbClr val="C0654A"/>
          </a:solidFill>
          <a:ln/>
        </p:spPr>
      </p:sp>
      <p:sp>
        <p:nvSpPr>
          <p:cNvPr id="20" name="Shape 15"/>
          <p:cNvSpPr/>
          <p:nvPr/>
        </p:nvSpPr>
        <p:spPr>
          <a:xfrm>
            <a:off x="777240" y="5285232"/>
            <a:ext cx="502920" cy="502920"/>
          </a:xfrm>
          <a:prstGeom prst="ellipse">
            <a:avLst/>
          </a:prstGeom>
          <a:solidFill>
            <a:srgbClr val="A5503B"/>
          </a:solidFill>
          <a:ln/>
        </p:spPr>
      </p:sp>
      <p:pic>
        <p:nvPicPr>
          <p:cNvPr id="21" name="Image 3" descr="preencoded.png">    </p:cNvPr>
          <p:cNvPicPr>
            <a:picLocks noChangeAspect="1"/>
          </p:cNvPicPr>
          <p:nvPr/>
        </p:nvPicPr>
        <p:blipFill>
          <a:blip r:embed="rId4"/>
          <a:stretch>
            <a:fillRect/>
          </a:stretch>
        </p:blipFill>
        <p:spPr>
          <a:xfrm>
            <a:off x="852678" y="5360670"/>
            <a:ext cx="352044" cy="352044"/>
          </a:xfrm>
          <a:prstGeom prst="rect">
            <a:avLst/>
          </a:prstGeom>
        </p:spPr>
      </p:pic>
      <p:sp>
        <p:nvSpPr>
          <p:cNvPr id="22" name="Text 16"/>
          <p:cNvSpPr/>
          <p:nvPr/>
        </p:nvSpPr>
        <p:spPr>
          <a:xfrm>
            <a:off x="1463040" y="5166360"/>
            <a:ext cx="9966960" cy="914400"/>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Kết quả khẳng định việc kết hợp Khoa học dữ liệu và Học máy mang lại giải pháp công nghệ tối ưu, hỗ trợ hiệu quả người dùng và nhà đầu tư trong đánh giá thị trường bất động sản một cách khách quan.</a:t>
            </a:r>
            <a:endParaRPr lang="en-US" sz="1250" dirty="0"/>
          </a:p>
        </p:txBody>
      </p:sp>
      <p:sp>
        <p:nvSpPr>
          <p:cNvPr id="23" name="Text 17"/>
          <p:cNvSpPr/>
          <p:nvPr/>
        </p:nvSpPr>
        <p:spPr>
          <a:xfrm>
            <a:off x="548640" y="6400800"/>
            <a:ext cx="5486400" cy="274320"/>
          </a:xfrm>
          <a:prstGeom prst="rect">
            <a:avLst/>
          </a:prstGeom>
          <a:noFill/>
          <a:ln/>
        </p:spPr>
        <p:txBody>
          <a:bodyPr wrap="square" lIns="0" tIns="0" rIns="0" bIns="0" rtlCol="0" anchor="ctr"/>
          <a:lstStyle/>
          <a:p>
            <a:pPr indent="0" marL="0">
              <a:buNone/>
            </a:pPr>
            <a:r>
              <a:rPr lang="en-US" sz="900" spc="100" kern="0" dirty="0">
                <a:solidFill>
                  <a:srgbClr val="8A93A8"/>
                </a:solidFill>
                <a:latin typeface="Calibri" pitchFamily="34" charset="0"/>
                <a:ea typeface="Calibri" pitchFamily="34" charset="-122"/>
                <a:cs typeface="Calibri" pitchFamily="34" charset="-120"/>
              </a:rPr>
              <a:t>PHÂN TÍCH &amp; DỰ ĐOÁN BĐS VIỆT NAM</a:t>
            </a:r>
            <a:endParaRPr lang="en-US" sz="900" dirty="0"/>
          </a:p>
        </p:txBody>
      </p:sp>
      <p:sp>
        <p:nvSpPr>
          <p:cNvPr id="24" name="Text 18"/>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và dự đoán bất động sản Việt Nam dựa trên dữ liệu thực tế</dc:title>
  <dc:subject>PptxGenJS Presentation</dc:subject>
  <dc:creator>Lương Ngọc Nam</dc:creator>
  <cp:lastModifiedBy>Lương Ngọc Nam</cp:lastModifiedBy>
  <cp:revision>1</cp:revision>
  <dcterms:created xsi:type="dcterms:W3CDTF">2026-06-21T05:00:59Z</dcterms:created>
  <dcterms:modified xsi:type="dcterms:W3CDTF">2026-06-21T05:00:59Z</dcterms:modified>
</cp:coreProperties>
</file>